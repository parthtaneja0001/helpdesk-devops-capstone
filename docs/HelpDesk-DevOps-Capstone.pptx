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a539013-e8f8-f3bb-a826-b8fa2554cb1d}">
          <p14:sldIdLst>
            <p14:sldId id="256"/>
            <p14:sldId id="257"/>
            <p14:sldId id="258"/>
            <p14:sldId id="259"/>
          </p14:sldIdLst>
        </p14:section>
        <p14:section name="Application and quality" id="{967555f4-2f3f-0933-bec6-cdcf7ad862ee}">
          <p14:sldIdLst>
            <p14:sldId id="260"/>
            <p14:sldId id="261"/>
            <p14:sldId id="262"/>
            <p14:sldId id="263"/>
          </p14:sldIdLst>
        </p14:section>
        <p14:section name="Delivery and security" id="{1349c9ef-ea61-b7e6-3ec9-1a1719af5f06}">
          <p14:sldIdLst>
            <p14:sldId id="264"/>
            <p14:sldId id="265"/>
            <p14:sldId id="266"/>
          </p14:sldIdLst>
        </p14:section>
        <p14:section name="Cloud infrastructure" id="{cda26479-7ae9-90f1-0fb6-ecc91f08e704}">
          <p14:sldIdLst>
            <p14:sldId id="267"/>
            <p14:sldId id="268"/>
            <p14:sldId id="269"/>
          </p14:sldIdLst>
        </p14:section>
        <p14:section name="Running and watching" id="{a60422e0-e86c-d223-bf9e-e07e29f8f08a}">
          <p14:sldIdLst>
            <p14:sldId id="270"/>
            <p14:sldId id="271"/>
            <p14:sldId id="272"/>
            <p14:sldId id="273"/>
            <p14:sldId id="274"/>
          </p14:sldIdLst>
        </p14:section>
        <p14:section name="Wrap-up" id="{8215280a-f1c5-f867-1636-750f7f729522}">
          <p14:sldIdLst>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HelpDesk is a support-ticket app, but the real subject of this presentation is how it is tested, packaged, secured, deployed to AWS and monitored automatically. Everything in this deck is backed by screenshots from the real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HelpDesk is a simple tool a support team would use. A customer reports a problem, the team logs it as a ticket, gives it a priority, assigns someone, and moves it through the workflow until it is closed. The dashboard at the top gives managers instant counts. The app itself is deliberately simple so the focus stays on the DevOps pipeline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on one slide. A developer commits code. GitHub Actions tests it, packages it in Docker, scans it for security problems and publishes the image. Terraform builds the AWS network and Kubernetes cluster. Helm installs the app. Prometheus and Grafana watch it. Every step is automated, so any change follows exactly the same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uses a mainstream, industry-standard tool. React and FastAPI are the application; PostgreSQL stores the data; Docker packages it; GitHub Actions and Trivy automate quality and security; Terraform and Kubernetes run it in the cloud; Prometheus and Grafana observe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FastAPI backend exposes a REST API. There are five CRUD endpoints for tickets plus a stats endpoint for the dashboard. Health, ready and metrics endpoints exist for Kubernetes and Prometheus. The tickets table is created by an Alembic migration that runs automatically when the container starts. Swagger documentation is generated for free by FastAPI.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are the first quality gate. Eleven pytest tests cover health, readiness, metrics and the full create, read, update and delete cycle, including error cases. They run against an in-memory SQLite database so they never touch the real PostgreSQL. If any test fails the pipeline stops and no image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control is the foundation of everything else. The repository is public, uses a main branch and clear conventional commit messages. The gitignore keeps secrets, virtual environments and Terraform state out of the repository, and no credentials were ever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packages each part of the app with everything it needs, so it runs the same everywhere. The backend image runs as a non-root user and applies the database migration before starting. The frontend uses a multi-stage build: Node builds the app, and only the finished static files go into a small Nginx image. Docker Compose starts frontend, backend and PostgreSQL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Actions runs this pipeline on every push to main. First the tests and the frontend build. Then, for both images, it builds, scans with Trivy and only then pushes to the registry. If a test fails or a serious vulnerability is found, the pipeline stops and nothing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published to GitHub Container Registry. Every image is tagged with the full Git commit SHA instead of latest. That means any running pod can be traced back to the exact commit that built it, and a rollback is simply deploying an older 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each image's operating-system packages and Python libraries against a database of known vulnerabilities. The first scan on my laptop found HIGH severity issues in an old Starlette version and in the Alpine base image. I upgraded the libraries, switched to a patched base image and removed unneeded tools. Both images now scan clean and the pipeline fails on any new fixable HIGH or CRITICAL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clicking around the AWS console, Terraform describes the infrastructure in files. It creates a VPC with two public and two private subnets across two availability zones, a NAT gateway, and an EKS Kubernetes cluster with two worker nodes, plus the EBS driver for storage. Running terraform apply builds all 61 resources, and terraform destroy removes them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from the AWS console in the Mumbai region. On the left, the VPC created by Terraform. On the right, its four subnets: two public and two private, spread over two availability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EKS cluster is Active on Kubernetes 1.31 with a managed node group. The terminal screenshot below shows kubectl confirming that both worker nodes are Ready. The infrastructure was later removed with terraform destroy.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runs and heals the containers. A Helm chart packages all the Kubernetes resources so the whole application deploys with one command. The chart creates the backend and frontend deployments with two replicas each, internal services, an ingress that routes slash to the frontend and slash api to the backend, a PostgreSQL StatefulSet with a persistent volume, and an autoscaler for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live cluster. All five pods are Running: two backend, two frontend and one PostgreSQL. The three services are ClusterIP, which means they are reachable only inside the cluster. Helm shows the release as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application running on EKS and reached through the AWS load balancer address shown in the browser. The ingress controller sends slash to the React frontend and slash api to the FastAPI backend, which talks to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a metrics endpoint in Prometheus format. A ServiceMonitor tells Prometheus to scrape it, and the Targets page shows both backend pods as up. Those numbers are what Grafana charts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HelpDesk API dashboard populated by a load test. The top left shows requests per second for each endpoint, the top right the 95th percentile latency, and the stat shows two backend pods up. The 5xx panel shows no data, which is good news: the app returned no server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demo shows the whole loop. The app is running on EKS. I commit a small change and push. The pipeline tests, builds, scans and pushes a new image tagged with the commit. I roll it out with helm upgrade, Kubernetes replaces the pods one by one, and after a refresh the change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projects hit real problems. Here are the ones I hit and how I fixed them: a renamed Trivy action tag, vulnerabilities in the first scan, a free-tier AWS account that rejected the default instance type, a missing default storage class on EKS, and a broken AWS CLI library on my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resources cost money, so everything was removed after the demo. Order matters: first uninstall the Helm releases so the load balancer and volumes disappear, then run terraform destroy. I then checked that no clusters, NAT gateways, elastic IPs, load balancers or volumes were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every grading module to what was delivered. Each has matching evidence in the repository README: screenshots, configuration files and the recorded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 audience. Point to the repository README, which contains every screenshot, and the recorded demo link.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8229600" cy="6400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tx2"/>
                </a:solidFill>
              </a:rPr>
              <a:t>HelpDesk  |  DevOps Capstone</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09728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
        <p:nvSpPr>
          <p:cNvPr id="3" name="Text 0"/>
          <p:cNvSpPr/>
          <p:nvPr>
            <p:ph idx="101" type="body" hasCustomPrompt="1"/>
          </p:nvPr>
        </p:nvSpPr>
        <p:spPr>
          <a:xfrm>
            <a:off x="548640" y="2514600"/>
            <a:ext cx="4389120" cy="100584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parthtaneja0001/helpdesk-devops-capstone" TargetMode="External"/><Relationship Id="rId2" Type="http://schemas.openxmlformats.org/officeDocument/2006/relationships/image" Target="../media/image-1-1.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drive.google.com/file/d/1akWYIZ53DCBeI_8r9EHGJC3Ik-XkhUro/view?usp=sharing" TargetMode="External"/><Relationship Id="rId1"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2.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github.com/parthtaneja0001/helpdesk-devops-capstone" TargetMode="External"/><Relationship Id="rId2" Type="http://schemas.openxmlformats.org/officeDocument/2006/relationships/hyperlink" Target="https://drive.google.com/file/d/1akWYIZ53DCBeI_8r9EHGJC3Ik-XkhUro/view?usp=sharing" TargetMode="External"/><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097280"/>
          </a:xfrm>
          <a:prstGeom prst="rect">
            <a:avLst/>
          </a:prstGeom>
          <a:noFill/>
          <a:ln/>
        </p:spPr>
        <p:txBody>
          <a:bodyPr wrap="square" lIns="0" tIns="0" rIns="0" bIns="0" rtlCol="0" anchor="b"/>
          <a:lstStyle/>
          <a:p>
            <a:pPr algn="l" indent="0" marL="0">
              <a:buNone/>
            </a:pPr>
            <a:r>
              <a:rPr lang="en-US" sz="4800" b="1" dirty="0">
                <a:solidFill>
                  <a:schemeClr val="tx1"/>
                </a:solidFill>
              </a:rPr>
              <a:t>HelpDesk</a:t>
            </a:r>
            <a:endParaRPr lang="en-US" sz="4800" dirty="0"/>
          </a:p>
        </p:txBody>
      </p:sp>
      <p:sp>
        <p:nvSpPr>
          <p:cNvPr id="3" name="Text 0"/>
          <p:cNvSpPr/>
          <p:nvPr>
            <p:ph idx="101" type="body" hasCustomPrompt="1"/>
          </p:nvPr>
        </p:nvSpPr>
        <p:spPr>
          <a:xfrm>
            <a:off x="548640" y="2514600"/>
            <a:ext cx="4389120" cy="1005840"/>
          </a:xfrm>
          <a:prstGeom prst="rect">
            <a:avLst/>
          </a:prstGeom>
          <a:noFill/>
          <a:ln/>
        </p:spPr>
        <p:txBody>
          <a:bodyPr wrap="square" lIns="0" tIns="0" rIns="0" bIns="0" rtlCol="0" anchor="t"/>
          <a:lstStyle/>
          <a:p>
            <a:pPr algn="l" indent="0" marL="0">
              <a:buNone/>
            </a:pPr>
            <a:r>
              <a:rPr lang="en-US" sz="2000" dirty="0">
                <a:solidFill>
                  <a:schemeClr val="accent2"/>
                </a:solidFill>
              </a:rPr>
              <a:t>An end-to-end DevOps capstone: from a laptop to a monitored Kubernetes cluster on AWS</a:t>
            </a:r>
            <a:endParaRPr lang="en-US" sz="2000" dirty="0"/>
          </a:p>
        </p:txBody>
      </p:sp>
      <p:sp>
        <p:nvSpPr>
          <p:cNvPr id="4" name="Shape 2"/>
          <p:cNvSpPr/>
          <p:nvPr/>
        </p:nvSpPr>
        <p:spPr>
          <a:xfrm>
            <a:off x="548640" y="960120"/>
            <a:ext cx="201168" cy="201168"/>
          </a:xfrm>
          <a:prstGeom prst="ellipse">
            <a:avLst/>
          </a:prstGeom>
          <a:solidFill>
            <a:schemeClr val="accent1"/>
          </a:solidFill>
          <a:ln/>
        </p:spPr>
      </p:sp>
      <p:sp>
        <p:nvSpPr>
          <p:cNvPr id="5" name="Shape 3"/>
          <p:cNvSpPr/>
          <p:nvPr/>
        </p:nvSpPr>
        <p:spPr>
          <a:xfrm>
            <a:off x="749808" y="1060704"/>
            <a:ext cx="301752" cy="0"/>
          </a:xfrm>
          <a:prstGeom prst="line">
            <a:avLst/>
          </a:prstGeom>
          <a:noFill/>
          <a:ln w="19050">
            <a:solidFill>
              <a:srgbClr val="475569"/>
            </a:solidFill>
            <a:prstDash val="solid"/>
          </a:ln>
        </p:spPr>
      </p:sp>
      <p:sp>
        <p:nvSpPr>
          <p:cNvPr id="6" name="Shape 4"/>
          <p:cNvSpPr/>
          <p:nvPr/>
        </p:nvSpPr>
        <p:spPr>
          <a:xfrm>
            <a:off x="1051560" y="960120"/>
            <a:ext cx="201168" cy="201168"/>
          </a:xfrm>
          <a:prstGeom prst="ellipse">
            <a:avLst/>
          </a:prstGeom>
          <a:solidFill>
            <a:schemeClr val="accent2"/>
          </a:solidFill>
          <a:ln/>
        </p:spPr>
      </p:sp>
      <p:sp>
        <p:nvSpPr>
          <p:cNvPr id="7" name="Shape 5"/>
          <p:cNvSpPr/>
          <p:nvPr/>
        </p:nvSpPr>
        <p:spPr>
          <a:xfrm>
            <a:off x="1252728" y="1060704"/>
            <a:ext cx="301752" cy="0"/>
          </a:xfrm>
          <a:prstGeom prst="line">
            <a:avLst/>
          </a:prstGeom>
          <a:noFill/>
          <a:ln w="19050">
            <a:solidFill>
              <a:srgbClr val="475569"/>
            </a:solidFill>
            <a:prstDash val="solid"/>
          </a:ln>
        </p:spPr>
      </p:sp>
      <p:sp>
        <p:nvSpPr>
          <p:cNvPr id="8" name="Shape 6"/>
          <p:cNvSpPr/>
          <p:nvPr/>
        </p:nvSpPr>
        <p:spPr>
          <a:xfrm>
            <a:off x="1554480" y="960120"/>
            <a:ext cx="201168" cy="201168"/>
          </a:xfrm>
          <a:prstGeom prst="ellipse">
            <a:avLst/>
          </a:prstGeom>
          <a:solidFill>
            <a:schemeClr val="accent3"/>
          </a:solidFill>
          <a:ln/>
        </p:spPr>
      </p:sp>
      <p:sp>
        <p:nvSpPr>
          <p:cNvPr id="9" name="Shape 7"/>
          <p:cNvSpPr/>
          <p:nvPr/>
        </p:nvSpPr>
        <p:spPr>
          <a:xfrm>
            <a:off x="1755648" y="1060704"/>
            <a:ext cx="301752" cy="0"/>
          </a:xfrm>
          <a:prstGeom prst="line">
            <a:avLst/>
          </a:prstGeom>
          <a:noFill/>
          <a:ln w="19050">
            <a:solidFill>
              <a:srgbClr val="475569"/>
            </a:solidFill>
            <a:prstDash val="solid"/>
          </a:ln>
        </p:spPr>
      </p:sp>
      <p:sp>
        <p:nvSpPr>
          <p:cNvPr id="10" name="Shape 8"/>
          <p:cNvSpPr/>
          <p:nvPr/>
        </p:nvSpPr>
        <p:spPr>
          <a:xfrm>
            <a:off x="2057400" y="960120"/>
            <a:ext cx="201168" cy="201168"/>
          </a:xfrm>
          <a:prstGeom prst="ellipse">
            <a:avLst/>
          </a:prstGeom>
          <a:solidFill>
            <a:schemeClr val="accent4"/>
          </a:solidFill>
          <a:ln/>
        </p:spPr>
      </p:sp>
      <p:sp>
        <p:nvSpPr>
          <p:cNvPr id="11" name="Shape 9"/>
          <p:cNvSpPr/>
          <p:nvPr/>
        </p:nvSpPr>
        <p:spPr>
          <a:xfrm>
            <a:off x="2258568" y="1060704"/>
            <a:ext cx="301752" cy="0"/>
          </a:xfrm>
          <a:prstGeom prst="line">
            <a:avLst/>
          </a:prstGeom>
          <a:noFill/>
          <a:ln w="19050">
            <a:solidFill>
              <a:srgbClr val="475569"/>
            </a:solidFill>
            <a:prstDash val="solid"/>
          </a:ln>
        </p:spPr>
      </p:sp>
      <p:sp>
        <p:nvSpPr>
          <p:cNvPr id="12" name="Shape 10"/>
          <p:cNvSpPr/>
          <p:nvPr/>
        </p:nvSpPr>
        <p:spPr>
          <a:xfrm>
            <a:off x="2560320" y="960120"/>
            <a:ext cx="201168" cy="201168"/>
          </a:xfrm>
          <a:prstGeom prst="ellipse">
            <a:avLst/>
          </a:prstGeom>
          <a:solidFill>
            <a:schemeClr val="accent6"/>
          </a:solidFill>
          <a:ln/>
        </p:spPr>
      </p:sp>
      <p:sp>
        <p:nvSpPr>
          <p:cNvPr id="13" name="Text 11"/>
          <p:cNvSpPr txBox="1"/>
          <p:nvPr/>
        </p:nvSpPr>
        <p:spPr>
          <a:xfrm>
            <a:off x="548640" y="3840480"/>
            <a:ext cx="4754880" cy="868680"/>
          </a:xfrm>
          <a:prstGeom prst="rect">
            <a:avLst/>
          </a:prstGeom>
          <a:noFill/>
          <a:ln/>
        </p:spPr>
        <p:txBody>
          <a:bodyPr wrap="square" lIns="0" tIns="0" rIns="0" bIns="0" rtlCol="0" anchor="t"/>
          <a:lstStyle/>
          <a:p>
            <a:pPr indent="0" marL="0">
              <a:buNone/>
            </a:pPr>
            <a:r>
              <a:rPr lang="en-US" sz="1400" b="1" dirty="0">
                <a:solidFill>
                  <a:srgbClr val="CBD5E1"/>
                </a:solidFill>
              </a:rPr>
              <a:t>Parth Taneja</a:t>
            </a:r>
            <a:endParaRPr lang="en-US" sz="1400" dirty="0"/>
          </a:p>
          <a:p>
            <a:pPr indent="0" marL="0">
              <a:buNone/>
            </a:pPr>
            <a:r>
              <a:rPr lang="en-US" sz="1400" dirty="0">
                <a:solidFill>
                  <a:srgbClr val="CBD5E1"/>
                </a:solidFill>
              </a:rPr>
              <a:t>Session 21 Final Capstone Project</a:t>
            </a:r>
            <a:endParaRPr lang="en-US" sz="1400" dirty="0"/>
          </a:p>
          <a:p>
            <a:pPr indent="0" marL="0">
              <a:buNone/>
            </a:pPr>
            <a:r>
              <a:rPr lang="en-US" sz="1400" u="sng" dirty="0">
                <a:solidFill>
                  <a:srgbClr val="CBD5E1"/>
                </a:solidFill>
                <a:hlinkClick r:id="rId1" invalidUrl="" action="" tgtFrame="" tooltip="" history="1" highlightClick="0" endSnd="0">
                  <a:extLst>
                    <a:ext uri="{A12FA001-AC4F-418D-AE19-62706E023703}">
                      <ahyp:hlinkClr xmlns:ahyp="http://schemas.microsoft.com/office/drawing/2018/hyperlinkcolor" val="tx"/>
                    </a:ext>
                  </a:extLst>
                </a:hlinkClick>
              </a:rPr>
              <a:t>github.com/parthtaneja0001/helpdesk-devops-capstone</a:t>
            </a:r>
            <a:endParaRPr lang="en-US" sz="1400" dirty="0"/>
          </a:p>
        </p:txBody>
      </p:sp>
      <p:sp>
        <p:nvSpPr>
          <p:cNvPr id="14" name="Shape 12"/>
          <p:cNvSpPr/>
          <p:nvPr/>
        </p:nvSpPr>
        <p:spPr>
          <a:xfrm>
            <a:off x="5440680" y="1417320"/>
            <a:ext cx="3493008" cy="2130298"/>
          </a:xfrm>
          <a:prstGeom prst="roundRect">
            <a:avLst>
              <a:gd name="adj" fmla="val 3434"/>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5" name="Image 0" descr="Grafana dashboard">    </p:cNvPr>
          <p:cNvPicPr>
            <a:picLocks noChangeAspect="1"/>
          </p:cNvPicPr>
          <p:nvPr/>
        </p:nvPicPr>
        <p:blipFill>
          <a:blip r:embed="rId2"/>
          <a:stretch>
            <a:fillRect/>
          </a:stretch>
        </p:blipFill>
        <p:spPr>
          <a:xfrm>
            <a:off x="5495544" y="1472184"/>
            <a:ext cx="3383280" cy="20205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INTRODUCTION</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What is HelpDesk?</a:t>
            </a:r>
            <a:endParaRPr lang="en-US" sz="3200" dirty="0"/>
          </a:p>
        </p:txBody>
      </p:sp>
      <p:sp>
        <p:nvSpPr>
          <p:cNvPr id="5" name="Text 2"/>
          <p:cNvSpPr txBox="1"/>
          <p:nvPr/>
        </p:nvSpPr>
        <p:spPr>
          <a:xfrm>
            <a:off x="457200" y="1188720"/>
            <a:ext cx="3749040" cy="2103120"/>
          </a:xfrm>
          <a:prstGeom prst="rect">
            <a:avLst/>
          </a:prstGeom>
          <a:noFill/>
          <a:ln/>
        </p:spPr>
        <p:txBody>
          <a:bodyPr wrap="square" lIns="0" tIns="0" rIns="0" bIns="0" rtlCol="0" anchor="t"/>
          <a:lstStyle/>
          <a:p>
            <a:pPr marL="342900" indent="-342900">
              <a:spcAft>
                <a:spcPts val="900"/>
              </a:spcAft>
              <a:buSzPct val="100000"/>
              <a:buChar char="•"/>
            </a:pPr>
            <a:r>
              <a:rPr lang="en-US" sz="1600" b="1" dirty="0">
                <a:solidFill>
                  <a:schemeClr val="tx1"/>
                </a:solidFill>
              </a:rPr>
              <a:t>A ticket tracker </a:t>
            </a:r>
            <a:pPr indent="0" marL="0">
              <a:buNone/>
            </a:pPr>
            <a:r>
              <a:rPr lang="en-US" sz="1600" dirty="0">
                <a:solidFill>
                  <a:schemeClr val="tx1"/>
                </a:solidFill>
              </a:rPr>
              <a:t>for support teams</a:t>
            </a:r>
            <a:endParaRPr lang="en-US" sz="1600" dirty="0"/>
          </a:p>
          <a:p>
            <a:pPr marL="342900" indent="-342900">
              <a:spcAft>
                <a:spcPts val="900"/>
              </a:spcAft>
              <a:buSzPct val="100000"/>
              <a:buChar char="•"/>
            </a:pPr>
            <a:r>
              <a:rPr lang="en-US" sz="1600" b="1" dirty="0">
                <a:solidFill>
                  <a:schemeClr val="tx1"/>
                </a:solidFill>
              </a:rPr>
              <a:t>Log an issue, </a:t>
            </a:r>
            <a:pPr indent="0" marL="0">
              <a:buNone/>
            </a:pPr>
            <a:r>
              <a:rPr lang="en-US" sz="1600" dirty="0">
                <a:solidFill>
                  <a:schemeClr val="tx1"/>
                </a:solidFill>
              </a:rPr>
              <a:t>set a priority, assign it, track it to closed</a:t>
            </a:r>
            <a:endParaRPr lang="en-US" sz="1600" dirty="0"/>
          </a:p>
          <a:p>
            <a:pPr marL="342900" indent="-342900">
              <a:spcAft>
                <a:spcPts val="900"/>
              </a:spcAft>
              <a:buSzPct val="100000"/>
              <a:buChar char="•"/>
            </a:pPr>
            <a:r>
              <a:rPr lang="en-US" sz="1600" b="1" dirty="0">
                <a:solidFill>
                  <a:schemeClr val="tx1"/>
                </a:solidFill>
              </a:rPr>
              <a:t>Live dashboard </a:t>
            </a:r>
            <a:pPr indent="0" marL="0">
              <a:buNone/>
            </a:pPr>
            <a:r>
              <a:rPr lang="en-US" sz="1600" dirty="0">
                <a:solidFill>
                  <a:schemeClr val="tx1"/>
                </a:solidFill>
              </a:rPr>
              <a:t>with totals, open, in progress, resolved and urgent counts</a:t>
            </a:r>
            <a:endParaRPr lang="en-US" sz="1600" dirty="0"/>
          </a:p>
        </p:txBody>
      </p:sp>
      <p:sp>
        <p:nvSpPr>
          <p:cNvPr id="6" name="Text 3"/>
          <p:cNvSpPr txBox="1"/>
          <p:nvPr/>
        </p:nvSpPr>
        <p:spPr>
          <a:xfrm>
            <a:off x="457200" y="3383280"/>
            <a:ext cx="3749040" cy="274320"/>
          </a:xfrm>
          <a:prstGeom prst="rect">
            <a:avLst/>
          </a:prstGeom>
          <a:noFill/>
          <a:ln/>
        </p:spPr>
        <p:txBody>
          <a:bodyPr wrap="square" lIns="0" tIns="0" rIns="0" bIns="0" rtlCol="0" anchor="ctr"/>
          <a:lstStyle/>
          <a:p>
            <a:pPr indent="0" marL="0">
              <a:buNone/>
            </a:pPr>
            <a:r>
              <a:rPr lang="en-US" sz="1400" b="1" dirty="0">
                <a:solidFill>
                  <a:schemeClr val="tx1"/>
                </a:solidFill>
              </a:rPr>
              <a:t>Ticket workflow</a:t>
            </a:r>
            <a:endParaRPr lang="en-US" sz="1400" dirty="0"/>
          </a:p>
        </p:txBody>
      </p:sp>
      <p:sp>
        <p:nvSpPr>
          <p:cNvPr id="7" name="Shape 4"/>
          <p:cNvSpPr/>
          <p:nvPr/>
        </p:nvSpPr>
        <p:spPr>
          <a:xfrm>
            <a:off x="457200" y="3767328"/>
            <a:ext cx="877824" cy="365760"/>
          </a:xfrm>
          <a:prstGeom prst="roundRect">
            <a:avLst>
              <a:gd name="adj" fmla="val 50000"/>
            </a:avLst>
          </a:prstGeom>
          <a:solidFill>
            <a:schemeClr val="accent1"/>
          </a:solidFill>
          <a:ln/>
        </p:spPr>
      </p:sp>
      <p:sp>
        <p:nvSpPr>
          <p:cNvPr id="8" name="Text 5"/>
          <p:cNvSpPr txBox="1"/>
          <p:nvPr/>
        </p:nvSpPr>
        <p:spPr>
          <a:xfrm>
            <a:off x="457200" y="3767328"/>
            <a:ext cx="877824" cy="365760"/>
          </a:xfrm>
          <a:prstGeom prst="rect">
            <a:avLst/>
          </a:prstGeom>
          <a:noFill/>
          <a:ln/>
        </p:spPr>
        <p:txBody>
          <a:bodyPr wrap="square" lIns="0" tIns="0" rIns="0" bIns="0" rtlCol="0" anchor="ctr"/>
          <a:lstStyle/>
          <a:p>
            <a:pPr algn="ctr" indent="0" marL="0">
              <a:buNone/>
            </a:pPr>
            <a:r>
              <a:rPr lang="en-US" sz="1200" b="1" dirty="0">
                <a:solidFill>
                  <a:schemeClr val="bg1"/>
                </a:solidFill>
              </a:rPr>
              <a:t>Open</a:t>
            </a:r>
            <a:endParaRPr lang="en-US" sz="1200" dirty="0"/>
          </a:p>
        </p:txBody>
      </p:sp>
      <p:sp>
        <p:nvSpPr>
          <p:cNvPr id="9" name="Shape 6"/>
          <p:cNvSpPr/>
          <p:nvPr/>
        </p:nvSpPr>
        <p:spPr>
          <a:xfrm>
            <a:off x="1408176" y="3767328"/>
            <a:ext cx="877824" cy="365760"/>
          </a:xfrm>
          <a:prstGeom prst="roundRect">
            <a:avLst>
              <a:gd name="adj" fmla="val 50000"/>
            </a:avLst>
          </a:prstGeom>
          <a:solidFill>
            <a:schemeClr val="accent4"/>
          </a:solidFill>
          <a:ln/>
        </p:spPr>
      </p:sp>
      <p:sp>
        <p:nvSpPr>
          <p:cNvPr id="10" name="Text 7"/>
          <p:cNvSpPr txBox="1"/>
          <p:nvPr/>
        </p:nvSpPr>
        <p:spPr>
          <a:xfrm>
            <a:off x="1408176" y="3767328"/>
            <a:ext cx="877824" cy="365760"/>
          </a:xfrm>
          <a:prstGeom prst="rect">
            <a:avLst/>
          </a:prstGeom>
          <a:noFill/>
          <a:ln/>
        </p:spPr>
        <p:txBody>
          <a:bodyPr wrap="square" lIns="0" tIns="0" rIns="0" bIns="0" rtlCol="0" anchor="ctr"/>
          <a:lstStyle/>
          <a:p>
            <a:pPr algn="ctr" indent="0" marL="0">
              <a:buNone/>
            </a:pPr>
            <a:r>
              <a:rPr lang="en-US" sz="1200" b="1" dirty="0">
                <a:solidFill>
                  <a:schemeClr val="bg1"/>
                </a:solidFill>
              </a:rPr>
              <a:t>In progress</a:t>
            </a:r>
            <a:endParaRPr lang="en-US" sz="1200" dirty="0"/>
          </a:p>
        </p:txBody>
      </p:sp>
      <p:sp>
        <p:nvSpPr>
          <p:cNvPr id="11" name="Shape 8"/>
          <p:cNvSpPr/>
          <p:nvPr/>
        </p:nvSpPr>
        <p:spPr>
          <a:xfrm>
            <a:off x="2359152" y="3767328"/>
            <a:ext cx="877824" cy="365760"/>
          </a:xfrm>
          <a:prstGeom prst="roundRect">
            <a:avLst>
              <a:gd name="adj" fmla="val 50000"/>
            </a:avLst>
          </a:prstGeom>
          <a:solidFill>
            <a:schemeClr val="accent3"/>
          </a:solidFill>
          <a:ln/>
        </p:spPr>
      </p:sp>
      <p:sp>
        <p:nvSpPr>
          <p:cNvPr id="12" name="Text 9"/>
          <p:cNvSpPr txBox="1"/>
          <p:nvPr/>
        </p:nvSpPr>
        <p:spPr>
          <a:xfrm>
            <a:off x="2359152" y="3767328"/>
            <a:ext cx="877824" cy="365760"/>
          </a:xfrm>
          <a:prstGeom prst="rect">
            <a:avLst/>
          </a:prstGeom>
          <a:noFill/>
          <a:ln/>
        </p:spPr>
        <p:txBody>
          <a:bodyPr wrap="square" lIns="0" tIns="0" rIns="0" bIns="0" rtlCol="0" anchor="ctr"/>
          <a:lstStyle/>
          <a:p>
            <a:pPr algn="ctr" indent="0" marL="0">
              <a:buNone/>
            </a:pPr>
            <a:r>
              <a:rPr lang="en-US" sz="1200" b="1" dirty="0">
                <a:solidFill>
                  <a:schemeClr val="bg1"/>
                </a:solidFill>
              </a:rPr>
              <a:t>Resolved</a:t>
            </a:r>
            <a:endParaRPr lang="en-US" sz="1200" dirty="0"/>
          </a:p>
        </p:txBody>
      </p:sp>
      <p:sp>
        <p:nvSpPr>
          <p:cNvPr id="13" name="Shape 10"/>
          <p:cNvSpPr/>
          <p:nvPr/>
        </p:nvSpPr>
        <p:spPr>
          <a:xfrm>
            <a:off x="3310128" y="3767328"/>
            <a:ext cx="877824" cy="365760"/>
          </a:xfrm>
          <a:prstGeom prst="roundRect">
            <a:avLst>
              <a:gd name="adj" fmla="val 50000"/>
            </a:avLst>
          </a:prstGeom>
          <a:solidFill>
            <a:schemeClr val="tx2"/>
          </a:solidFill>
          <a:ln/>
        </p:spPr>
      </p:sp>
      <p:sp>
        <p:nvSpPr>
          <p:cNvPr id="14" name="Text 11"/>
          <p:cNvSpPr txBox="1"/>
          <p:nvPr/>
        </p:nvSpPr>
        <p:spPr>
          <a:xfrm>
            <a:off x="3310128" y="3767328"/>
            <a:ext cx="877824" cy="365760"/>
          </a:xfrm>
          <a:prstGeom prst="rect">
            <a:avLst/>
          </a:prstGeom>
          <a:noFill/>
          <a:ln/>
        </p:spPr>
        <p:txBody>
          <a:bodyPr wrap="square" lIns="0" tIns="0" rIns="0" bIns="0" rtlCol="0" anchor="ctr"/>
          <a:lstStyle/>
          <a:p>
            <a:pPr algn="ctr" indent="0" marL="0">
              <a:buNone/>
            </a:pPr>
            <a:r>
              <a:rPr lang="en-US" sz="1200" b="1" dirty="0">
                <a:solidFill>
                  <a:schemeClr val="bg1"/>
                </a:solidFill>
              </a:rPr>
              <a:t>Closed</a:t>
            </a:r>
            <a:endParaRPr lang="en-US" sz="1200" dirty="0"/>
          </a:p>
        </p:txBody>
      </p:sp>
      <p:sp>
        <p:nvSpPr>
          <p:cNvPr id="15" name="frame 08-ingress-browser"/>
          <p:cNvSpPr/>
          <p:nvPr/>
        </p:nvSpPr>
        <p:spPr>
          <a:xfrm>
            <a:off x="4434840" y="1143000"/>
            <a:ext cx="4251960" cy="2572055"/>
          </a:xfrm>
          <a:prstGeom prst="roundRect">
            <a:avLst>
              <a:gd name="adj" fmla="val 2133"/>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6" name="08-ingress-browser" descr="The running dashboard">    </p:cNvPr>
          <p:cNvPicPr>
            <a:picLocks noChangeAspect="1"/>
          </p:cNvPicPr>
          <p:nvPr/>
        </p:nvPicPr>
        <p:blipFill>
          <a:blip r:embed="rId1"/>
          <a:stretch>
            <a:fillRect/>
          </a:stretch>
        </p:blipFill>
        <p:spPr>
          <a:xfrm>
            <a:off x="4489704" y="1197864"/>
            <a:ext cx="4142232" cy="2462327"/>
          </a:xfrm>
          <a:prstGeom prst="rect">
            <a:avLst/>
          </a:prstGeom>
        </p:spPr>
      </p:pic>
      <p:sp>
        <p:nvSpPr>
          <p:cNvPr id="17" name="Text 13"/>
          <p:cNvSpPr txBox="1"/>
          <p:nvPr/>
        </p:nvSpPr>
        <p:spPr>
          <a:xfrm>
            <a:off x="4434840" y="3742487"/>
            <a:ext cx="4251960" cy="228600"/>
          </a:xfrm>
          <a:prstGeom prst="rect">
            <a:avLst/>
          </a:prstGeom>
          <a:noFill/>
          <a:ln/>
        </p:spPr>
        <p:txBody>
          <a:bodyPr wrap="square" lIns="0" tIns="0" rIns="0" bIns="0" rtlCol="0" anchor="ctr"/>
          <a:lstStyle/>
          <a:p>
            <a:pPr algn="ctr" indent="0" marL="0">
              <a:buNone/>
            </a:pPr>
            <a:r>
              <a:rPr lang="en-US" sz="1100" dirty="0">
                <a:solidFill>
                  <a:schemeClr val="tx2"/>
                </a:solidFill>
              </a:rPr>
              <a:t>The running dashboard</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INTRODUCTION</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From laptop to the cloud</a:t>
            </a:r>
            <a:endParaRPr lang="en-US" sz="3200" dirty="0"/>
          </a:p>
        </p:txBody>
      </p:sp>
      <p:sp>
        <p:nvSpPr>
          <p:cNvPr id="5" name="card Code"/>
          <p:cNvSpPr/>
          <p:nvPr/>
        </p:nvSpPr>
        <p:spPr>
          <a:xfrm>
            <a:off x="457200" y="1188720"/>
            <a:ext cx="187452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6" name="Shape 3"/>
          <p:cNvSpPr/>
          <p:nvPr/>
        </p:nvSpPr>
        <p:spPr>
          <a:xfrm>
            <a:off x="621792" y="1353312"/>
            <a:ext cx="457200" cy="457200"/>
          </a:xfrm>
          <a:prstGeom prst="ellipse">
            <a:avLst/>
          </a:prstGeom>
          <a:solidFill>
            <a:schemeClr val="accent1"/>
          </a:solidFill>
          <a:ln/>
        </p:spPr>
      </p:sp>
      <p:pic>
        <p:nvPicPr>
          <p:cNvPr id="7" name="Image 0" descr="FaGithub">    </p:cNvPr>
          <p:cNvPicPr>
            <a:picLocks noChangeAspect="1"/>
          </p:cNvPicPr>
          <p:nvPr/>
        </p:nvPicPr>
        <p:blipFill>
          <a:blip r:embed="rId1"/>
          <a:stretch>
            <a:fillRect/>
          </a:stretch>
        </p:blipFill>
        <p:spPr>
          <a:xfrm>
            <a:off x="731520" y="1463040"/>
            <a:ext cx="237744" cy="237744"/>
          </a:xfrm>
          <a:prstGeom prst="rect">
            <a:avLst/>
          </a:prstGeom>
        </p:spPr>
      </p:pic>
      <p:sp>
        <p:nvSpPr>
          <p:cNvPr id="8" name="Text 4"/>
          <p:cNvSpPr txBox="1"/>
          <p:nvPr/>
        </p:nvSpPr>
        <p:spPr>
          <a:xfrm>
            <a:off x="1207008" y="1353312"/>
            <a:ext cx="685800" cy="457200"/>
          </a:xfrm>
          <a:prstGeom prst="rect">
            <a:avLst/>
          </a:prstGeom>
          <a:noFill/>
          <a:ln/>
        </p:spPr>
        <p:txBody>
          <a:bodyPr wrap="square" lIns="0" tIns="0" rIns="0" bIns="0" rtlCol="0" anchor="ctr"/>
          <a:lstStyle/>
          <a:p>
            <a:pPr indent="0" marL="0">
              <a:buNone/>
            </a:pPr>
            <a:r>
              <a:rPr lang="en-US" sz="1500" b="1" dirty="0">
                <a:solidFill>
                  <a:schemeClr val="tx1"/>
                </a:solidFill>
              </a:rPr>
              <a:t>Code</a:t>
            </a:r>
            <a:endParaRPr lang="en-US" sz="1500" dirty="0"/>
          </a:p>
        </p:txBody>
      </p:sp>
      <p:sp>
        <p:nvSpPr>
          <p:cNvPr id="9" name="Shape 5"/>
          <p:cNvSpPr/>
          <p:nvPr/>
        </p:nvSpPr>
        <p:spPr>
          <a:xfrm>
            <a:off x="1947672" y="1298448"/>
            <a:ext cx="274320" cy="274320"/>
          </a:xfrm>
          <a:prstGeom prst="ellipse">
            <a:avLst/>
          </a:prstGeom>
          <a:solidFill>
            <a:srgbClr val="1E2A44"/>
          </a:solidFill>
          <a:ln/>
        </p:spPr>
      </p:sp>
      <p:sp>
        <p:nvSpPr>
          <p:cNvPr id="10" name="Text 6"/>
          <p:cNvSpPr txBox="1"/>
          <p:nvPr/>
        </p:nvSpPr>
        <p:spPr>
          <a:xfrm>
            <a:off x="1947672" y="1298448"/>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1</a:t>
            </a:r>
            <a:endParaRPr lang="en-US" sz="1100" dirty="0"/>
          </a:p>
        </p:txBody>
      </p:sp>
      <p:sp>
        <p:nvSpPr>
          <p:cNvPr id="11" name="Text 7"/>
          <p:cNvSpPr txBox="1"/>
          <p:nvPr/>
        </p:nvSpPr>
        <p:spPr>
          <a:xfrm>
            <a:off x="621792" y="1938528"/>
            <a:ext cx="1545336" cy="713232"/>
          </a:xfrm>
          <a:prstGeom prst="rect">
            <a:avLst/>
          </a:prstGeom>
          <a:noFill/>
          <a:ln/>
        </p:spPr>
        <p:txBody>
          <a:bodyPr wrap="square" lIns="0" tIns="0" rIns="0" bIns="0" rtlCol="0" anchor="t"/>
          <a:lstStyle/>
          <a:p>
            <a:pPr indent="0" marL="0">
              <a:buNone/>
            </a:pPr>
            <a:r>
              <a:rPr lang="en-US" sz="1200" dirty="0">
                <a:solidFill>
                  <a:schemeClr val="tx2"/>
                </a:solidFill>
              </a:rPr>
              <a:t>Write the app and commit it to Git</a:t>
            </a:r>
            <a:endParaRPr lang="en-US" sz="1200" dirty="0"/>
          </a:p>
        </p:txBody>
      </p:sp>
      <p:sp>
        <p:nvSpPr>
          <p:cNvPr id="12" name="Shape 8"/>
          <p:cNvSpPr/>
          <p:nvPr/>
        </p:nvSpPr>
        <p:spPr>
          <a:xfrm>
            <a:off x="2350008" y="1965960"/>
            <a:ext cx="210312" cy="0"/>
          </a:xfrm>
          <a:prstGeom prst="line">
            <a:avLst/>
          </a:prstGeom>
          <a:noFill/>
          <a:ln w="25400">
            <a:solidFill>
              <a:srgbClr val="94A3B8"/>
            </a:solidFill>
            <a:prstDash val="solid"/>
            <a:tailEnd type="triangle"/>
          </a:ln>
        </p:spPr>
      </p:sp>
      <p:sp>
        <p:nvSpPr>
          <p:cNvPr id="13" name="card Test"/>
          <p:cNvSpPr/>
          <p:nvPr/>
        </p:nvSpPr>
        <p:spPr>
          <a:xfrm>
            <a:off x="2578608" y="1188720"/>
            <a:ext cx="187452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4" name="Shape 10"/>
          <p:cNvSpPr/>
          <p:nvPr/>
        </p:nvSpPr>
        <p:spPr>
          <a:xfrm>
            <a:off x="2743200" y="1353312"/>
            <a:ext cx="457200" cy="457200"/>
          </a:xfrm>
          <a:prstGeom prst="ellipse">
            <a:avLst/>
          </a:prstGeom>
          <a:solidFill>
            <a:schemeClr val="accent3"/>
          </a:solidFill>
          <a:ln/>
        </p:spPr>
      </p:sp>
      <p:pic>
        <p:nvPicPr>
          <p:cNvPr id="15" name="Image 1" descr="FaCheckCircle">    </p:cNvPr>
          <p:cNvPicPr>
            <a:picLocks noChangeAspect="1"/>
          </p:cNvPicPr>
          <p:nvPr/>
        </p:nvPicPr>
        <p:blipFill>
          <a:blip r:embed="rId2"/>
          <a:stretch>
            <a:fillRect/>
          </a:stretch>
        </p:blipFill>
        <p:spPr>
          <a:xfrm>
            <a:off x="2852928" y="1463040"/>
            <a:ext cx="237744" cy="237744"/>
          </a:xfrm>
          <a:prstGeom prst="rect">
            <a:avLst/>
          </a:prstGeom>
        </p:spPr>
      </p:pic>
      <p:sp>
        <p:nvSpPr>
          <p:cNvPr id="16" name="Text 11"/>
          <p:cNvSpPr txBox="1"/>
          <p:nvPr/>
        </p:nvSpPr>
        <p:spPr>
          <a:xfrm>
            <a:off x="3328416" y="1353312"/>
            <a:ext cx="685800" cy="457200"/>
          </a:xfrm>
          <a:prstGeom prst="rect">
            <a:avLst/>
          </a:prstGeom>
          <a:noFill/>
          <a:ln/>
        </p:spPr>
        <p:txBody>
          <a:bodyPr wrap="square" lIns="0" tIns="0" rIns="0" bIns="0" rtlCol="0" anchor="ctr"/>
          <a:lstStyle/>
          <a:p>
            <a:pPr indent="0" marL="0">
              <a:buNone/>
            </a:pPr>
            <a:r>
              <a:rPr lang="en-US" sz="1500" b="1" dirty="0">
                <a:solidFill>
                  <a:schemeClr val="tx1"/>
                </a:solidFill>
              </a:rPr>
              <a:t>Test</a:t>
            </a:r>
            <a:endParaRPr lang="en-US" sz="1500" dirty="0"/>
          </a:p>
        </p:txBody>
      </p:sp>
      <p:sp>
        <p:nvSpPr>
          <p:cNvPr id="17" name="Shape 12"/>
          <p:cNvSpPr/>
          <p:nvPr/>
        </p:nvSpPr>
        <p:spPr>
          <a:xfrm>
            <a:off x="4069080" y="1298448"/>
            <a:ext cx="274320" cy="274320"/>
          </a:xfrm>
          <a:prstGeom prst="ellipse">
            <a:avLst/>
          </a:prstGeom>
          <a:solidFill>
            <a:srgbClr val="1E2A44"/>
          </a:solidFill>
          <a:ln/>
        </p:spPr>
      </p:sp>
      <p:sp>
        <p:nvSpPr>
          <p:cNvPr id="18" name="Text 13"/>
          <p:cNvSpPr txBox="1"/>
          <p:nvPr/>
        </p:nvSpPr>
        <p:spPr>
          <a:xfrm>
            <a:off x="4069080" y="1298448"/>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2</a:t>
            </a:r>
            <a:endParaRPr lang="en-US" sz="1100" dirty="0"/>
          </a:p>
        </p:txBody>
      </p:sp>
      <p:sp>
        <p:nvSpPr>
          <p:cNvPr id="19" name="Text 14"/>
          <p:cNvSpPr txBox="1"/>
          <p:nvPr/>
        </p:nvSpPr>
        <p:spPr>
          <a:xfrm>
            <a:off x="2743200" y="1938528"/>
            <a:ext cx="1545336" cy="713232"/>
          </a:xfrm>
          <a:prstGeom prst="rect">
            <a:avLst/>
          </a:prstGeom>
          <a:noFill/>
          <a:ln/>
        </p:spPr>
        <p:txBody>
          <a:bodyPr wrap="square" lIns="0" tIns="0" rIns="0" bIns="0" rtlCol="0" anchor="t"/>
          <a:lstStyle/>
          <a:p>
            <a:pPr indent="0" marL="0">
              <a:buNone/>
            </a:pPr>
            <a:r>
              <a:rPr lang="en-US" sz="1200" dirty="0">
                <a:solidFill>
                  <a:schemeClr val="tx2"/>
                </a:solidFill>
              </a:rPr>
              <a:t>pytest checks the code on every push</a:t>
            </a:r>
            <a:endParaRPr lang="en-US" sz="1200" dirty="0"/>
          </a:p>
        </p:txBody>
      </p:sp>
      <p:sp>
        <p:nvSpPr>
          <p:cNvPr id="20" name="Shape 15"/>
          <p:cNvSpPr/>
          <p:nvPr/>
        </p:nvSpPr>
        <p:spPr>
          <a:xfrm>
            <a:off x="4471416" y="1965960"/>
            <a:ext cx="210312" cy="0"/>
          </a:xfrm>
          <a:prstGeom prst="line">
            <a:avLst/>
          </a:prstGeom>
          <a:noFill/>
          <a:ln w="25400">
            <a:solidFill>
              <a:srgbClr val="94A3B8"/>
            </a:solidFill>
            <a:prstDash val="solid"/>
            <a:tailEnd type="triangle"/>
          </a:ln>
        </p:spPr>
      </p:sp>
      <p:sp>
        <p:nvSpPr>
          <p:cNvPr id="21" name="card Build"/>
          <p:cNvSpPr/>
          <p:nvPr/>
        </p:nvSpPr>
        <p:spPr>
          <a:xfrm>
            <a:off x="4700016" y="1188720"/>
            <a:ext cx="187452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22" name="Shape 17"/>
          <p:cNvSpPr/>
          <p:nvPr/>
        </p:nvSpPr>
        <p:spPr>
          <a:xfrm>
            <a:off x="4864608" y="1353312"/>
            <a:ext cx="457200" cy="457200"/>
          </a:xfrm>
          <a:prstGeom prst="ellipse">
            <a:avLst/>
          </a:prstGeom>
          <a:solidFill>
            <a:schemeClr val="accent2"/>
          </a:solidFill>
          <a:ln/>
        </p:spPr>
      </p:sp>
      <p:pic>
        <p:nvPicPr>
          <p:cNvPr id="23" name="Image 2" descr="FaDocker">    </p:cNvPr>
          <p:cNvPicPr>
            <a:picLocks noChangeAspect="1"/>
          </p:cNvPicPr>
          <p:nvPr/>
        </p:nvPicPr>
        <p:blipFill>
          <a:blip r:embed="rId3"/>
          <a:stretch>
            <a:fillRect/>
          </a:stretch>
        </p:blipFill>
        <p:spPr>
          <a:xfrm>
            <a:off x="4974336" y="1463040"/>
            <a:ext cx="237744" cy="237744"/>
          </a:xfrm>
          <a:prstGeom prst="rect">
            <a:avLst/>
          </a:prstGeom>
        </p:spPr>
      </p:pic>
      <p:sp>
        <p:nvSpPr>
          <p:cNvPr id="24" name="Text 18"/>
          <p:cNvSpPr txBox="1"/>
          <p:nvPr/>
        </p:nvSpPr>
        <p:spPr>
          <a:xfrm>
            <a:off x="5449824" y="1353312"/>
            <a:ext cx="685800" cy="457200"/>
          </a:xfrm>
          <a:prstGeom prst="rect">
            <a:avLst/>
          </a:prstGeom>
          <a:noFill/>
          <a:ln/>
        </p:spPr>
        <p:txBody>
          <a:bodyPr wrap="square" lIns="0" tIns="0" rIns="0" bIns="0" rtlCol="0" anchor="ctr"/>
          <a:lstStyle/>
          <a:p>
            <a:pPr indent="0" marL="0">
              <a:buNone/>
            </a:pPr>
            <a:r>
              <a:rPr lang="en-US" sz="1500" b="1" dirty="0">
                <a:solidFill>
                  <a:schemeClr val="tx1"/>
                </a:solidFill>
              </a:rPr>
              <a:t>Build</a:t>
            </a:r>
            <a:endParaRPr lang="en-US" sz="1500" dirty="0"/>
          </a:p>
        </p:txBody>
      </p:sp>
      <p:sp>
        <p:nvSpPr>
          <p:cNvPr id="25" name="Shape 19"/>
          <p:cNvSpPr/>
          <p:nvPr/>
        </p:nvSpPr>
        <p:spPr>
          <a:xfrm>
            <a:off x="6190488" y="1298448"/>
            <a:ext cx="274320" cy="274320"/>
          </a:xfrm>
          <a:prstGeom prst="ellipse">
            <a:avLst/>
          </a:prstGeom>
          <a:solidFill>
            <a:srgbClr val="1E2A44"/>
          </a:solidFill>
          <a:ln/>
        </p:spPr>
      </p:sp>
      <p:sp>
        <p:nvSpPr>
          <p:cNvPr id="26" name="Text 20"/>
          <p:cNvSpPr txBox="1"/>
          <p:nvPr/>
        </p:nvSpPr>
        <p:spPr>
          <a:xfrm>
            <a:off x="6190488" y="1298448"/>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3</a:t>
            </a:r>
            <a:endParaRPr lang="en-US" sz="1100" dirty="0"/>
          </a:p>
        </p:txBody>
      </p:sp>
      <p:sp>
        <p:nvSpPr>
          <p:cNvPr id="27" name="Text 21"/>
          <p:cNvSpPr txBox="1"/>
          <p:nvPr/>
        </p:nvSpPr>
        <p:spPr>
          <a:xfrm>
            <a:off x="4864608" y="1938528"/>
            <a:ext cx="1545336" cy="713232"/>
          </a:xfrm>
          <a:prstGeom prst="rect">
            <a:avLst/>
          </a:prstGeom>
          <a:noFill/>
          <a:ln/>
        </p:spPr>
        <p:txBody>
          <a:bodyPr wrap="square" lIns="0" tIns="0" rIns="0" bIns="0" rtlCol="0" anchor="t"/>
          <a:lstStyle/>
          <a:p>
            <a:pPr indent="0" marL="0">
              <a:buNone/>
            </a:pPr>
            <a:r>
              <a:rPr lang="en-US" sz="1200" dirty="0">
                <a:solidFill>
                  <a:schemeClr val="tx2"/>
                </a:solidFill>
              </a:rPr>
              <a:t>Docker packages the app into images</a:t>
            </a:r>
            <a:endParaRPr lang="en-US" sz="1200" dirty="0"/>
          </a:p>
        </p:txBody>
      </p:sp>
      <p:sp>
        <p:nvSpPr>
          <p:cNvPr id="28" name="Shape 22"/>
          <p:cNvSpPr/>
          <p:nvPr/>
        </p:nvSpPr>
        <p:spPr>
          <a:xfrm>
            <a:off x="6592824" y="1965960"/>
            <a:ext cx="210312" cy="0"/>
          </a:xfrm>
          <a:prstGeom prst="line">
            <a:avLst/>
          </a:prstGeom>
          <a:noFill/>
          <a:ln w="25400">
            <a:solidFill>
              <a:srgbClr val="94A3B8"/>
            </a:solidFill>
            <a:prstDash val="solid"/>
            <a:tailEnd type="triangle"/>
          </a:ln>
        </p:spPr>
      </p:sp>
      <p:sp>
        <p:nvSpPr>
          <p:cNvPr id="29" name="card Scan"/>
          <p:cNvSpPr/>
          <p:nvPr/>
        </p:nvSpPr>
        <p:spPr>
          <a:xfrm>
            <a:off x="6821424" y="1188720"/>
            <a:ext cx="187452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30" name="Shape 24"/>
          <p:cNvSpPr/>
          <p:nvPr/>
        </p:nvSpPr>
        <p:spPr>
          <a:xfrm>
            <a:off x="6986016" y="1353312"/>
            <a:ext cx="457200" cy="457200"/>
          </a:xfrm>
          <a:prstGeom prst="ellipse">
            <a:avLst/>
          </a:prstGeom>
          <a:solidFill>
            <a:schemeClr val="accent5"/>
          </a:solidFill>
          <a:ln/>
        </p:spPr>
      </p:sp>
      <p:pic>
        <p:nvPicPr>
          <p:cNvPr id="31" name="Image 3" descr="FaShieldAlt">    </p:cNvPr>
          <p:cNvPicPr>
            <a:picLocks noChangeAspect="1"/>
          </p:cNvPicPr>
          <p:nvPr/>
        </p:nvPicPr>
        <p:blipFill>
          <a:blip r:embed="rId4"/>
          <a:stretch>
            <a:fillRect/>
          </a:stretch>
        </p:blipFill>
        <p:spPr>
          <a:xfrm>
            <a:off x="7095744" y="1463040"/>
            <a:ext cx="237744" cy="237744"/>
          </a:xfrm>
          <a:prstGeom prst="rect">
            <a:avLst/>
          </a:prstGeom>
        </p:spPr>
      </p:pic>
      <p:sp>
        <p:nvSpPr>
          <p:cNvPr id="32" name="Text 25"/>
          <p:cNvSpPr txBox="1"/>
          <p:nvPr/>
        </p:nvSpPr>
        <p:spPr>
          <a:xfrm>
            <a:off x="7571232" y="1353312"/>
            <a:ext cx="685800" cy="457200"/>
          </a:xfrm>
          <a:prstGeom prst="rect">
            <a:avLst/>
          </a:prstGeom>
          <a:noFill/>
          <a:ln/>
        </p:spPr>
        <p:txBody>
          <a:bodyPr wrap="square" lIns="0" tIns="0" rIns="0" bIns="0" rtlCol="0" anchor="ctr"/>
          <a:lstStyle/>
          <a:p>
            <a:pPr indent="0" marL="0">
              <a:buNone/>
            </a:pPr>
            <a:r>
              <a:rPr lang="en-US" sz="1500" b="1" dirty="0">
                <a:solidFill>
                  <a:schemeClr val="tx1"/>
                </a:solidFill>
              </a:rPr>
              <a:t>Scan</a:t>
            </a:r>
            <a:endParaRPr lang="en-US" sz="1500" dirty="0"/>
          </a:p>
        </p:txBody>
      </p:sp>
      <p:sp>
        <p:nvSpPr>
          <p:cNvPr id="33" name="Shape 26"/>
          <p:cNvSpPr/>
          <p:nvPr/>
        </p:nvSpPr>
        <p:spPr>
          <a:xfrm>
            <a:off x="8311896" y="1298448"/>
            <a:ext cx="274320" cy="274320"/>
          </a:xfrm>
          <a:prstGeom prst="ellipse">
            <a:avLst/>
          </a:prstGeom>
          <a:solidFill>
            <a:srgbClr val="1E2A44"/>
          </a:solidFill>
          <a:ln/>
        </p:spPr>
      </p:sp>
      <p:sp>
        <p:nvSpPr>
          <p:cNvPr id="34" name="Text 27"/>
          <p:cNvSpPr txBox="1"/>
          <p:nvPr/>
        </p:nvSpPr>
        <p:spPr>
          <a:xfrm>
            <a:off x="8311896" y="1298448"/>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4</a:t>
            </a:r>
            <a:endParaRPr lang="en-US" sz="1100" dirty="0"/>
          </a:p>
        </p:txBody>
      </p:sp>
      <p:sp>
        <p:nvSpPr>
          <p:cNvPr id="35" name="Text 28"/>
          <p:cNvSpPr txBox="1"/>
          <p:nvPr/>
        </p:nvSpPr>
        <p:spPr>
          <a:xfrm>
            <a:off x="6986016" y="1938528"/>
            <a:ext cx="1545336" cy="713232"/>
          </a:xfrm>
          <a:prstGeom prst="rect">
            <a:avLst/>
          </a:prstGeom>
          <a:noFill/>
          <a:ln/>
        </p:spPr>
        <p:txBody>
          <a:bodyPr wrap="square" lIns="0" tIns="0" rIns="0" bIns="0" rtlCol="0" anchor="t"/>
          <a:lstStyle/>
          <a:p>
            <a:pPr indent="0" marL="0">
              <a:buNone/>
            </a:pPr>
            <a:r>
              <a:rPr lang="en-US" sz="1200" dirty="0">
                <a:solidFill>
                  <a:schemeClr val="tx2"/>
                </a:solidFill>
              </a:rPr>
              <a:t>Trivy blocks known vulnerabilities</a:t>
            </a:r>
            <a:endParaRPr lang="en-US" sz="1200" dirty="0"/>
          </a:p>
        </p:txBody>
      </p:sp>
      <p:sp>
        <p:nvSpPr>
          <p:cNvPr id="36" name="card Publish"/>
          <p:cNvSpPr/>
          <p:nvPr/>
        </p:nvSpPr>
        <p:spPr>
          <a:xfrm>
            <a:off x="457200" y="2926080"/>
            <a:ext cx="187452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37" name="Shape 30"/>
          <p:cNvSpPr/>
          <p:nvPr/>
        </p:nvSpPr>
        <p:spPr>
          <a:xfrm>
            <a:off x="621792" y="3090672"/>
            <a:ext cx="457200" cy="457200"/>
          </a:xfrm>
          <a:prstGeom prst="ellipse">
            <a:avLst/>
          </a:prstGeom>
          <a:solidFill>
            <a:schemeClr val="accent4"/>
          </a:solidFill>
          <a:ln/>
        </p:spPr>
      </p:sp>
      <p:pic>
        <p:nvPicPr>
          <p:cNvPr id="38" name="Image 4" descr="FaBoxOpen">    </p:cNvPr>
          <p:cNvPicPr>
            <a:picLocks noChangeAspect="1"/>
          </p:cNvPicPr>
          <p:nvPr/>
        </p:nvPicPr>
        <p:blipFill>
          <a:blip r:embed="rId5"/>
          <a:stretch>
            <a:fillRect/>
          </a:stretch>
        </p:blipFill>
        <p:spPr>
          <a:xfrm>
            <a:off x="731520" y="3200400"/>
            <a:ext cx="237744" cy="237744"/>
          </a:xfrm>
          <a:prstGeom prst="rect">
            <a:avLst/>
          </a:prstGeom>
        </p:spPr>
      </p:pic>
      <p:sp>
        <p:nvSpPr>
          <p:cNvPr id="39" name="Text 31"/>
          <p:cNvSpPr txBox="1"/>
          <p:nvPr/>
        </p:nvSpPr>
        <p:spPr>
          <a:xfrm>
            <a:off x="1207008" y="3090672"/>
            <a:ext cx="685800" cy="457200"/>
          </a:xfrm>
          <a:prstGeom prst="rect">
            <a:avLst/>
          </a:prstGeom>
          <a:noFill/>
          <a:ln/>
        </p:spPr>
        <p:txBody>
          <a:bodyPr wrap="square" lIns="0" tIns="0" rIns="0" bIns="0" rtlCol="0" anchor="ctr"/>
          <a:lstStyle/>
          <a:p>
            <a:pPr indent="0" marL="0">
              <a:buNone/>
            </a:pPr>
            <a:r>
              <a:rPr lang="en-US" sz="1500" b="1" dirty="0">
                <a:solidFill>
                  <a:schemeClr val="tx1"/>
                </a:solidFill>
              </a:rPr>
              <a:t>Publish</a:t>
            </a:r>
            <a:endParaRPr lang="en-US" sz="1500" dirty="0"/>
          </a:p>
        </p:txBody>
      </p:sp>
      <p:sp>
        <p:nvSpPr>
          <p:cNvPr id="40" name="Shape 32"/>
          <p:cNvSpPr/>
          <p:nvPr/>
        </p:nvSpPr>
        <p:spPr>
          <a:xfrm>
            <a:off x="1947672" y="3035808"/>
            <a:ext cx="274320" cy="274320"/>
          </a:xfrm>
          <a:prstGeom prst="ellipse">
            <a:avLst/>
          </a:prstGeom>
          <a:solidFill>
            <a:srgbClr val="1E2A44"/>
          </a:solidFill>
          <a:ln/>
        </p:spPr>
      </p:sp>
      <p:sp>
        <p:nvSpPr>
          <p:cNvPr id="41" name="Text 33"/>
          <p:cNvSpPr txBox="1"/>
          <p:nvPr/>
        </p:nvSpPr>
        <p:spPr>
          <a:xfrm>
            <a:off x="1947672" y="3035808"/>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5</a:t>
            </a:r>
            <a:endParaRPr lang="en-US" sz="1100" dirty="0"/>
          </a:p>
        </p:txBody>
      </p:sp>
      <p:sp>
        <p:nvSpPr>
          <p:cNvPr id="42" name="Text 34"/>
          <p:cNvSpPr txBox="1"/>
          <p:nvPr/>
        </p:nvSpPr>
        <p:spPr>
          <a:xfrm>
            <a:off x="621792" y="3675888"/>
            <a:ext cx="1545336" cy="713232"/>
          </a:xfrm>
          <a:prstGeom prst="rect">
            <a:avLst/>
          </a:prstGeom>
          <a:noFill/>
          <a:ln/>
        </p:spPr>
        <p:txBody>
          <a:bodyPr wrap="square" lIns="0" tIns="0" rIns="0" bIns="0" rtlCol="0" anchor="t"/>
          <a:lstStyle/>
          <a:p>
            <a:pPr indent="0" marL="0">
              <a:buNone/>
            </a:pPr>
            <a:r>
              <a:rPr lang="en-US" sz="1200" dirty="0">
                <a:solidFill>
                  <a:schemeClr val="tx2"/>
                </a:solidFill>
              </a:rPr>
              <a:t>Images go to GHCR, tagged by commit</a:t>
            </a:r>
            <a:endParaRPr lang="en-US" sz="1200" dirty="0"/>
          </a:p>
        </p:txBody>
      </p:sp>
      <p:sp>
        <p:nvSpPr>
          <p:cNvPr id="43" name="Shape 35"/>
          <p:cNvSpPr/>
          <p:nvPr/>
        </p:nvSpPr>
        <p:spPr>
          <a:xfrm>
            <a:off x="2350008" y="3703320"/>
            <a:ext cx="210312" cy="0"/>
          </a:xfrm>
          <a:prstGeom prst="line">
            <a:avLst/>
          </a:prstGeom>
          <a:noFill/>
          <a:ln w="25400">
            <a:solidFill>
              <a:srgbClr val="94A3B8"/>
            </a:solidFill>
            <a:prstDash val="solid"/>
            <a:tailEnd type="triangle"/>
          </a:ln>
        </p:spPr>
      </p:sp>
      <p:sp>
        <p:nvSpPr>
          <p:cNvPr id="44" name="card Cloud"/>
          <p:cNvSpPr/>
          <p:nvPr/>
        </p:nvSpPr>
        <p:spPr>
          <a:xfrm>
            <a:off x="2578608" y="2926080"/>
            <a:ext cx="187452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45" name="Shape 37"/>
          <p:cNvSpPr/>
          <p:nvPr/>
        </p:nvSpPr>
        <p:spPr>
          <a:xfrm>
            <a:off x="2743200" y="3090672"/>
            <a:ext cx="457200" cy="457200"/>
          </a:xfrm>
          <a:prstGeom prst="ellipse">
            <a:avLst/>
          </a:prstGeom>
          <a:solidFill>
            <a:schemeClr val="accent6"/>
          </a:solidFill>
          <a:ln/>
        </p:spPr>
      </p:sp>
      <p:pic>
        <p:nvPicPr>
          <p:cNvPr id="46" name="Image 5" descr="FaCloud">    </p:cNvPr>
          <p:cNvPicPr>
            <a:picLocks noChangeAspect="1"/>
          </p:cNvPicPr>
          <p:nvPr/>
        </p:nvPicPr>
        <p:blipFill>
          <a:blip r:embed="rId6"/>
          <a:stretch>
            <a:fillRect/>
          </a:stretch>
        </p:blipFill>
        <p:spPr>
          <a:xfrm>
            <a:off x="2852928" y="3200400"/>
            <a:ext cx="237744" cy="237744"/>
          </a:xfrm>
          <a:prstGeom prst="rect">
            <a:avLst/>
          </a:prstGeom>
        </p:spPr>
      </p:pic>
      <p:sp>
        <p:nvSpPr>
          <p:cNvPr id="47" name="Text 38"/>
          <p:cNvSpPr txBox="1"/>
          <p:nvPr/>
        </p:nvSpPr>
        <p:spPr>
          <a:xfrm>
            <a:off x="3328416" y="3090672"/>
            <a:ext cx="685800" cy="457200"/>
          </a:xfrm>
          <a:prstGeom prst="rect">
            <a:avLst/>
          </a:prstGeom>
          <a:noFill/>
          <a:ln/>
        </p:spPr>
        <p:txBody>
          <a:bodyPr wrap="square" lIns="0" tIns="0" rIns="0" bIns="0" rtlCol="0" anchor="ctr"/>
          <a:lstStyle/>
          <a:p>
            <a:pPr indent="0" marL="0">
              <a:buNone/>
            </a:pPr>
            <a:r>
              <a:rPr lang="en-US" sz="1500" b="1" dirty="0">
                <a:solidFill>
                  <a:schemeClr val="tx1"/>
                </a:solidFill>
              </a:rPr>
              <a:t>Cloud</a:t>
            </a:r>
            <a:endParaRPr lang="en-US" sz="1500" dirty="0"/>
          </a:p>
        </p:txBody>
      </p:sp>
      <p:sp>
        <p:nvSpPr>
          <p:cNvPr id="48" name="Shape 39"/>
          <p:cNvSpPr/>
          <p:nvPr/>
        </p:nvSpPr>
        <p:spPr>
          <a:xfrm>
            <a:off x="4069080" y="3035808"/>
            <a:ext cx="274320" cy="274320"/>
          </a:xfrm>
          <a:prstGeom prst="ellipse">
            <a:avLst/>
          </a:prstGeom>
          <a:solidFill>
            <a:srgbClr val="1E2A44"/>
          </a:solidFill>
          <a:ln/>
        </p:spPr>
      </p:sp>
      <p:sp>
        <p:nvSpPr>
          <p:cNvPr id="49" name="Text 40"/>
          <p:cNvSpPr txBox="1"/>
          <p:nvPr/>
        </p:nvSpPr>
        <p:spPr>
          <a:xfrm>
            <a:off x="4069080" y="3035808"/>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6</a:t>
            </a:r>
            <a:endParaRPr lang="en-US" sz="1100" dirty="0"/>
          </a:p>
        </p:txBody>
      </p:sp>
      <p:sp>
        <p:nvSpPr>
          <p:cNvPr id="50" name="Text 41"/>
          <p:cNvSpPr txBox="1"/>
          <p:nvPr/>
        </p:nvSpPr>
        <p:spPr>
          <a:xfrm>
            <a:off x="2743200" y="3675888"/>
            <a:ext cx="1545336" cy="713232"/>
          </a:xfrm>
          <a:prstGeom prst="rect">
            <a:avLst/>
          </a:prstGeom>
          <a:noFill/>
          <a:ln/>
        </p:spPr>
        <p:txBody>
          <a:bodyPr wrap="square" lIns="0" tIns="0" rIns="0" bIns="0" rtlCol="0" anchor="t"/>
          <a:lstStyle/>
          <a:p>
            <a:pPr indent="0" marL="0">
              <a:buNone/>
            </a:pPr>
            <a:r>
              <a:rPr lang="en-US" sz="1200" dirty="0">
                <a:solidFill>
                  <a:schemeClr val="tx2"/>
                </a:solidFill>
              </a:rPr>
              <a:t>Terraform builds the AWS network and cluster</a:t>
            </a:r>
            <a:endParaRPr lang="en-US" sz="1200" dirty="0"/>
          </a:p>
        </p:txBody>
      </p:sp>
      <p:sp>
        <p:nvSpPr>
          <p:cNvPr id="51" name="Shape 42"/>
          <p:cNvSpPr/>
          <p:nvPr/>
        </p:nvSpPr>
        <p:spPr>
          <a:xfrm>
            <a:off x="4471416" y="3703320"/>
            <a:ext cx="210312" cy="0"/>
          </a:xfrm>
          <a:prstGeom prst="line">
            <a:avLst/>
          </a:prstGeom>
          <a:noFill/>
          <a:ln w="25400">
            <a:solidFill>
              <a:srgbClr val="94A3B8"/>
            </a:solidFill>
            <a:prstDash val="solid"/>
            <a:tailEnd type="triangle"/>
          </a:ln>
        </p:spPr>
      </p:sp>
      <p:sp>
        <p:nvSpPr>
          <p:cNvPr id="52" name="card Deploy"/>
          <p:cNvSpPr/>
          <p:nvPr/>
        </p:nvSpPr>
        <p:spPr>
          <a:xfrm>
            <a:off x="4700016" y="2926080"/>
            <a:ext cx="187452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53" name="Shape 44"/>
          <p:cNvSpPr/>
          <p:nvPr/>
        </p:nvSpPr>
        <p:spPr>
          <a:xfrm>
            <a:off x="4864608" y="3090672"/>
            <a:ext cx="457200" cy="457200"/>
          </a:xfrm>
          <a:prstGeom prst="ellipse">
            <a:avLst/>
          </a:prstGeom>
          <a:solidFill>
            <a:schemeClr val="accent1"/>
          </a:solidFill>
          <a:ln/>
        </p:spPr>
      </p:sp>
      <p:pic>
        <p:nvPicPr>
          <p:cNvPr id="54" name="Image 6" descr="FaDharmachakra">    </p:cNvPr>
          <p:cNvPicPr>
            <a:picLocks noChangeAspect="1"/>
          </p:cNvPicPr>
          <p:nvPr/>
        </p:nvPicPr>
        <p:blipFill>
          <a:blip r:embed="rId7"/>
          <a:stretch>
            <a:fillRect/>
          </a:stretch>
        </p:blipFill>
        <p:spPr>
          <a:xfrm>
            <a:off x="4974336" y="3200400"/>
            <a:ext cx="237744" cy="237744"/>
          </a:xfrm>
          <a:prstGeom prst="rect">
            <a:avLst/>
          </a:prstGeom>
        </p:spPr>
      </p:pic>
      <p:sp>
        <p:nvSpPr>
          <p:cNvPr id="55" name="Text 45"/>
          <p:cNvSpPr txBox="1"/>
          <p:nvPr/>
        </p:nvSpPr>
        <p:spPr>
          <a:xfrm>
            <a:off x="5449824" y="3090672"/>
            <a:ext cx="685800" cy="457200"/>
          </a:xfrm>
          <a:prstGeom prst="rect">
            <a:avLst/>
          </a:prstGeom>
          <a:noFill/>
          <a:ln/>
        </p:spPr>
        <p:txBody>
          <a:bodyPr wrap="square" lIns="0" tIns="0" rIns="0" bIns="0" rtlCol="0" anchor="ctr"/>
          <a:lstStyle/>
          <a:p>
            <a:pPr indent="0" marL="0">
              <a:buNone/>
            </a:pPr>
            <a:r>
              <a:rPr lang="en-US" sz="1500" b="1" dirty="0">
                <a:solidFill>
                  <a:schemeClr val="tx1"/>
                </a:solidFill>
              </a:rPr>
              <a:t>Deploy</a:t>
            </a:r>
            <a:endParaRPr lang="en-US" sz="1500" dirty="0"/>
          </a:p>
        </p:txBody>
      </p:sp>
      <p:sp>
        <p:nvSpPr>
          <p:cNvPr id="56" name="Shape 46"/>
          <p:cNvSpPr/>
          <p:nvPr/>
        </p:nvSpPr>
        <p:spPr>
          <a:xfrm>
            <a:off x="6190488" y="3035808"/>
            <a:ext cx="274320" cy="274320"/>
          </a:xfrm>
          <a:prstGeom prst="ellipse">
            <a:avLst/>
          </a:prstGeom>
          <a:solidFill>
            <a:srgbClr val="1E2A44"/>
          </a:solidFill>
          <a:ln/>
        </p:spPr>
      </p:sp>
      <p:sp>
        <p:nvSpPr>
          <p:cNvPr id="57" name="Text 47"/>
          <p:cNvSpPr txBox="1"/>
          <p:nvPr/>
        </p:nvSpPr>
        <p:spPr>
          <a:xfrm>
            <a:off x="6190488" y="3035808"/>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7</a:t>
            </a:r>
            <a:endParaRPr lang="en-US" sz="1100" dirty="0"/>
          </a:p>
        </p:txBody>
      </p:sp>
      <p:sp>
        <p:nvSpPr>
          <p:cNvPr id="58" name="Text 48"/>
          <p:cNvSpPr txBox="1"/>
          <p:nvPr/>
        </p:nvSpPr>
        <p:spPr>
          <a:xfrm>
            <a:off x="4864608" y="3675888"/>
            <a:ext cx="1545336" cy="713232"/>
          </a:xfrm>
          <a:prstGeom prst="rect">
            <a:avLst/>
          </a:prstGeom>
          <a:noFill/>
          <a:ln/>
        </p:spPr>
        <p:txBody>
          <a:bodyPr wrap="square" lIns="0" tIns="0" rIns="0" bIns="0" rtlCol="0" anchor="t"/>
          <a:lstStyle/>
          <a:p>
            <a:pPr indent="0" marL="0">
              <a:buNone/>
            </a:pPr>
            <a:r>
              <a:rPr lang="en-US" sz="1200" dirty="0">
                <a:solidFill>
                  <a:schemeClr val="tx2"/>
                </a:solidFill>
              </a:rPr>
              <a:t>Helm installs the app on Kubernetes</a:t>
            </a:r>
            <a:endParaRPr lang="en-US" sz="1200" dirty="0"/>
          </a:p>
        </p:txBody>
      </p:sp>
      <p:sp>
        <p:nvSpPr>
          <p:cNvPr id="59" name="Shape 49"/>
          <p:cNvSpPr/>
          <p:nvPr/>
        </p:nvSpPr>
        <p:spPr>
          <a:xfrm>
            <a:off x="6592824" y="3703320"/>
            <a:ext cx="210312" cy="0"/>
          </a:xfrm>
          <a:prstGeom prst="line">
            <a:avLst/>
          </a:prstGeom>
          <a:noFill/>
          <a:ln w="25400">
            <a:solidFill>
              <a:srgbClr val="94A3B8"/>
            </a:solidFill>
            <a:prstDash val="solid"/>
            <a:tailEnd type="triangle"/>
          </a:ln>
        </p:spPr>
      </p:sp>
      <p:sp>
        <p:nvSpPr>
          <p:cNvPr id="60" name="card Monitor"/>
          <p:cNvSpPr/>
          <p:nvPr/>
        </p:nvSpPr>
        <p:spPr>
          <a:xfrm>
            <a:off x="6821424" y="2926080"/>
            <a:ext cx="187452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61" name="Shape 51"/>
          <p:cNvSpPr/>
          <p:nvPr/>
        </p:nvSpPr>
        <p:spPr>
          <a:xfrm>
            <a:off x="6986016" y="3090672"/>
            <a:ext cx="457200" cy="457200"/>
          </a:xfrm>
          <a:prstGeom prst="ellipse">
            <a:avLst/>
          </a:prstGeom>
          <a:solidFill>
            <a:schemeClr val="accent3"/>
          </a:solidFill>
          <a:ln/>
        </p:spPr>
      </p:sp>
      <p:pic>
        <p:nvPicPr>
          <p:cNvPr id="62" name="Image 7" descr="FaChartLine">    </p:cNvPr>
          <p:cNvPicPr>
            <a:picLocks noChangeAspect="1"/>
          </p:cNvPicPr>
          <p:nvPr/>
        </p:nvPicPr>
        <p:blipFill>
          <a:blip r:embed="rId8"/>
          <a:stretch>
            <a:fillRect/>
          </a:stretch>
        </p:blipFill>
        <p:spPr>
          <a:xfrm>
            <a:off x="7095744" y="3200400"/>
            <a:ext cx="237744" cy="237744"/>
          </a:xfrm>
          <a:prstGeom prst="rect">
            <a:avLst/>
          </a:prstGeom>
        </p:spPr>
      </p:pic>
      <p:sp>
        <p:nvSpPr>
          <p:cNvPr id="63" name="Text 52"/>
          <p:cNvSpPr txBox="1"/>
          <p:nvPr/>
        </p:nvSpPr>
        <p:spPr>
          <a:xfrm>
            <a:off x="7571232" y="3090672"/>
            <a:ext cx="685800" cy="457200"/>
          </a:xfrm>
          <a:prstGeom prst="rect">
            <a:avLst/>
          </a:prstGeom>
          <a:noFill/>
          <a:ln/>
        </p:spPr>
        <p:txBody>
          <a:bodyPr wrap="square" lIns="0" tIns="0" rIns="0" bIns="0" rtlCol="0" anchor="ctr"/>
          <a:lstStyle/>
          <a:p>
            <a:pPr indent="0" marL="0">
              <a:buNone/>
            </a:pPr>
            <a:r>
              <a:rPr lang="en-US" sz="1500" b="1" dirty="0">
                <a:solidFill>
                  <a:schemeClr val="tx1"/>
                </a:solidFill>
              </a:rPr>
              <a:t>Monitor</a:t>
            </a:r>
            <a:endParaRPr lang="en-US" sz="1500" dirty="0"/>
          </a:p>
        </p:txBody>
      </p:sp>
      <p:sp>
        <p:nvSpPr>
          <p:cNvPr id="64" name="Shape 53"/>
          <p:cNvSpPr/>
          <p:nvPr/>
        </p:nvSpPr>
        <p:spPr>
          <a:xfrm>
            <a:off x="8311896" y="3035808"/>
            <a:ext cx="274320" cy="274320"/>
          </a:xfrm>
          <a:prstGeom prst="ellipse">
            <a:avLst/>
          </a:prstGeom>
          <a:solidFill>
            <a:srgbClr val="1E2A44"/>
          </a:solidFill>
          <a:ln/>
        </p:spPr>
      </p:sp>
      <p:sp>
        <p:nvSpPr>
          <p:cNvPr id="65" name="Text 54"/>
          <p:cNvSpPr txBox="1"/>
          <p:nvPr/>
        </p:nvSpPr>
        <p:spPr>
          <a:xfrm>
            <a:off x="8311896" y="3035808"/>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8</a:t>
            </a:r>
            <a:endParaRPr lang="en-US" sz="1100" dirty="0"/>
          </a:p>
        </p:txBody>
      </p:sp>
      <p:sp>
        <p:nvSpPr>
          <p:cNvPr id="66" name="Text 55"/>
          <p:cNvSpPr txBox="1"/>
          <p:nvPr/>
        </p:nvSpPr>
        <p:spPr>
          <a:xfrm>
            <a:off x="6986016" y="3675888"/>
            <a:ext cx="1545336" cy="713232"/>
          </a:xfrm>
          <a:prstGeom prst="rect">
            <a:avLst/>
          </a:prstGeom>
          <a:noFill/>
          <a:ln/>
        </p:spPr>
        <p:txBody>
          <a:bodyPr wrap="square" lIns="0" tIns="0" rIns="0" bIns="0" rtlCol="0" anchor="t"/>
          <a:lstStyle/>
          <a:p>
            <a:pPr indent="0" marL="0">
              <a:buNone/>
            </a:pPr>
            <a:r>
              <a:rPr lang="en-US" sz="1200" dirty="0">
                <a:solidFill>
                  <a:schemeClr val="tx2"/>
                </a:solidFill>
              </a:rPr>
              <a:t>Prometheus and Grafana show live health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INTRODUCTION</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Tech stack at a glance</a:t>
            </a:r>
            <a:endParaRPr lang="en-US" sz="3200" dirty="0"/>
          </a:p>
        </p:txBody>
      </p:sp>
      <p:sp>
        <p:nvSpPr>
          <p:cNvPr id="5" name="card Frontend"/>
          <p:cNvSpPr/>
          <p:nvPr/>
        </p:nvSpPr>
        <p:spPr>
          <a:xfrm>
            <a:off x="457200" y="1234440"/>
            <a:ext cx="265176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6" name="Shape 3"/>
          <p:cNvSpPr/>
          <p:nvPr/>
        </p:nvSpPr>
        <p:spPr>
          <a:xfrm>
            <a:off x="621792" y="1399032"/>
            <a:ext cx="457200" cy="457200"/>
          </a:xfrm>
          <a:prstGeom prst="ellipse">
            <a:avLst/>
          </a:prstGeom>
          <a:solidFill>
            <a:schemeClr val="accent2"/>
          </a:solidFill>
          <a:ln/>
        </p:spPr>
      </p:sp>
      <p:pic>
        <p:nvPicPr>
          <p:cNvPr id="7" name="Image 0" descr="FaReact">    </p:cNvPr>
          <p:cNvPicPr>
            <a:picLocks noChangeAspect="1"/>
          </p:cNvPicPr>
          <p:nvPr/>
        </p:nvPicPr>
        <p:blipFill>
          <a:blip r:embed="rId1"/>
          <a:stretch>
            <a:fillRect/>
          </a:stretch>
        </p:blipFill>
        <p:spPr>
          <a:xfrm>
            <a:off x="731520" y="1508760"/>
            <a:ext cx="237744" cy="237744"/>
          </a:xfrm>
          <a:prstGeom prst="rect">
            <a:avLst/>
          </a:prstGeom>
        </p:spPr>
      </p:pic>
      <p:sp>
        <p:nvSpPr>
          <p:cNvPr id="8" name="Text 4"/>
          <p:cNvSpPr txBox="1"/>
          <p:nvPr/>
        </p:nvSpPr>
        <p:spPr>
          <a:xfrm>
            <a:off x="1207008" y="139903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Frontend</a:t>
            </a:r>
            <a:endParaRPr lang="en-US" sz="1600" dirty="0"/>
          </a:p>
        </p:txBody>
      </p:sp>
      <p:sp>
        <p:nvSpPr>
          <p:cNvPr id="9" name="Text 5"/>
          <p:cNvSpPr txBox="1"/>
          <p:nvPr/>
        </p:nvSpPr>
        <p:spPr>
          <a:xfrm>
            <a:off x="621792" y="1984248"/>
            <a:ext cx="2322576" cy="713232"/>
          </a:xfrm>
          <a:prstGeom prst="rect">
            <a:avLst/>
          </a:prstGeom>
          <a:noFill/>
          <a:ln/>
        </p:spPr>
        <p:txBody>
          <a:bodyPr wrap="square" lIns="0" tIns="0" rIns="0" bIns="0" rtlCol="0" anchor="t"/>
          <a:lstStyle/>
          <a:p>
            <a:pPr indent="0" marL="0">
              <a:buNone/>
            </a:pPr>
            <a:r>
              <a:rPr lang="en-US" sz="1300" dirty="0">
                <a:solidFill>
                  <a:schemeClr val="tx2"/>
                </a:solidFill>
              </a:rPr>
              <a:t>React 18 + Vite, responsive CSS, served by Nginx</a:t>
            </a:r>
            <a:endParaRPr lang="en-US" sz="1300" dirty="0"/>
          </a:p>
        </p:txBody>
      </p:sp>
      <p:sp>
        <p:nvSpPr>
          <p:cNvPr id="10" name="card Backend"/>
          <p:cNvSpPr/>
          <p:nvPr/>
        </p:nvSpPr>
        <p:spPr>
          <a:xfrm>
            <a:off x="3246120" y="1234440"/>
            <a:ext cx="265176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1" name="Shape 7"/>
          <p:cNvSpPr/>
          <p:nvPr/>
        </p:nvSpPr>
        <p:spPr>
          <a:xfrm>
            <a:off x="3410712" y="1399032"/>
            <a:ext cx="457200" cy="457200"/>
          </a:xfrm>
          <a:prstGeom prst="ellipse">
            <a:avLst/>
          </a:prstGeom>
          <a:solidFill>
            <a:schemeClr val="accent1"/>
          </a:solidFill>
          <a:ln/>
        </p:spPr>
      </p:sp>
      <p:pic>
        <p:nvPicPr>
          <p:cNvPr id="12" name="Image 1" descr="FaPython">    </p:cNvPr>
          <p:cNvPicPr>
            <a:picLocks noChangeAspect="1"/>
          </p:cNvPicPr>
          <p:nvPr/>
        </p:nvPicPr>
        <p:blipFill>
          <a:blip r:embed="rId2"/>
          <a:stretch>
            <a:fillRect/>
          </a:stretch>
        </p:blipFill>
        <p:spPr>
          <a:xfrm>
            <a:off x="3520440" y="1508760"/>
            <a:ext cx="237744" cy="237744"/>
          </a:xfrm>
          <a:prstGeom prst="rect">
            <a:avLst/>
          </a:prstGeom>
        </p:spPr>
      </p:pic>
      <p:sp>
        <p:nvSpPr>
          <p:cNvPr id="13" name="Text 8"/>
          <p:cNvSpPr txBox="1"/>
          <p:nvPr/>
        </p:nvSpPr>
        <p:spPr>
          <a:xfrm>
            <a:off x="3995928" y="139903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Backend</a:t>
            </a:r>
            <a:endParaRPr lang="en-US" sz="1600" dirty="0"/>
          </a:p>
        </p:txBody>
      </p:sp>
      <p:sp>
        <p:nvSpPr>
          <p:cNvPr id="14" name="Text 9"/>
          <p:cNvSpPr txBox="1"/>
          <p:nvPr/>
        </p:nvSpPr>
        <p:spPr>
          <a:xfrm>
            <a:off x="3410712" y="1984248"/>
            <a:ext cx="2322576" cy="713232"/>
          </a:xfrm>
          <a:prstGeom prst="rect">
            <a:avLst/>
          </a:prstGeom>
          <a:noFill/>
          <a:ln/>
        </p:spPr>
        <p:txBody>
          <a:bodyPr wrap="square" lIns="0" tIns="0" rIns="0" bIns="0" rtlCol="0" anchor="t"/>
          <a:lstStyle/>
          <a:p>
            <a:pPr indent="0" marL="0">
              <a:buNone/>
            </a:pPr>
            <a:r>
              <a:rPr lang="en-US" sz="1300" dirty="0">
                <a:solidFill>
                  <a:schemeClr val="tx2"/>
                </a:solidFill>
              </a:rPr>
              <a:t>FastAPI, SQLAlchemy ORM, Alembic migrations</a:t>
            </a:r>
            <a:endParaRPr lang="en-US" sz="1300" dirty="0"/>
          </a:p>
        </p:txBody>
      </p:sp>
      <p:sp>
        <p:nvSpPr>
          <p:cNvPr id="15" name="card Database"/>
          <p:cNvSpPr/>
          <p:nvPr/>
        </p:nvSpPr>
        <p:spPr>
          <a:xfrm>
            <a:off x="6035040" y="1234440"/>
            <a:ext cx="265176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6" name="Shape 11"/>
          <p:cNvSpPr/>
          <p:nvPr/>
        </p:nvSpPr>
        <p:spPr>
          <a:xfrm>
            <a:off x="6199632" y="1399032"/>
            <a:ext cx="457200" cy="457200"/>
          </a:xfrm>
          <a:prstGeom prst="ellipse">
            <a:avLst/>
          </a:prstGeom>
          <a:solidFill>
            <a:schemeClr val="accent3"/>
          </a:solidFill>
          <a:ln/>
        </p:spPr>
      </p:sp>
      <p:pic>
        <p:nvPicPr>
          <p:cNvPr id="17" name="Image 2" descr="FaDatabase">    </p:cNvPr>
          <p:cNvPicPr>
            <a:picLocks noChangeAspect="1"/>
          </p:cNvPicPr>
          <p:nvPr/>
        </p:nvPicPr>
        <p:blipFill>
          <a:blip r:embed="rId3"/>
          <a:stretch>
            <a:fillRect/>
          </a:stretch>
        </p:blipFill>
        <p:spPr>
          <a:xfrm>
            <a:off x="6309360" y="1508760"/>
            <a:ext cx="237744" cy="237744"/>
          </a:xfrm>
          <a:prstGeom prst="rect">
            <a:avLst/>
          </a:prstGeom>
        </p:spPr>
      </p:pic>
      <p:sp>
        <p:nvSpPr>
          <p:cNvPr id="18" name="Text 12"/>
          <p:cNvSpPr txBox="1"/>
          <p:nvPr/>
        </p:nvSpPr>
        <p:spPr>
          <a:xfrm>
            <a:off x="6784848" y="139903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Database</a:t>
            </a:r>
            <a:endParaRPr lang="en-US" sz="1600" dirty="0"/>
          </a:p>
        </p:txBody>
      </p:sp>
      <p:sp>
        <p:nvSpPr>
          <p:cNvPr id="19" name="Text 13"/>
          <p:cNvSpPr txBox="1"/>
          <p:nvPr/>
        </p:nvSpPr>
        <p:spPr>
          <a:xfrm>
            <a:off x="6199632" y="1984248"/>
            <a:ext cx="2322576" cy="713232"/>
          </a:xfrm>
          <a:prstGeom prst="rect">
            <a:avLst/>
          </a:prstGeom>
          <a:noFill/>
          <a:ln/>
        </p:spPr>
        <p:txBody>
          <a:bodyPr wrap="square" lIns="0" tIns="0" rIns="0" bIns="0" rtlCol="0" anchor="t"/>
          <a:lstStyle/>
          <a:p>
            <a:pPr indent="0" marL="0">
              <a:buNone/>
            </a:pPr>
            <a:r>
              <a:rPr lang="en-US" sz="1300" dirty="0">
                <a:solidFill>
                  <a:schemeClr val="tx2"/>
                </a:solidFill>
              </a:rPr>
              <a:t>PostgreSQL 16 with a migrated tickets table</a:t>
            </a:r>
            <a:endParaRPr lang="en-US" sz="1300" dirty="0"/>
          </a:p>
        </p:txBody>
      </p:sp>
      <p:sp>
        <p:nvSpPr>
          <p:cNvPr id="20" name="card Containers"/>
          <p:cNvSpPr/>
          <p:nvPr/>
        </p:nvSpPr>
        <p:spPr>
          <a:xfrm>
            <a:off x="457200" y="2971800"/>
            <a:ext cx="265176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21" name="Shape 15"/>
          <p:cNvSpPr/>
          <p:nvPr/>
        </p:nvSpPr>
        <p:spPr>
          <a:xfrm>
            <a:off x="621792" y="3136392"/>
            <a:ext cx="457200" cy="457200"/>
          </a:xfrm>
          <a:prstGeom prst="ellipse">
            <a:avLst/>
          </a:prstGeom>
          <a:solidFill>
            <a:schemeClr val="accent2"/>
          </a:solidFill>
          <a:ln/>
        </p:spPr>
      </p:sp>
      <p:pic>
        <p:nvPicPr>
          <p:cNvPr id="22" name="Image 3" descr="FaDocker">    </p:cNvPr>
          <p:cNvPicPr>
            <a:picLocks noChangeAspect="1"/>
          </p:cNvPicPr>
          <p:nvPr/>
        </p:nvPicPr>
        <p:blipFill>
          <a:blip r:embed="rId4"/>
          <a:stretch>
            <a:fillRect/>
          </a:stretch>
        </p:blipFill>
        <p:spPr>
          <a:xfrm>
            <a:off x="731520" y="3246120"/>
            <a:ext cx="237744" cy="237744"/>
          </a:xfrm>
          <a:prstGeom prst="rect">
            <a:avLst/>
          </a:prstGeom>
        </p:spPr>
      </p:pic>
      <p:sp>
        <p:nvSpPr>
          <p:cNvPr id="23" name="Text 16"/>
          <p:cNvSpPr txBox="1"/>
          <p:nvPr/>
        </p:nvSpPr>
        <p:spPr>
          <a:xfrm>
            <a:off x="1207008" y="313639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Containers</a:t>
            </a:r>
            <a:endParaRPr lang="en-US" sz="1600" dirty="0"/>
          </a:p>
        </p:txBody>
      </p:sp>
      <p:sp>
        <p:nvSpPr>
          <p:cNvPr id="24" name="Text 17"/>
          <p:cNvSpPr txBox="1"/>
          <p:nvPr/>
        </p:nvSpPr>
        <p:spPr>
          <a:xfrm>
            <a:off x="621792" y="3721608"/>
            <a:ext cx="2322576" cy="713232"/>
          </a:xfrm>
          <a:prstGeom prst="rect">
            <a:avLst/>
          </a:prstGeom>
          <a:noFill/>
          <a:ln/>
        </p:spPr>
        <p:txBody>
          <a:bodyPr wrap="square" lIns="0" tIns="0" rIns="0" bIns="0" rtlCol="0" anchor="t"/>
          <a:lstStyle/>
          <a:p>
            <a:pPr indent="0" marL="0">
              <a:buNone/>
            </a:pPr>
            <a:r>
              <a:rPr lang="en-US" sz="1300" dirty="0">
                <a:solidFill>
                  <a:schemeClr val="tx2"/>
                </a:solidFill>
              </a:rPr>
              <a:t>Docker images and a Docker Compose stack</a:t>
            </a:r>
            <a:endParaRPr lang="en-US" sz="1300" dirty="0"/>
          </a:p>
        </p:txBody>
      </p:sp>
      <p:sp>
        <p:nvSpPr>
          <p:cNvPr id="25" name="card CI/CD and security"/>
          <p:cNvSpPr/>
          <p:nvPr/>
        </p:nvSpPr>
        <p:spPr>
          <a:xfrm>
            <a:off x="3246120" y="2971800"/>
            <a:ext cx="265176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26" name="Shape 19"/>
          <p:cNvSpPr/>
          <p:nvPr/>
        </p:nvSpPr>
        <p:spPr>
          <a:xfrm>
            <a:off x="3410712" y="3136392"/>
            <a:ext cx="457200" cy="457200"/>
          </a:xfrm>
          <a:prstGeom prst="ellipse">
            <a:avLst/>
          </a:prstGeom>
          <a:solidFill>
            <a:schemeClr val="accent6"/>
          </a:solidFill>
          <a:ln/>
        </p:spPr>
      </p:sp>
      <p:pic>
        <p:nvPicPr>
          <p:cNvPr id="27" name="Image 4" descr="FaGithub">    </p:cNvPr>
          <p:cNvPicPr>
            <a:picLocks noChangeAspect="1"/>
          </p:cNvPicPr>
          <p:nvPr/>
        </p:nvPicPr>
        <p:blipFill>
          <a:blip r:embed="rId5"/>
          <a:stretch>
            <a:fillRect/>
          </a:stretch>
        </p:blipFill>
        <p:spPr>
          <a:xfrm>
            <a:off x="3520440" y="3246120"/>
            <a:ext cx="237744" cy="237744"/>
          </a:xfrm>
          <a:prstGeom prst="rect">
            <a:avLst/>
          </a:prstGeom>
        </p:spPr>
      </p:pic>
      <p:sp>
        <p:nvSpPr>
          <p:cNvPr id="28" name="Text 20"/>
          <p:cNvSpPr txBox="1"/>
          <p:nvPr/>
        </p:nvSpPr>
        <p:spPr>
          <a:xfrm>
            <a:off x="3995928" y="313639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CI/CD and security</a:t>
            </a:r>
            <a:endParaRPr lang="en-US" sz="1600" dirty="0"/>
          </a:p>
        </p:txBody>
      </p:sp>
      <p:sp>
        <p:nvSpPr>
          <p:cNvPr id="29" name="Text 21"/>
          <p:cNvSpPr txBox="1"/>
          <p:nvPr/>
        </p:nvSpPr>
        <p:spPr>
          <a:xfrm>
            <a:off x="3410712" y="3721608"/>
            <a:ext cx="2322576" cy="713232"/>
          </a:xfrm>
          <a:prstGeom prst="rect">
            <a:avLst/>
          </a:prstGeom>
          <a:noFill/>
          <a:ln/>
        </p:spPr>
        <p:txBody>
          <a:bodyPr wrap="square" lIns="0" tIns="0" rIns="0" bIns="0" rtlCol="0" anchor="t"/>
          <a:lstStyle/>
          <a:p>
            <a:pPr indent="0" marL="0">
              <a:buNone/>
            </a:pPr>
            <a:r>
              <a:rPr lang="en-US" sz="1300" dirty="0">
                <a:solidFill>
                  <a:schemeClr val="tx2"/>
                </a:solidFill>
              </a:rPr>
              <a:t>GitHub Actions, GHCR registry, Trivy scanner</a:t>
            </a:r>
            <a:endParaRPr lang="en-US" sz="1300" dirty="0"/>
          </a:p>
        </p:txBody>
      </p:sp>
      <p:sp>
        <p:nvSpPr>
          <p:cNvPr id="30" name="card Cloud and ops"/>
          <p:cNvSpPr/>
          <p:nvPr/>
        </p:nvSpPr>
        <p:spPr>
          <a:xfrm>
            <a:off x="6035040" y="2971800"/>
            <a:ext cx="265176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31" name="Shape 23"/>
          <p:cNvSpPr/>
          <p:nvPr/>
        </p:nvSpPr>
        <p:spPr>
          <a:xfrm>
            <a:off x="6199632" y="3136392"/>
            <a:ext cx="457200" cy="457200"/>
          </a:xfrm>
          <a:prstGeom prst="ellipse">
            <a:avLst/>
          </a:prstGeom>
          <a:solidFill>
            <a:schemeClr val="accent4"/>
          </a:solidFill>
          <a:ln/>
        </p:spPr>
      </p:sp>
      <p:pic>
        <p:nvPicPr>
          <p:cNvPr id="32" name="Image 5" descr="FaCloud">    </p:cNvPr>
          <p:cNvPicPr>
            <a:picLocks noChangeAspect="1"/>
          </p:cNvPicPr>
          <p:nvPr/>
        </p:nvPicPr>
        <p:blipFill>
          <a:blip r:embed="rId6"/>
          <a:stretch>
            <a:fillRect/>
          </a:stretch>
        </p:blipFill>
        <p:spPr>
          <a:xfrm>
            <a:off x="6309360" y="3246120"/>
            <a:ext cx="237744" cy="237744"/>
          </a:xfrm>
          <a:prstGeom prst="rect">
            <a:avLst/>
          </a:prstGeom>
        </p:spPr>
      </p:pic>
      <p:sp>
        <p:nvSpPr>
          <p:cNvPr id="33" name="Text 24"/>
          <p:cNvSpPr txBox="1"/>
          <p:nvPr/>
        </p:nvSpPr>
        <p:spPr>
          <a:xfrm>
            <a:off x="6784848" y="313639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Cloud and ops</a:t>
            </a:r>
            <a:endParaRPr lang="en-US" sz="1600" dirty="0"/>
          </a:p>
        </p:txBody>
      </p:sp>
      <p:sp>
        <p:nvSpPr>
          <p:cNvPr id="34" name="Text 25"/>
          <p:cNvSpPr txBox="1"/>
          <p:nvPr/>
        </p:nvSpPr>
        <p:spPr>
          <a:xfrm>
            <a:off x="6199632" y="3721608"/>
            <a:ext cx="2322576" cy="713232"/>
          </a:xfrm>
          <a:prstGeom prst="rect">
            <a:avLst/>
          </a:prstGeom>
          <a:noFill/>
          <a:ln/>
        </p:spPr>
        <p:txBody>
          <a:bodyPr wrap="square" lIns="0" tIns="0" rIns="0" bIns="0" rtlCol="0" anchor="t"/>
          <a:lstStyle/>
          <a:p>
            <a:pPr indent="0" marL="0">
              <a:buNone/>
            </a:pPr>
            <a:r>
              <a:rPr lang="en-US" sz="1300" dirty="0">
                <a:solidFill>
                  <a:schemeClr val="tx2"/>
                </a:solidFill>
              </a:rPr>
              <a:t>Terraform, AWS EKS, Helm, Prometheus, Grafana</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APPLICATION AND QUALITY</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The backend API</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206240" cy="914400"/>
        </p:xfrm>
        <a:graphic>
          <a:graphicData uri="http://schemas.openxmlformats.org/drawingml/2006/table">
            <a:tbl>
              <a:tblPr/>
              <a:tblGrid>
                <a:gridCol w="777240"/>
                <a:gridCol w="1828800"/>
                <a:gridCol w="1600200"/>
              </a:tblGrid>
              <a:tr h="329184">
                <a:tc>
                  <a:txBody>
                    <a:bodyPr/>
                    <a:lstStyle/>
                    <a:p>
                      <a:pPr indent="0" marL="0">
                        <a:buNone/>
                      </a:pPr>
                      <a:r>
                        <a:rPr lang="en-US" sz="1200" b="1" dirty="0">
                          <a:solidFill>
                            <a:srgbClr val="FFFFFF"/>
                          </a:solidFill>
                        </a:rPr>
                        <a:t>Method</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4F46E5"/>
                    </a:solidFill>
                  </a:tcPr>
                </a:tc>
                <a:tc>
                  <a:txBody>
                    <a:bodyPr/>
                    <a:lstStyle/>
                    <a:p>
                      <a:pPr indent="0" marL="0">
                        <a:buNone/>
                      </a:pPr>
                      <a:r>
                        <a:rPr lang="en-US" sz="1200" b="1" dirty="0">
                          <a:solidFill>
                            <a:srgbClr val="FFFFFF"/>
                          </a:solidFill>
                        </a:rPr>
                        <a:t>Path</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4F46E5"/>
                    </a:solidFill>
                  </a:tcPr>
                </a:tc>
                <a:tc>
                  <a:txBody>
                    <a:bodyPr/>
                    <a:lstStyle/>
                    <a:p>
                      <a:pPr indent="0" marL="0">
                        <a:buNone/>
                      </a:pPr>
                      <a:r>
                        <a:rPr lang="en-US" sz="1200" b="1" dirty="0">
                          <a:solidFill>
                            <a:srgbClr val="FFFFFF"/>
                          </a:solidFill>
                        </a:rPr>
                        <a:t>Purpose</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4F46E5"/>
                    </a:solidFill>
                  </a:tcPr>
                </a:tc>
              </a:tr>
              <a:tr h="329184">
                <a:tc>
                  <a:txBody>
                    <a:bodyPr/>
                    <a:lstStyle/>
                    <a:p>
                      <a:pPr indent="0" marL="0">
                        <a:buNone/>
                      </a:pPr>
                      <a:r>
                        <a:rPr lang="en-US" sz="1200" dirty="0">
                          <a:solidFill>
                            <a:schemeClr val="tx1"/>
                          </a:solidFill>
                        </a:rPr>
                        <a:t>GET</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/api/tickets</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List and filter</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r h="329184">
                <a:tc>
                  <a:txBody>
                    <a:bodyPr/>
                    <a:lstStyle/>
                    <a:p>
                      <a:pPr indent="0" marL="0">
                        <a:buNone/>
                      </a:pPr>
                      <a:r>
                        <a:rPr lang="en-US" sz="1200" dirty="0">
                          <a:solidFill>
                            <a:schemeClr val="tx1"/>
                          </a:solidFill>
                        </a:rPr>
                        <a:t>GET</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/api/tickets/{id}</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Get one ticket</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r h="329184">
                <a:tc>
                  <a:txBody>
                    <a:bodyPr/>
                    <a:lstStyle/>
                    <a:p>
                      <a:pPr indent="0" marL="0">
                        <a:buNone/>
                      </a:pPr>
                      <a:r>
                        <a:rPr lang="en-US" sz="1200" dirty="0">
                          <a:solidFill>
                            <a:schemeClr val="tx1"/>
                          </a:solidFill>
                        </a:rPr>
                        <a:t>POST</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/api/tickets</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Create a ticket</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r h="329184">
                <a:tc>
                  <a:txBody>
                    <a:bodyPr/>
                    <a:lstStyle/>
                    <a:p>
                      <a:pPr indent="0" marL="0">
                        <a:buNone/>
                      </a:pPr>
                      <a:r>
                        <a:rPr lang="en-US" sz="1200" dirty="0">
                          <a:solidFill>
                            <a:schemeClr val="tx1"/>
                          </a:solidFill>
                        </a:rPr>
                        <a:t>PUT</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/api/tickets/{id}</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Update a ticket</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r h="329184">
                <a:tc>
                  <a:txBody>
                    <a:bodyPr/>
                    <a:lstStyle/>
                    <a:p>
                      <a:pPr indent="0" marL="0">
                        <a:buNone/>
                      </a:pPr>
                      <a:r>
                        <a:rPr lang="en-US" sz="1200" dirty="0">
                          <a:solidFill>
                            <a:schemeClr val="tx1"/>
                          </a:solidFill>
                        </a:rPr>
                        <a:t>DELETE</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/api/tickets/{id}</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Delete a ticket</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r h="329184">
                <a:tc>
                  <a:txBody>
                    <a:bodyPr/>
                    <a:lstStyle/>
                    <a:p>
                      <a:pPr indent="0" marL="0">
                        <a:buNone/>
                      </a:pPr>
                      <a:r>
                        <a:rPr lang="en-US" sz="1200" dirty="0">
                          <a:solidFill>
                            <a:schemeClr val="tx1"/>
                          </a:solidFill>
                        </a:rPr>
                        <a:t>GET</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/api/tickets/stats</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Dashboard counts</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r h="329184">
                <a:tc>
                  <a:txBody>
                    <a:bodyPr/>
                    <a:lstStyle/>
                    <a:p>
                      <a:pPr indent="0" marL="0">
                        <a:buNone/>
                      </a:pPr>
                      <a:r>
                        <a:rPr lang="en-US" sz="1200" dirty="0">
                          <a:solidFill>
                            <a:schemeClr val="tx1"/>
                          </a:solidFill>
                        </a:rPr>
                        <a:t>GET</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/health /ready /metrics</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200" dirty="0">
                          <a:solidFill>
                            <a:schemeClr val="tx1"/>
                          </a:solidFill>
                        </a:rPr>
                        <a:t>Probes and metrics</a:t>
                      </a:r>
                      <a:endParaRPr lang="en-US" sz="1200" dirty="0"/>
                    </a:p>
                  </a:txBody>
                  <a:tcPr marL="73152" marR="73152"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bl>
          </a:graphicData>
        </a:graphic>
      </p:graphicFrame>
      <p:sp>
        <p:nvSpPr>
          <p:cNvPr id="6" name="Text 2"/>
          <p:cNvSpPr txBox="1"/>
          <p:nvPr/>
        </p:nvSpPr>
        <p:spPr>
          <a:xfrm>
            <a:off x="457200" y="3977640"/>
            <a:ext cx="4206240" cy="548640"/>
          </a:xfrm>
          <a:prstGeom prst="rect">
            <a:avLst/>
          </a:prstGeom>
          <a:noFill/>
          <a:ln/>
        </p:spPr>
        <p:txBody>
          <a:bodyPr wrap="square" lIns="0" tIns="0" rIns="0" bIns="0" rtlCol="0" anchor="t"/>
          <a:lstStyle/>
          <a:p>
            <a:pPr indent="0" marL="0">
              <a:buNone/>
            </a:pPr>
            <a:r>
              <a:rPr lang="en-US" sz="1400" dirty="0">
                <a:solidFill>
                  <a:schemeClr val="tx2"/>
                </a:solidFill>
              </a:rPr>
              <a:t>An Alembic migration creates the tickets table automatically on startup.</a:t>
            </a:r>
            <a:endParaRPr lang="en-US" sz="1400" dirty="0"/>
          </a:p>
        </p:txBody>
      </p:sp>
      <p:sp>
        <p:nvSpPr>
          <p:cNvPr id="7" name="frame 01-swagger"/>
          <p:cNvSpPr/>
          <p:nvPr/>
        </p:nvSpPr>
        <p:spPr>
          <a:xfrm>
            <a:off x="4846320" y="1188720"/>
            <a:ext cx="3840480" cy="2184441"/>
          </a:xfrm>
          <a:prstGeom prst="roundRect">
            <a:avLst>
              <a:gd name="adj" fmla="val 2512"/>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8" name="01-swagger" descr="Interactive Swagger documentation">    </p:cNvPr>
          <p:cNvPicPr>
            <a:picLocks noChangeAspect="1"/>
          </p:cNvPicPr>
          <p:nvPr/>
        </p:nvPicPr>
        <p:blipFill>
          <a:blip r:embed="rId1"/>
          <a:stretch>
            <a:fillRect/>
          </a:stretch>
        </p:blipFill>
        <p:spPr>
          <a:xfrm>
            <a:off x="4901184" y="1243584"/>
            <a:ext cx="3730752" cy="2074713"/>
          </a:xfrm>
          <a:prstGeom prst="rect">
            <a:avLst/>
          </a:prstGeom>
        </p:spPr>
      </p:pic>
      <p:sp>
        <p:nvSpPr>
          <p:cNvPr id="9" name="Text 4"/>
          <p:cNvSpPr txBox="1"/>
          <p:nvPr/>
        </p:nvSpPr>
        <p:spPr>
          <a:xfrm>
            <a:off x="4846320" y="3400593"/>
            <a:ext cx="3840480" cy="228600"/>
          </a:xfrm>
          <a:prstGeom prst="rect">
            <a:avLst/>
          </a:prstGeom>
          <a:noFill/>
          <a:ln/>
        </p:spPr>
        <p:txBody>
          <a:bodyPr wrap="square" lIns="0" tIns="0" rIns="0" bIns="0" rtlCol="0" anchor="ctr"/>
          <a:lstStyle/>
          <a:p>
            <a:pPr algn="ctr" indent="0" marL="0">
              <a:buNone/>
            </a:pPr>
            <a:r>
              <a:rPr lang="en-US" sz="1100" dirty="0">
                <a:solidFill>
                  <a:schemeClr val="tx2"/>
                </a:solidFill>
              </a:rPr>
              <a:t>Interactive Swagger documentation</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APPLICATION AND QUALITY</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Automated testing</a:t>
            </a:r>
            <a:endParaRPr lang="en-US" sz="3200" dirty="0"/>
          </a:p>
        </p:txBody>
      </p:sp>
      <p:sp>
        <p:nvSpPr>
          <p:cNvPr id="5" name="Shape 2"/>
          <p:cNvSpPr/>
          <p:nvPr/>
        </p:nvSpPr>
        <p:spPr>
          <a:xfrm>
            <a:off x="457200" y="1188720"/>
            <a:ext cx="2651760" cy="1005840"/>
          </a:xfrm>
          <a:prstGeom prst="roundRect">
            <a:avLst>
              <a:gd name="adj" fmla="val 7273"/>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6" name="Text 3"/>
          <p:cNvSpPr txBox="1"/>
          <p:nvPr/>
        </p:nvSpPr>
        <p:spPr>
          <a:xfrm>
            <a:off x="594360" y="1234440"/>
            <a:ext cx="822960" cy="914400"/>
          </a:xfrm>
          <a:prstGeom prst="rect">
            <a:avLst/>
          </a:prstGeom>
          <a:noFill/>
          <a:ln/>
        </p:spPr>
        <p:txBody>
          <a:bodyPr wrap="square" lIns="0" tIns="0" rIns="0" bIns="0" rtlCol="0" anchor="ctr"/>
          <a:lstStyle/>
          <a:p>
            <a:pPr indent="0" marL="0">
              <a:buNone/>
            </a:pPr>
            <a:r>
              <a:rPr lang="en-US" sz="4400" b="1" dirty="0">
                <a:solidFill>
                  <a:schemeClr val="accent2"/>
                </a:solidFill>
              </a:rPr>
              <a:t>11</a:t>
            </a:r>
            <a:endParaRPr lang="en-US" sz="4400" dirty="0"/>
          </a:p>
        </p:txBody>
      </p:sp>
      <p:sp>
        <p:nvSpPr>
          <p:cNvPr id="7" name="Text 4"/>
          <p:cNvSpPr txBox="1"/>
          <p:nvPr/>
        </p:nvSpPr>
        <p:spPr>
          <a:xfrm>
            <a:off x="1417320" y="1234440"/>
            <a:ext cx="1600200" cy="914400"/>
          </a:xfrm>
          <a:prstGeom prst="rect">
            <a:avLst/>
          </a:prstGeom>
          <a:noFill/>
          <a:ln/>
        </p:spPr>
        <p:txBody>
          <a:bodyPr wrap="square" lIns="0" tIns="0" rIns="0" bIns="0" rtlCol="0" anchor="ctr"/>
          <a:lstStyle/>
          <a:p>
            <a:pPr indent="0" marL="0">
              <a:buNone/>
            </a:pPr>
            <a:r>
              <a:rPr lang="en-US" sz="1300" dirty="0">
                <a:solidFill>
                  <a:schemeClr val="tx2"/>
                </a:solidFill>
              </a:rPr>
              <a:t>tests, all passing</a:t>
            </a:r>
            <a:endParaRPr lang="en-US" sz="1300" dirty="0"/>
          </a:p>
        </p:txBody>
      </p:sp>
      <p:sp>
        <p:nvSpPr>
          <p:cNvPr id="8" name="Shape 5"/>
          <p:cNvSpPr/>
          <p:nvPr/>
        </p:nvSpPr>
        <p:spPr>
          <a:xfrm>
            <a:off x="3246120" y="1188720"/>
            <a:ext cx="2651760" cy="1005840"/>
          </a:xfrm>
          <a:prstGeom prst="roundRect">
            <a:avLst>
              <a:gd name="adj" fmla="val 7273"/>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9" name="Text 6"/>
          <p:cNvSpPr txBox="1"/>
          <p:nvPr/>
        </p:nvSpPr>
        <p:spPr>
          <a:xfrm>
            <a:off x="3383280" y="1234440"/>
            <a:ext cx="822960" cy="914400"/>
          </a:xfrm>
          <a:prstGeom prst="rect">
            <a:avLst/>
          </a:prstGeom>
          <a:noFill/>
          <a:ln/>
        </p:spPr>
        <p:txBody>
          <a:bodyPr wrap="square" lIns="0" tIns="0" rIns="0" bIns="0" rtlCol="0" anchor="ctr"/>
          <a:lstStyle/>
          <a:p>
            <a:pPr indent="0" marL="0">
              <a:buNone/>
            </a:pPr>
            <a:r>
              <a:rPr lang="en-US" sz="4400" b="1" dirty="0">
                <a:solidFill>
                  <a:schemeClr val="accent2"/>
                </a:solidFill>
              </a:rPr>
              <a:t>3</a:t>
            </a:r>
            <a:endParaRPr lang="en-US" sz="4400" dirty="0"/>
          </a:p>
        </p:txBody>
      </p:sp>
      <p:sp>
        <p:nvSpPr>
          <p:cNvPr id="10" name="Text 7"/>
          <p:cNvSpPr txBox="1"/>
          <p:nvPr/>
        </p:nvSpPr>
        <p:spPr>
          <a:xfrm>
            <a:off x="4206240" y="1234440"/>
            <a:ext cx="1600200" cy="914400"/>
          </a:xfrm>
          <a:prstGeom prst="rect">
            <a:avLst/>
          </a:prstGeom>
          <a:noFill/>
          <a:ln/>
        </p:spPr>
        <p:txBody>
          <a:bodyPr wrap="square" lIns="0" tIns="0" rIns="0" bIns="0" rtlCol="0" anchor="ctr"/>
          <a:lstStyle/>
          <a:p>
            <a:pPr indent="0" marL="0">
              <a:buNone/>
            </a:pPr>
            <a:r>
              <a:rPr lang="en-US" sz="1300" dirty="0">
                <a:solidFill>
                  <a:schemeClr val="tx2"/>
                </a:solidFill>
              </a:rPr>
              <a:t>areas: health, metrics, ticket CRUD</a:t>
            </a:r>
            <a:endParaRPr lang="en-US" sz="1300" dirty="0"/>
          </a:p>
        </p:txBody>
      </p:sp>
      <p:sp>
        <p:nvSpPr>
          <p:cNvPr id="11" name="Shape 8"/>
          <p:cNvSpPr/>
          <p:nvPr/>
        </p:nvSpPr>
        <p:spPr>
          <a:xfrm>
            <a:off x="6035040" y="1188720"/>
            <a:ext cx="2651760" cy="1005840"/>
          </a:xfrm>
          <a:prstGeom prst="roundRect">
            <a:avLst>
              <a:gd name="adj" fmla="val 7273"/>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2" name="Text 9"/>
          <p:cNvSpPr txBox="1"/>
          <p:nvPr/>
        </p:nvSpPr>
        <p:spPr>
          <a:xfrm>
            <a:off x="6172200" y="1234440"/>
            <a:ext cx="822960" cy="914400"/>
          </a:xfrm>
          <a:prstGeom prst="rect">
            <a:avLst/>
          </a:prstGeom>
          <a:noFill/>
          <a:ln/>
        </p:spPr>
        <p:txBody>
          <a:bodyPr wrap="square" lIns="0" tIns="0" rIns="0" bIns="0" rtlCol="0" anchor="ctr"/>
          <a:lstStyle/>
          <a:p>
            <a:pPr indent="0" marL="0">
              <a:buNone/>
            </a:pPr>
            <a:r>
              <a:rPr lang="en-US" sz="4400" b="1" dirty="0">
                <a:solidFill>
                  <a:schemeClr val="accent2"/>
                </a:solidFill>
              </a:rPr>
              <a:t>0</a:t>
            </a:r>
            <a:endParaRPr lang="en-US" sz="4400" dirty="0"/>
          </a:p>
        </p:txBody>
      </p:sp>
      <p:sp>
        <p:nvSpPr>
          <p:cNvPr id="13" name="Text 10"/>
          <p:cNvSpPr txBox="1"/>
          <p:nvPr/>
        </p:nvSpPr>
        <p:spPr>
          <a:xfrm>
            <a:off x="6995160" y="1234440"/>
            <a:ext cx="1600200" cy="914400"/>
          </a:xfrm>
          <a:prstGeom prst="rect">
            <a:avLst/>
          </a:prstGeom>
          <a:noFill/>
          <a:ln/>
        </p:spPr>
        <p:txBody>
          <a:bodyPr wrap="square" lIns="0" tIns="0" rIns="0" bIns="0" rtlCol="0" anchor="ctr"/>
          <a:lstStyle/>
          <a:p>
            <a:pPr indent="0" marL="0">
              <a:buNone/>
            </a:pPr>
            <a:r>
              <a:rPr lang="en-US" sz="1300" dirty="0">
                <a:solidFill>
                  <a:schemeClr val="tx2"/>
                </a:solidFill>
              </a:rPr>
              <a:t>real databases touched (in-memory SQLite)</a:t>
            </a:r>
            <a:endParaRPr lang="en-US" sz="1300" dirty="0"/>
          </a:p>
        </p:txBody>
      </p:sp>
      <p:sp>
        <p:nvSpPr>
          <p:cNvPr id="14" name="frame 02-pytest"/>
          <p:cNvSpPr/>
          <p:nvPr/>
        </p:nvSpPr>
        <p:spPr>
          <a:xfrm>
            <a:off x="1454959" y="2377440"/>
            <a:ext cx="6234081" cy="2011680"/>
          </a:xfrm>
          <a:prstGeom prst="roundRect">
            <a:avLst>
              <a:gd name="adj" fmla="val 2727"/>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5" name="02-pytest" descr="pytest -v: every test passes before any image is built">    </p:cNvPr>
          <p:cNvPicPr>
            <a:picLocks noChangeAspect="1"/>
          </p:cNvPicPr>
          <p:nvPr/>
        </p:nvPicPr>
        <p:blipFill>
          <a:blip r:embed="rId1"/>
          <a:stretch>
            <a:fillRect/>
          </a:stretch>
        </p:blipFill>
        <p:spPr>
          <a:xfrm>
            <a:off x="1509823" y="2432304"/>
            <a:ext cx="6124353" cy="1901952"/>
          </a:xfrm>
          <a:prstGeom prst="rect">
            <a:avLst/>
          </a:prstGeom>
        </p:spPr>
      </p:pic>
      <p:sp>
        <p:nvSpPr>
          <p:cNvPr id="16" name="Text 12"/>
          <p:cNvSpPr txBox="1"/>
          <p:nvPr/>
        </p:nvSpPr>
        <p:spPr>
          <a:xfrm>
            <a:off x="457200" y="4416552"/>
            <a:ext cx="8229600" cy="228600"/>
          </a:xfrm>
          <a:prstGeom prst="rect">
            <a:avLst/>
          </a:prstGeom>
          <a:noFill/>
          <a:ln/>
        </p:spPr>
        <p:txBody>
          <a:bodyPr wrap="square" lIns="0" tIns="0" rIns="0" bIns="0" rtlCol="0" anchor="ctr"/>
          <a:lstStyle/>
          <a:p>
            <a:pPr algn="ctr" indent="0" marL="0">
              <a:buNone/>
            </a:pPr>
            <a:r>
              <a:rPr lang="en-US" sz="1100" dirty="0">
                <a:solidFill>
                  <a:schemeClr val="tx2"/>
                </a:solidFill>
              </a:rPr>
              <a:t>pytest -v: every test passes before any image is built</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APPLICATION AND QUALITY</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Git and GitHub</a:t>
            </a:r>
            <a:endParaRPr lang="en-US" sz="3200" dirty="0"/>
          </a:p>
        </p:txBody>
      </p:sp>
      <p:sp>
        <p:nvSpPr>
          <p:cNvPr id="5" name="Text 2"/>
          <p:cNvSpPr txBox="1"/>
          <p:nvPr/>
        </p:nvSpPr>
        <p:spPr>
          <a:xfrm>
            <a:off x="457200" y="1188720"/>
            <a:ext cx="3657600" cy="3200400"/>
          </a:xfrm>
          <a:prstGeom prst="rect">
            <a:avLst/>
          </a:prstGeom>
          <a:noFill/>
          <a:ln/>
        </p:spPr>
        <p:txBody>
          <a:bodyPr wrap="square" lIns="0" tIns="0" rIns="0" bIns="0" rtlCol="0" anchor="t"/>
          <a:lstStyle/>
          <a:p>
            <a:pPr marL="342900" indent="-342900">
              <a:spcAft>
                <a:spcPts val="900"/>
              </a:spcAft>
              <a:buSzPct val="100000"/>
              <a:buChar char="•"/>
            </a:pPr>
            <a:r>
              <a:rPr lang="en-US" sz="1600" b="1" dirty="0">
                <a:solidFill>
                  <a:schemeClr val="tx1"/>
                </a:solidFill>
              </a:rPr>
              <a:t>Public repo, </a:t>
            </a:r>
            <a:pPr indent="0" marL="0">
              <a:buNone/>
            </a:pPr>
            <a:r>
              <a:rPr lang="en-US" sz="1600" dirty="0">
                <a:solidFill>
                  <a:schemeClr val="tx1"/>
                </a:solidFill>
              </a:rPr>
              <a:t>main branch</a:t>
            </a:r>
            <a:endParaRPr lang="en-US" sz="1600" dirty="0"/>
          </a:p>
          <a:p>
            <a:pPr marL="342900" indent="-342900">
              <a:spcAft>
                <a:spcPts val="900"/>
              </a:spcAft>
              <a:buSzPct val="100000"/>
              <a:buChar char="•"/>
            </a:pPr>
            <a:r>
              <a:rPr lang="en-US" sz="1600" b="1" dirty="0">
                <a:solidFill>
                  <a:schemeClr val="tx1"/>
                </a:solidFill>
              </a:rPr>
              <a:t>20+ commits </a:t>
            </a:r>
            <a:pPr indent="0" marL="0">
              <a:buNone/>
            </a:pPr>
            <a:r>
              <a:rPr lang="en-US" sz="1600" dirty="0">
                <a:solidFill>
                  <a:schemeClr val="tx1"/>
                </a:solidFill>
              </a:rPr>
              <a:t>with clear messages: feat, fix, ci, docs, build, test</a:t>
            </a:r>
            <a:endParaRPr lang="en-US" sz="1600" dirty="0"/>
          </a:p>
          <a:p>
            <a:pPr marL="342900" indent="-342900">
              <a:spcAft>
                <a:spcPts val="900"/>
              </a:spcAft>
              <a:buSzPct val="100000"/>
              <a:buChar char="•"/>
            </a:pPr>
            <a:r>
              <a:rPr lang="en-US" sz="1600" b="1" dirty="0">
                <a:solidFill>
                  <a:schemeClr val="tx1"/>
                </a:solidFill>
              </a:rPr>
              <a:t>.gitignore </a:t>
            </a:r>
            <a:pPr indent="0" marL="0">
              <a:buNone/>
            </a:pPr>
            <a:r>
              <a:rPr lang="en-US" sz="1600" dirty="0">
                <a:solidFill>
                  <a:schemeClr val="tx1"/>
                </a:solidFill>
              </a:rPr>
              <a:t>keeps secrets, state and build files out</a:t>
            </a:r>
            <a:endParaRPr lang="en-US" sz="1600" dirty="0"/>
          </a:p>
          <a:p>
            <a:pPr marL="342900" indent="-342900">
              <a:spcAft>
                <a:spcPts val="900"/>
              </a:spcAft>
              <a:buSzPct val="100000"/>
              <a:buChar char="•"/>
            </a:pPr>
            <a:r>
              <a:rPr lang="en-US" sz="1600" b="1" dirty="0">
                <a:solidFill>
                  <a:schemeClr val="tx1"/>
                </a:solidFill>
              </a:rPr>
              <a:t>No credentials </a:t>
            </a:r>
            <a:pPr indent="0" marL="0">
              <a:buNone/>
            </a:pPr>
            <a:r>
              <a:rPr lang="en-US" sz="1600" dirty="0">
                <a:solidFill>
                  <a:schemeClr val="tx1"/>
                </a:solidFill>
              </a:rPr>
              <a:t>anywhere in the history</a:t>
            </a:r>
            <a:endParaRPr lang="en-US" sz="1600" dirty="0"/>
          </a:p>
        </p:txBody>
      </p:sp>
      <p:sp>
        <p:nvSpPr>
          <p:cNvPr id="6" name="frame 03-commits"/>
          <p:cNvSpPr/>
          <p:nvPr/>
        </p:nvSpPr>
        <p:spPr>
          <a:xfrm>
            <a:off x="4297680" y="1143000"/>
            <a:ext cx="4389120" cy="3093415"/>
          </a:xfrm>
          <a:prstGeom prst="roundRect">
            <a:avLst>
              <a:gd name="adj" fmla="val 1774"/>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7" name="03-commits" descr="Commit history on GitHub">    </p:cNvPr>
          <p:cNvPicPr>
            <a:picLocks noChangeAspect="1"/>
          </p:cNvPicPr>
          <p:nvPr/>
        </p:nvPicPr>
        <p:blipFill>
          <a:blip r:embed="rId1"/>
          <a:stretch>
            <a:fillRect/>
          </a:stretch>
        </p:blipFill>
        <p:spPr>
          <a:xfrm>
            <a:off x="4352544" y="1197864"/>
            <a:ext cx="4279392" cy="2983687"/>
          </a:xfrm>
          <a:prstGeom prst="rect">
            <a:avLst/>
          </a:prstGeom>
        </p:spPr>
      </p:pic>
      <p:sp>
        <p:nvSpPr>
          <p:cNvPr id="8" name="Text 4"/>
          <p:cNvSpPr txBox="1"/>
          <p:nvPr/>
        </p:nvSpPr>
        <p:spPr>
          <a:xfrm>
            <a:off x="4297680" y="4263847"/>
            <a:ext cx="4389120" cy="228600"/>
          </a:xfrm>
          <a:prstGeom prst="rect">
            <a:avLst/>
          </a:prstGeom>
          <a:noFill/>
          <a:ln/>
        </p:spPr>
        <p:txBody>
          <a:bodyPr wrap="square" lIns="0" tIns="0" rIns="0" bIns="0" rtlCol="0" anchor="ctr"/>
          <a:lstStyle/>
          <a:p>
            <a:pPr algn="ctr" indent="0" marL="0">
              <a:buNone/>
            </a:pPr>
            <a:r>
              <a:rPr lang="en-US" sz="1100" dirty="0">
                <a:solidFill>
                  <a:schemeClr val="tx2"/>
                </a:solidFill>
              </a:rPr>
              <a:t>Commit history on GitHub</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APPLICATION AND QUALITY</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Docker containers</a:t>
            </a:r>
            <a:endParaRPr lang="en-US" sz="3200" dirty="0"/>
          </a:p>
        </p:txBody>
      </p:sp>
      <p:sp>
        <p:nvSpPr>
          <p:cNvPr id="5" name="card Backend image"/>
          <p:cNvSpPr/>
          <p:nvPr/>
        </p:nvSpPr>
        <p:spPr>
          <a:xfrm>
            <a:off x="457200" y="1188720"/>
            <a:ext cx="3749040" cy="1371600"/>
          </a:xfrm>
          <a:prstGeom prst="roundRect">
            <a:avLst>
              <a:gd name="adj" fmla="val 5333"/>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6" name="Shape 3"/>
          <p:cNvSpPr/>
          <p:nvPr/>
        </p:nvSpPr>
        <p:spPr>
          <a:xfrm>
            <a:off x="621792" y="1353312"/>
            <a:ext cx="457200" cy="457200"/>
          </a:xfrm>
          <a:prstGeom prst="ellipse">
            <a:avLst/>
          </a:prstGeom>
          <a:solidFill>
            <a:schemeClr val="accent1"/>
          </a:solidFill>
          <a:ln/>
        </p:spPr>
      </p:sp>
      <p:pic>
        <p:nvPicPr>
          <p:cNvPr id="7" name="Image 0" descr="FaPython">    </p:cNvPr>
          <p:cNvPicPr>
            <a:picLocks noChangeAspect="1"/>
          </p:cNvPicPr>
          <p:nvPr/>
        </p:nvPicPr>
        <p:blipFill>
          <a:blip r:embed="rId1"/>
          <a:stretch>
            <a:fillRect/>
          </a:stretch>
        </p:blipFill>
        <p:spPr>
          <a:xfrm>
            <a:off x="731520" y="1463040"/>
            <a:ext cx="237744" cy="237744"/>
          </a:xfrm>
          <a:prstGeom prst="rect">
            <a:avLst/>
          </a:prstGeom>
        </p:spPr>
      </p:pic>
      <p:sp>
        <p:nvSpPr>
          <p:cNvPr id="8" name="Text 4"/>
          <p:cNvSpPr txBox="1"/>
          <p:nvPr/>
        </p:nvSpPr>
        <p:spPr>
          <a:xfrm>
            <a:off x="1207008" y="1353312"/>
            <a:ext cx="2834640" cy="457200"/>
          </a:xfrm>
          <a:prstGeom prst="rect">
            <a:avLst/>
          </a:prstGeom>
          <a:noFill/>
          <a:ln/>
        </p:spPr>
        <p:txBody>
          <a:bodyPr wrap="square" lIns="0" tIns="0" rIns="0" bIns="0" rtlCol="0" anchor="ctr"/>
          <a:lstStyle/>
          <a:p>
            <a:pPr indent="0" marL="0">
              <a:buNone/>
            </a:pPr>
            <a:r>
              <a:rPr lang="en-US" sz="1600" b="1" dirty="0">
                <a:solidFill>
                  <a:schemeClr val="tx1"/>
                </a:solidFill>
              </a:rPr>
              <a:t>Backend image</a:t>
            </a:r>
            <a:endParaRPr lang="en-US" sz="1600" dirty="0"/>
          </a:p>
        </p:txBody>
      </p:sp>
      <p:sp>
        <p:nvSpPr>
          <p:cNvPr id="9" name="Text 5"/>
          <p:cNvSpPr txBox="1"/>
          <p:nvPr/>
        </p:nvSpPr>
        <p:spPr>
          <a:xfrm>
            <a:off x="621792" y="1938528"/>
            <a:ext cx="3419856" cy="530352"/>
          </a:xfrm>
          <a:prstGeom prst="rect">
            <a:avLst/>
          </a:prstGeom>
          <a:noFill/>
          <a:ln/>
        </p:spPr>
        <p:txBody>
          <a:bodyPr wrap="square" lIns="0" tIns="0" rIns="0" bIns="0" rtlCol="0" anchor="t"/>
          <a:lstStyle/>
          <a:p>
            <a:pPr indent="0" marL="0">
              <a:buNone/>
            </a:pPr>
            <a:r>
              <a:rPr lang="en-US" sz="1300" dirty="0">
                <a:solidFill>
                  <a:schemeClr val="tx2"/>
                </a:solidFill>
              </a:rPr>
              <a:t>Python 3.12 slim, runs as non-root (uid 10001), applies migrations then starts the API</a:t>
            </a:r>
            <a:endParaRPr lang="en-US" sz="1300" dirty="0"/>
          </a:p>
        </p:txBody>
      </p:sp>
      <p:sp>
        <p:nvSpPr>
          <p:cNvPr id="10" name="card Frontend image"/>
          <p:cNvSpPr/>
          <p:nvPr/>
        </p:nvSpPr>
        <p:spPr>
          <a:xfrm>
            <a:off x="457200" y="2697480"/>
            <a:ext cx="3749040" cy="1371600"/>
          </a:xfrm>
          <a:prstGeom prst="roundRect">
            <a:avLst>
              <a:gd name="adj" fmla="val 5333"/>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1" name="Shape 7"/>
          <p:cNvSpPr/>
          <p:nvPr/>
        </p:nvSpPr>
        <p:spPr>
          <a:xfrm>
            <a:off x="621792" y="2862072"/>
            <a:ext cx="457200" cy="457200"/>
          </a:xfrm>
          <a:prstGeom prst="ellipse">
            <a:avLst/>
          </a:prstGeom>
          <a:solidFill>
            <a:schemeClr val="accent2"/>
          </a:solidFill>
          <a:ln/>
        </p:spPr>
      </p:sp>
      <p:pic>
        <p:nvPicPr>
          <p:cNvPr id="12" name="Image 1" descr="FaLayerGroup">    </p:cNvPr>
          <p:cNvPicPr>
            <a:picLocks noChangeAspect="1"/>
          </p:cNvPicPr>
          <p:nvPr/>
        </p:nvPicPr>
        <p:blipFill>
          <a:blip r:embed="rId2"/>
          <a:stretch>
            <a:fillRect/>
          </a:stretch>
        </p:blipFill>
        <p:spPr>
          <a:xfrm>
            <a:off x="731520" y="2971800"/>
            <a:ext cx="237744" cy="237744"/>
          </a:xfrm>
          <a:prstGeom prst="rect">
            <a:avLst/>
          </a:prstGeom>
        </p:spPr>
      </p:pic>
      <p:sp>
        <p:nvSpPr>
          <p:cNvPr id="13" name="Text 8"/>
          <p:cNvSpPr txBox="1"/>
          <p:nvPr/>
        </p:nvSpPr>
        <p:spPr>
          <a:xfrm>
            <a:off x="1207008" y="2862072"/>
            <a:ext cx="2834640" cy="457200"/>
          </a:xfrm>
          <a:prstGeom prst="rect">
            <a:avLst/>
          </a:prstGeom>
          <a:noFill/>
          <a:ln/>
        </p:spPr>
        <p:txBody>
          <a:bodyPr wrap="square" lIns="0" tIns="0" rIns="0" bIns="0" rtlCol="0" anchor="ctr"/>
          <a:lstStyle/>
          <a:p>
            <a:pPr indent="0" marL="0">
              <a:buNone/>
            </a:pPr>
            <a:r>
              <a:rPr lang="en-US" sz="1600" b="1" dirty="0">
                <a:solidFill>
                  <a:schemeClr val="tx1"/>
                </a:solidFill>
              </a:rPr>
              <a:t>Frontend image</a:t>
            </a:r>
            <a:endParaRPr lang="en-US" sz="1600" dirty="0"/>
          </a:p>
        </p:txBody>
      </p:sp>
      <p:sp>
        <p:nvSpPr>
          <p:cNvPr id="14" name="Text 9"/>
          <p:cNvSpPr txBox="1"/>
          <p:nvPr/>
        </p:nvSpPr>
        <p:spPr>
          <a:xfrm>
            <a:off x="621792" y="3447288"/>
            <a:ext cx="3419856" cy="530352"/>
          </a:xfrm>
          <a:prstGeom prst="rect">
            <a:avLst/>
          </a:prstGeom>
          <a:noFill/>
          <a:ln/>
        </p:spPr>
        <p:txBody>
          <a:bodyPr wrap="square" lIns="0" tIns="0" rIns="0" bIns="0" rtlCol="0" anchor="t"/>
          <a:lstStyle/>
          <a:p>
            <a:pPr indent="0" marL="0">
              <a:buNone/>
            </a:pPr>
            <a:r>
              <a:rPr lang="en-US" sz="1300" dirty="0">
                <a:solidFill>
                  <a:schemeClr val="tx2"/>
                </a:solidFill>
              </a:rPr>
              <a:t>Multi-stage: Node builds the app, Nginx serves it as non-root (uid 101)</a:t>
            </a:r>
            <a:endParaRPr lang="en-US" sz="1300" dirty="0"/>
          </a:p>
        </p:txBody>
      </p:sp>
      <p:sp>
        <p:nvSpPr>
          <p:cNvPr id="15" name="Text 10"/>
          <p:cNvSpPr txBox="1"/>
          <p:nvPr/>
        </p:nvSpPr>
        <p:spPr>
          <a:xfrm>
            <a:off x="457200" y="4206240"/>
            <a:ext cx="3749040" cy="411480"/>
          </a:xfrm>
          <a:prstGeom prst="rect">
            <a:avLst/>
          </a:prstGeom>
          <a:noFill/>
          <a:ln/>
        </p:spPr>
        <p:txBody>
          <a:bodyPr wrap="square" lIns="0" tIns="0" rIns="0" bIns="0" rtlCol="0" anchor="ctr"/>
          <a:lstStyle/>
          <a:p>
            <a:pPr indent="0" marL="0">
              <a:buNone/>
            </a:pPr>
            <a:r>
              <a:rPr lang="en-US" sz="1400" b="1" dirty="0">
                <a:solidFill>
                  <a:schemeClr val="accent2"/>
                </a:solidFill>
              </a:rPr>
              <a:t>docker compose up --build starts all 3 services</a:t>
            </a:r>
            <a:endParaRPr lang="en-US" sz="1400" dirty="0"/>
          </a:p>
        </p:txBody>
      </p:sp>
      <p:sp>
        <p:nvSpPr>
          <p:cNvPr id="16" name="frame 04-compose-up"/>
          <p:cNvSpPr/>
          <p:nvPr/>
        </p:nvSpPr>
        <p:spPr>
          <a:xfrm>
            <a:off x="4389120" y="1188720"/>
            <a:ext cx="4297680" cy="2715565"/>
          </a:xfrm>
          <a:prstGeom prst="roundRect">
            <a:avLst>
              <a:gd name="adj" fmla="val 2020"/>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7" name="04-compose-up" descr="postgres healthy, backend and frontend up">    </p:cNvPr>
          <p:cNvPicPr>
            <a:picLocks noChangeAspect="1"/>
          </p:cNvPicPr>
          <p:nvPr/>
        </p:nvPicPr>
        <p:blipFill>
          <a:blip r:embed="rId3"/>
          <a:stretch>
            <a:fillRect/>
          </a:stretch>
        </p:blipFill>
        <p:spPr>
          <a:xfrm>
            <a:off x="4443984" y="1243584"/>
            <a:ext cx="4187952" cy="2605837"/>
          </a:xfrm>
          <a:prstGeom prst="rect">
            <a:avLst/>
          </a:prstGeom>
        </p:spPr>
      </p:pic>
      <p:sp>
        <p:nvSpPr>
          <p:cNvPr id="18" name="Text 12"/>
          <p:cNvSpPr txBox="1"/>
          <p:nvPr/>
        </p:nvSpPr>
        <p:spPr>
          <a:xfrm>
            <a:off x="4389120" y="3931717"/>
            <a:ext cx="4297680" cy="228600"/>
          </a:xfrm>
          <a:prstGeom prst="rect">
            <a:avLst/>
          </a:prstGeom>
          <a:noFill/>
          <a:ln/>
        </p:spPr>
        <p:txBody>
          <a:bodyPr wrap="square" lIns="0" tIns="0" rIns="0" bIns="0" rtlCol="0" anchor="ctr"/>
          <a:lstStyle/>
          <a:p>
            <a:pPr algn="ctr" indent="0" marL="0">
              <a:buNone/>
            </a:pPr>
            <a:r>
              <a:rPr lang="en-US" sz="1100" dirty="0">
                <a:solidFill>
                  <a:schemeClr val="tx2"/>
                </a:solidFill>
              </a:rPr>
              <a:t>postgres healthy, backend and frontend up</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DELIVERY AND SECURITY</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CI/CD pipeline</a:t>
            </a:r>
            <a:endParaRPr lang="en-US" sz="3200" dirty="0"/>
          </a:p>
        </p:txBody>
      </p:sp>
      <p:sp>
        <p:nvSpPr>
          <p:cNvPr id="5" name="Shape 2"/>
          <p:cNvSpPr/>
          <p:nvPr/>
        </p:nvSpPr>
        <p:spPr>
          <a:xfrm>
            <a:off x="457200" y="1188720"/>
            <a:ext cx="1783080" cy="502920"/>
          </a:xfrm>
          <a:prstGeom prst="roundRect">
            <a:avLst>
              <a:gd name="adj" fmla="val 50000"/>
            </a:avLst>
          </a:prstGeom>
          <a:solidFill>
            <a:schemeClr val="accent3"/>
          </a:solidFill>
          <a:ln/>
        </p:spPr>
      </p:sp>
      <p:sp>
        <p:nvSpPr>
          <p:cNvPr id="6" name="Text 3"/>
          <p:cNvSpPr txBox="1"/>
          <p:nvPr/>
        </p:nvSpPr>
        <p:spPr>
          <a:xfrm>
            <a:off x="457200" y="1188720"/>
            <a:ext cx="1783080" cy="502920"/>
          </a:xfrm>
          <a:prstGeom prst="rect">
            <a:avLst/>
          </a:prstGeom>
          <a:noFill/>
          <a:ln/>
        </p:spPr>
        <p:txBody>
          <a:bodyPr wrap="square" lIns="0" tIns="0" rIns="0" bIns="0" rtlCol="0" anchor="ctr"/>
          <a:lstStyle/>
          <a:p>
            <a:pPr algn="ctr" indent="0" marL="0">
              <a:buNone/>
            </a:pPr>
            <a:r>
              <a:rPr lang="en-US" sz="1500" b="1" dirty="0">
                <a:solidFill>
                  <a:schemeClr val="bg1"/>
                </a:solidFill>
              </a:rPr>
              <a:t>Test</a:t>
            </a:r>
            <a:endParaRPr lang="en-US" sz="1500" dirty="0"/>
          </a:p>
        </p:txBody>
      </p:sp>
      <p:sp>
        <p:nvSpPr>
          <p:cNvPr id="7" name="Shape 4"/>
          <p:cNvSpPr/>
          <p:nvPr/>
        </p:nvSpPr>
        <p:spPr>
          <a:xfrm>
            <a:off x="2258568" y="1440180"/>
            <a:ext cx="329184" cy="0"/>
          </a:xfrm>
          <a:prstGeom prst="line">
            <a:avLst/>
          </a:prstGeom>
          <a:noFill/>
          <a:ln w="25400">
            <a:solidFill>
              <a:srgbClr val="94A3B8"/>
            </a:solidFill>
            <a:prstDash val="solid"/>
            <a:tailEnd type="triangle"/>
          </a:ln>
        </p:spPr>
      </p:sp>
      <p:sp>
        <p:nvSpPr>
          <p:cNvPr id="8" name="Shape 5"/>
          <p:cNvSpPr/>
          <p:nvPr/>
        </p:nvSpPr>
        <p:spPr>
          <a:xfrm>
            <a:off x="2606040" y="1188720"/>
            <a:ext cx="1783080" cy="502920"/>
          </a:xfrm>
          <a:prstGeom prst="roundRect">
            <a:avLst>
              <a:gd name="adj" fmla="val 50000"/>
            </a:avLst>
          </a:prstGeom>
          <a:solidFill>
            <a:schemeClr val="accent2"/>
          </a:solidFill>
          <a:ln/>
        </p:spPr>
      </p:sp>
      <p:sp>
        <p:nvSpPr>
          <p:cNvPr id="9" name="Text 6"/>
          <p:cNvSpPr txBox="1"/>
          <p:nvPr/>
        </p:nvSpPr>
        <p:spPr>
          <a:xfrm>
            <a:off x="2606040" y="1188720"/>
            <a:ext cx="1783080" cy="502920"/>
          </a:xfrm>
          <a:prstGeom prst="rect">
            <a:avLst/>
          </a:prstGeom>
          <a:noFill/>
          <a:ln/>
        </p:spPr>
        <p:txBody>
          <a:bodyPr wrap="square" lIns="0" tIns="0" rIns="0" bIns="0" rtlCol="0" anchor="ctr"/>
          <a:lstStyle/>
          <a:p>
            <a:pPr algn="ctr" indent="0" marL="0">
              <a:buNone/>
            </a:pPr>
            <a:r>
              <a:rPr lang="en-US" sz="1500" b="1" dirty="0">
                <a:solidFill>
                  <a:schemeClr val="bg1"/>
                </a:solidFill>
              </a:rPr>
              <a:t>Build</a:t>
            </a:r>
            <a:endParaRPr lang="en-US" sz="1500" dirty="0"/>
          </a:p>
        </p:txBody>
      </p:sp>
      <p:sp>
        <p:nvSpPr>
          <p:cNvPr id="10" name="Shape 7"/>
          <p:cNvSpPr/>
          <p:nvPr/>
        </p:nvSpPr>
        <p:spPr>
          <a:xfrm>
            <a:off x="4407408" y="1440180"/>
            <a:ext cx="329184" cy="0"/>
          </a:xfrm>
          <a:prstGeom prst="line">
            <a:avLst/>
          </a:prstGeom>
          <a:noFill/>
          <a:ln w="25400">
            <a:solidFill>
              <a:srgbClr val="94A3B8"/>
            </a:solidFill>
            <a:prstDash val="solid"/>
            <a:tailEnd type="triangle"/>
          </a:ln>
        </p:spPr>
      </p:sp>
      <p:sp>
        <p:nvSpPr>
          <p:cNvPr id="11" name="Shape 8"/>
          <p:cNvSpPr/>
          <p:nvPr/>
        </p:nvSpPr>
        <p:spPr>
          <a:xfrm>
            <a:off x="4754880" y="1188720"/>
            <a:ext cx="1783080" cy="502920"/>
          </a:xfrm>
          <a:prstGeom prst="roundRect">
            <a:avLst>
              <a:gd name="adj" fmla="val 50000"/>
            </a:avLst>
          </a:prstGeom>
          <a:solidFill>
            <a:schemeClr val="accent5"/>
          </a:solidFill>
          <a:ln/>
        </p:spPr>
      </p:sp>
      <p:sp>
        <p:nvSpPr>
          <p:cNvPr id="12" name="Text 9"/>
          <p:cNvSpPr txBox="1"/>
          <p:nvPr/>
        </p:nvSpPr>
        <p:spPr>
          <a:xfrm>
            <a:off x="4754880" y="1188720"/>
            <a:ext cx="1783080" cy="502920"/>
          </a:xfrm>
          <a:prstGeom prst="rect">
            <a:avLst/>
          </a:prstGeom>
          <a:noFill/>
          <a:ln/>
        </p:spPr>
        <p:txBody>
          <a:bodyPr wrap="square" lIns="0" tIns="0" rIns="0" bIns="0" rtlCol="0" anchor="ctr"/>
          <a:lstStyle/>
          <a:p>
            <a:pPr algn="ctr" indent="0" marL="0">
              <a:buNone/>
            </a:pPr>
            <a:r>
              <a:rPr lang="en-US" sz="1500" b="1" dirty="0">
                <a:solidFill>
                  <a:schemeClr val="bg1"/>
                </a:solidFill>
              </a:rPr>
              <a:t>Trivy scan</a:t>
            </a:r>
            <a:endParaRPr lang="en-US" sz="1500" dirty="0"/>
          </a:p>
        </p:txBody>
      </p:sp>
      <p:sp>
        <p:nvSpPr>
          <p:cNvPr id="13" name="Shape 10"/>
          <p:cNvSpPr/>
          <p:nvPr/>
        </p:nvSpPr>
        <p:spPr>
          <a:xfrm>
            <a:off x="6556248" y="1440180"/>
            <a:ext cx="329184" cy="0"/>
          </a:xfrm>
          <a:prstGeom prst="line">
            <a:avLst/>
          </a:prstGeom>
          <a:noFill/>
          <a:ln w="25400">
            <a:solidFill>
              <a:srgbClr val="94A3B8"/>
            </a:solidFill>
            <a:prstDash val="solid"/>
            <a:tailEnd type="triangle"/>
          </a:ln>
        </p:spPr>
      </p:sp>
      <p:sp>
        <p:nvSpPr>
          <p:cNvPr id="14" name="Shape 11"/>
          <p:cNvSpPr/>
          <p:nvPr/>
        </p:nvSpPr>
        <p:spPr>
          <a:xfrm>
            <a:off x="6903720" y="1188720"/>
            <a:ext cx="1783080" cy="502920"/>
          </a:xfrm>
          <a:prstGeom prst="roundRect">
            <a:avLst>
              <a:gd name="adj" fmla="val 50000"/>
            </a:avLst>
          </a:prstGeom>
          <a:solidFill>
            <a:schemeClr val="accent4"/>
          </a:solidFill>
          <a:ln/>
        </p:spPr>
      </p:sp>
      <p:sp>
        <p:nvSpPr>
          <p:cNvPr id="15" name="Text 12"/>
          <p:cNvSpPr txBox="1"/>
          <p:nvPr/>
        </p:nvSpPr>
        <p:spPr>
          <a:xfrm>
            <a:off x="6903720" y="1188720"/>
            <a:ext cx="1783080" cy="502920"/>
          </a:xfrm>
          <a:prstGeom prst="rect">
            <a:avLst/>
          </a:prstGeom>
          <a:noFill/>
          <a:ln/>
        </p:spPr>
        <p:txBody>
          <a:bodyPr wrap="square" lIns="0" tIns="0" rIns="0" bIns="0" rtlCol="0" anchor="ctr"/>
          <a:lstStyle/>
          <a:p>
            <a:pPr algn="ctr" indent="0" marL="0">
              <a:buNone/>
            </a:pPr>
            <a:r>
              <a:rPr lang="en-US" sz="1500" b="1" dirty="0">
                <a:solidFill>
                  <a:schemeClr val="bg1"/>
                </a:solidFill>
              </a:rPr>
              <a:t>Push to GHCR</a:t>
            </a:r>
            <a:endParaRPr lang="en-US" sz="1500" dirty="0"/>
          </a:p>
        </p:txBody>
      </p:sp>
      <p:sp>
        <p:nvSpPr>
          <p:cNvPr id="16" name="Text 13"/>
          <p:cNvSpPr txBox="1"/>
          <p:nvPr/>
        </p:nvSpPr>
        <p:spPr>
          <a:xfrm>
            <a:off x="457200" y="2011680"/>
            <a:ext cx="3840480" cy="2560320"/>
          </a:xfrm>
          <a:prstGeom prst="rect">
            <a:avLst/>
          </a:prstGeom>
          <a:noFill/>
          <a:ln/>
        </p:spPr>
        <p:txBody>
          <a:bodyPr wrap="square" lIns="0" tIns="0" rIns="0" bIns="0" rtlCol="0" anchor="t"/>
          <a:lstStyle/>
          <a:p>
            <a:pPr marL="342900" indent="-342900">
              <a:spcAft>
                <a:spcPts val="900"/>
              </a:spcAft>
              <a:buSzPct val="100000"/>
              <a:buChar char="•"/>
            </a:pPr>
            <a:r>
              <a:rPr lang="en-US" sz="1500" b="1" dirty="0">
                <a:solidFill>
                  <a:schemeClr val="tx1"/>
                </a:solidFill>
              </a:rPr>
              <a:t>Runs on every push </a:t>
            </a:r>
            <a:pPr indent="0" marL="0">
              <a:buNone/>
            </a:pPr>
            <a:r>
              <a:rPr lang="en-US" sz="1500" dirty="0">
                <a:solidFill>
                  <a:schemeClr val="tx1"/>
                </a:solidFill>
              </a:rPr>
              <a:t>to main</a:t>
            </a:r>
            <a:endParaRPr lang="en-US" sz="1500" dirty="0"/>
          </a:p>
          <a:p>
            <a:pPr marL="342900" indent="-342900">
              <a:spcAft>
                <a:spcPts val="900"/>
              </a:spcAft>
              <a:buSzPct val="100000"/>
              <a:buChar char="•"/>
            </a:pPr>
            <a:r>
              <a:rPr lang="en-US" sz="1500" b="1" dirty="0">
                <a:solidFill>
                  <a:schemeClr val="tx1"/>
                </a:solidFill>
              </a:rPr>
              <a:t>Stops the pipeline </a:t>
            </a:r>
            <a:pPr indent="0" marL="0">
              <a:buNone/>
            </a:pPr>
            <a:r>
              <a:rPr lang="en-US" sz="1500" dirty="0">
                <a:solidFill>
                  <a:schemeClr val="tx1"/>
                </a:solidFill>
              </a:rPr>
              <a:t>on a failing test or a HIGH/CRITICAL CVE</a:t>
            </a:r>
            <a:endParaRPr lang="en-US" sz="1500" dirty="0"/>
          </a:p>
          <a:p>
            <a:pPr marL="342900" indent="-342900">
              <a:spcAft>
                <a:spcPts val="900"/>
              </a:spcAft>
              <a:buSzPct val="100000"/>
              <a:buChar char="•"/>
            </a:pPr>
            <a:r>
              <a:rPr lang="en-US" sz="1500" b="1" dirty="0">
                <a:solidFill>
                  <a:schemeClr val="tx1"/>
                </a:solidFill>
              </a:rPr>
              <a:t>Scans before pushing, </a:t>
            </a:r>
            <a:pPr indent="0" marL="0">
              <a:buNone/>
            </a:pPr>
            <a:r>
              <a:rPr lang="en-US" sz="1500" dirty="0">
                <a:solidFill>
                  <a:schemeClr val="tx1"/>
                </a:solidFill>
              </a:rPr>
              <a:t>so a bad image never reaches the registry</a:t>
            </a:r>
            <a:endParaRPr lang="en-US" sz="1500" dirty="0"/>
          </a:p>
        </p:txBody>
      </p:sp>
      <p:sp>
        <p:nvSpPr>
          <p:cNvPr id="17" name="frame 05-actions-green"/>
          <p:cNvSpPr/>
          <p:nvPr/>
        </p:nvSpPr>
        <p:spPr>
          <a:xfrm>
            <a:off x="4480560" y="1920240"/>
            <a:ext cx="4206240" cy="2415154"/>
          </a:xfrm>
          <a:prstGeom prst="roundRect">
            <a:avLst>
              <a:gd name="adj" fmla="val 2272"/>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8" name="05-actions-green" descr="A green run: test, build, scan and push">    </p:cNvPr>
          <p:cNvPicPr>
            <a:picLocks noChangeAspect="1"/>
          </p:cNvPicPr>
          <p:nvPr/>
        </p:nvPicPr>
        <p:blipFill>
          <a:blip r:embed="rId1"/>
          <a:stretch>
            <a:fillRect/>
          </a:stretch>
        </p:blipFill>
        <p:spPr>
          <a:xfrm>
            <a:off x="4535424" y="1975104"/>
            <a:ext cx="4096512" cy="2305426"/>
          </a:xfrm>
          <a:prstGeom prst="rect">
            <a:avLst/>
          </a:prstGeom>
        </p:spPr>
      </p:pic>
      <p:sp>
        <p:nvSpPr>
          <p:cNvPr id="19" name="Text 15"/>
          <p:cNvSpPr txBox="1"/>
          <p:nvPr/>
        </p:nvSpPr>
        <p:spPr>
          <a:xfrm>
            <a:off x="4480560" y="4362826"/>
            <a:ext cx="4206240" cy="228600"/>
          </a:xfrm>
          <a:prstGeom prst="rect">
            <a:avLst/>
          </a:prstGeom>
          <a:noFill/>
          <a:ln/>
        </p:spPr>
        <p:txBody>
          <a:bodyPr wrap="square" lIns="0" tIns="0" rIns="0" bIns="0" rtlCol="0" anchor="ctr"/>
          <a:lstStyle/>
          <a:p>
            <a:pPr algn="ctr" indent="0" marL="0">
              <a:buNone/>
            </a:pPr>
            <a:r>
              <a:rPr lang="en-US" sz="1100" dirty="0">
                <a:solidFill>
                  <a:schemeClr val="tx2"/>
                </a:solidFill>
              </a:rPr>
              <a:t>A green run: test, build, scan and push</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DELIVERY AND SECURITY</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Container registry</a:t>
            </a:r>
            <a:endParaRPr lang="en-US" sz="3200" dirty="0"/>
          </a:p>
        </p:txBody>
      </p:sp>
      <p:sp>
        <p:nvSpPr>
          <p:cNvPr id="5" name="card Tag = commit SHA"/>
          <p:cNvSpPr/>
          <p:nvPr/>
        </p:nvSpPr>
        <p:spPr>
          <a:xfrm>
            <a:off x="457200" y="1188720"/>
            <a:ext cx="2651760" cy="1325880"/>
          </a:xfrm>
          <a:prstGeom prst="roundRect">
            <a:avLst>
              <a:gd name="adj" fmla="val 5517"/>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6" name="Shape 3"/>
          <p:cNvSpPr/>
          <p:nvPr/>
        </p:nvSpPr>
        <p:spPr>
          <a:xfrm>
            <a:off x="621792" y="1353312"/>
            <a:ext cx="457200" cy="457200"/>
          </a:xfrm>
          <a:prstGeom prst="ellipse">
            <a:avLst/>
          </a:prstGeom>
          <a:solidFill>
            <a:schemeClr val="accent1"/>
          </a:solidFill>
          <a:ln/>
        </p:spPr>
      </p:sp>
      <p:pic>
        <p:nvPicPr>
          <p:cNvPr id="7" name="Image 0" descr="FaCodeBranch">    </p:cNvPr>
          <p:cNvPicPr>
            <a:picLocks noChangeAspect="1"/>
          </p:cNvPicPr>
          <p:nvPr/>
        </p:nvPicPr>
        <p:blipFill>
          <a:blip r:embed="rId1"/>
          <a:stretch>
            <a:fillRect/>
          </a:stretch>
        </p:blipFill>
        <p:spPr>
          <a:xfrm>
            <a:off x="731520" y="1463040"/>
            <a:ext cx="237744" cy="237744"/>
          </a:xfrm>
          <a:prstGeom prst="rect">
            <a:avLst/>
          </a:prstGeom>
        </p:spPr>
      </p:pic>
      <p:sp>
        <p:nvSpPr>
          <p:cNvPr id="8" name="Text 4"/>
          <p:cNvSpPr txBox="1"/>
          <p:nvPr/>
        </p:nvSpPr>
        <p:spPr>
          <a:xfrm>
            <a:off x="1207008"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Tag = commit SHA</a:t>
            </a:r>
            <a:endParaRPr lang="en-US" sz="1500" dirty="0"/>
          </a:p>
        </p:txBody>
      </p:sp>
      <p:sp>
        <p:nvSpPr>
          <p:cNvPr id="9" name="Text 5"/>
          <p:cNvSpPr txBox="1"/>
          <p:nvPr/>
        </p:nvSpPr>
        <p:spPr>
          <a:xfrm>
            <a:off x="621792" y="1938528"/>
            <a:ext cx="2322576" cy="484632"/>
          </a:xfrm>
          <a:prstGeom prst="rect">
            <a:avLst/>
          </a:prstGeom>
          <a:noFill/>
          <a:ln/>
        </p:spPr>
        <p:txBody>
          <a:bodyPr wrap="square" lIns="0" tIns="0" rIns="0" bIns="0" rtlCol="0" anchor="t"/>
          <a:lstStyle/>
          <a:p>
            <a:pPr indent="0" marL="0">
              <a:buNone/>
            </a:pPr>
            <a:r>
              <a:rPr lang="en-US" sz="1300" dirty="0">
                <a:solidFill>
                  <a:schemeClr val="tx2"/>
                </a:solidFill>
              </a:rPr>
              <a:t>Trace any pod to its exact source commit</a:t>
            </a:r>
            <a:endParaRPr lang="en-US" sz="1300" dirty="0"/>
          </a:p>
        </p:txBody>
      </p:sp>
      <p:sp>
        <p:nvSpPr>
          <p:cNvPr id="10" name="card Never :latest"/>
          <p:cNvSpPr/>
          <p:nvPr/>
        </p:nvSpPr>
        <p:spPr>
          <a:xfrm>
            <a:off x="3246120" y="1188720"/>
            <a:ext cx="2651760" cy="1325880"/>
          </a:xfrm>
          <a:prstGeom prst="roundRect">
            <a:avLst>
              <a:gd name="adj" fmla="val 5517"/>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1" name="Shape 7"/>
          <p:cNvSpPr/>
          <p:nvPr/>
        </p:nvSpPr>
        <p:spPr>
          <a:xfrm>
            <a:off x="3410712" y="1353312"/>
            <a:ext cx="457200" cy="457200"/>
          </a:xfrm>
          <a:prstGeom prst="ellipse">
            <a:avLst/>
          </a:prstGeom>
          <a:solidFill>
            <a:schemeClr val="accent5"/>
          </a:solidFill>
          <a:ln/>
        </p:spPr>
      </p:sp>
      <p:pic>
        <p:nvPicPr>
          <p:cNvPr id="12" name="Image 1" descr="FaBan">    </p:cNvPr>
          <p:cNvPicPr>
            <a:picLocks noChangeAspect="1"/>
          </p:cNvPicPr>
          <p:nvPr/>
        </p:nvPicPr>
        <p:blipFill>
          <a:blip r:embed="rId2"/>
          <a:stretch>
            <a:fillRect/>
          </a:stretch>
        </p:blipFill>
        <p:spPr>
          <a:xfrm>
            <a:off x="3520440" y="1463040"/>
            <a:ext cx="237744" cy="237744"/>
          </a:xfrm>
          <a:prstGeom prst="rect">
            <a:avLst/>
          </a:prstGeom>
        </p:spPr>
      </p:pic>
      <p:sp>
        <p:nvSpPr>
          <p:cNvPr id="13" name="Text 8"/>
          <p:cNvSpPr txBox="1"/>
          <p:nvPr/>
        </p:nvSpPr>
        <p:spPr>
          <a:xfrm>
            <a:off x="3995928"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Never :latest</a:t>
            </a:r>
            <a:endParaRPr lang="en-US" sz="1500" dirty="0"/>
          </a:p>
        </p:txBody>
      </p:sp>
      <p:sp>
        <p:nvSpPr>
          <p:cNvPr id="14" name="Text 9"/>
          <p:cNvSpPr txBox="1"/>
          <p:nvPr/>
        </p:nvSpPr>
        <p:spPr>
          <a:xfrm>
            <a:off x="3410712" y="1938528"/>
            <a:ext cx="2322576" cy="484632"/>
          </a:xfrm>
          <a:prstGeom prst="rect">
            <a:avLst/>
          </a:prstGeom>
          <a:noFill/>
          <a:ln/>
        </p:spPr>
        <p:txBody>
          <a:bodyPr wrap="square" lIns="0" tIns="0" rIns="0" bIns="0" rtlCol="0" anchor="t"/>
          <a:lstStyle/>
          <a:p>
            <a:pPr indent="0" marL="0">
              <a:buNone/>
            </a:pPr>
            <a:r>
              <a:rPr lang="en-US" sz="1300" dirty="0">
                <a:solidFill>
                  <a:schemeClr val="tx2"/>
                </a:solidFill>
              </a:rPr>
              <a:t>No ambiguity about what is deployed</a:t>
            </a:r>
            <a:endParaRPr lang="en-US" sz="1300" dirty="0"/>
          </a:p>
        </p:txBody>
      </p:sp>
      <p:sp>
        <p:nvSpPr>
          <p:cNvPr id="15" name="card Easy rollback"/>
          <p:cNvSpPr/>
          <p:nvPr/>
        </p:nvSpPr>
        <p:spPr>
          <a:xfrm>
            <a:off x="6035040" y="1188720"/>
            <a:ext cx="2651760" cy="1325880"/>
          </a:xfrm>
          <a:prstGeom prst="roundRect">
            <a:avLst>
              <a:gd name="adj" fmla="val 5517"/>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6" name="Shape 11"/>
          <p:cNvSpPr/>
          <p:nvPr/>
        </p:nvSpPr>
        <p:spPr>
          <a:xfrm>
            <a:off x="6199632" y="1353312"/>
            <a:ext cx="457200" cy="457200"/>
          </a:xfrm>
          <a:prstGeom prst="ellipse">
            <a:avLst/>
          </a:prstGeom>
          <a:solidFill>
            <a:schemeClr val="accent3"/>
          </a:solidFill>
          <a:ln/>
        </p:spPr>
      </p:sp>
      <p:pic>
        <p:nvPicPr>
          <p:cNvPr id="17" name="Image 2" descr="FaUndo">    </p:cNvPr>
          <p:cNvPicPr>
            <a:picLocks noChangeAspect="1"/>
          </p:cNvPicPr>
          <p:nvPr/>
        </p:nvPicPr>
        <p:blipFill>
          <a:blip r:embed="rId3"/>
          <a:stretch>
            <a:fillRect/>
          </a:stretch>
        </p:blipFill>
        <p:spPr>
          <a:xfrm>
            <a:off x="6309360" y="1463040"/>
            <a:ext cx="237744" cy="237744"/>
          </a:xfrm>
          <a:prstGeom prst="rect">
            <a:avLst/>
          </a:prstGeom>
        </p:spPr>
      </p:pic>
      <p:sp>
        <p:nvSpPr>
          <p:cNvPr id="18" name="Text 12"/>
          <p:cNvSpPr txBox="1"/>
          <p:nvPr/>
        </p:nvSpPr>
        <p:spPr>
          <a:xfrm>
            <a:off x="6784848"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Easy rollback</a:t>
            </a:r>
            <a:endParaRPr lang="en-US" sz="1500" dirty="0"/>
          </a:p>
        </p:txBody>
      </p:sp>
      <p:sp>
        <p:nvSpPr>
          <p:cNvPr id="19" name="Text 13"/>
          <p:cNvSpPr txBox="1"/>
          <p:nvPr/>
        </p:nvSpPr>
        <p:spPr>
          <a:xfrm>
            <a:off x="6199632" y="1938528"/>
            <a:ext cx="2322576" cy="484632"/>
          </a:xfrm>
          <a:prstGeom prst="rect">
            <a:avLst/>
          </a:prstGeom>
          <a:noFill/>
          <a:ln/>
        </p:spPr>
        <p:txBody>
          <a:bodyPr wrap="square" lIns="0" tIns="0" rIns="0" bIns="0" rtlCol="0" anchor="t"/>
          <a:lstStyle/>
          <a:p>
            <a:pPr indent="0" marL="0">
              <a:buNone/>
            </a:pPr>
            <a:r>
              <a:rPr lang="en-US" sz="1300" dirty="0">
                <a:solidFill>
                  <a:schemeClr val="tx2"/>
                </a:solidFill>
              </a:rPr>
              <a:t>Redeploy an older SHA in one command</a:t>
            </a:r>
            <a:endParaRPr lang="en-US" sz="1300" dirty="0"/>
          </a:p>
        </p:txBody>
      </p:sp>
      <p:sp>
        <p:nvSpPr>
          <p:cNvPr id="20" name="frame 05-ghcr"/>
          <p:cNvSpPr/>
          <p:nvPr/>
        </p:nvSpPr>
        <p:spPr>
          <a:xfrm>
            <a:off x="1002994" y="2697480"/>
            <a:ext cx="2931771" cy="1691640"/>
          </a:xfrm>
          <a:prstGeom prst="roundRect">
            <a:avLst>
              <a:gd name="adj" fmla="val 3243"/>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21" name="05-ghcr" descr="Backend image in GHCR">    </p:cNvPr>
          <p:cNvPicPr>
            <a:picLocks noChangeAspect="1"/>
          </p:cNvPicPr>
          <p:nvPr/>
        </p:nvPicPr>
        <p:blipFill>
          <a:blip r:embed="rId4"/>
          <a:stretch>
            <a:fillRect/>
          </a:stretch>
        </p:blipFill>
        <p:spPr>
          <a:xfrm>
            <a:off x="1057858" y="2752344"/>
            <a:ext cx="2822043" cy="1581912"/>
          </a:xfrm>
          <a:prstGeom prst="rect">
            <a:avLst/>
          </a:prstGeom>
        </p:spPr>
      </p:pic>
      <p:sp>
        <p:nvSpPr>
          <p:cNvPr id="22" name="Text 15"/>
          <p:cNvSpPr txBox="1"/>
          <p:nvPr/>
        </p:nvSpPr>
        <p:spPr>
          <a:xfrm>
            <a:off x="457200" y="4416552"/>
            <a:ext cx="4023360" cy="228600"/>
          </a:xfrm>
          <a:prstGeom prst="rect">
            <a:avLst/>
          </a:prstGeom>
          <a:noFill/>
          <a:ln/>
        </p:spPr>
        <p:txBody>
          <a:bodyPr wrap="square" lIns="0" tIns="0" rIns="0" bIns="0" rtlCol="0" anchor="ctr"/>
          <a:lstStyle/>
          <a:p>
            <a:pPr algn="ctr" indent="0" marL="0">
              <a:buNone/>
            </a:pPr>
            <a:r>
              <a:rPr lang="en-US" sz="1100" dirty="0">
                <a:solidFill>
                  <a:schemeClr val="tx2"/>
                </a:solidFill>
              </a:rPr>
              <a:t>Backend image in GHCR</a:t>
            </a:r>
            <a:endParaRPr lang="en-US" sz="1100" dirty="0"/>
          </a:p>
        </p:txBody>
      </p:sp>
      <p:sp>
        <p:nvSpPr>
          <p:cNvPr id="23" name="frame 05-ghcr-frontend"/>
          <p:cNvSpPr/>
          <p:nvPr/>
        </p:nvSpPr>
        <p:spPr>
          <a:xfrm>
            <a:off x="5217575" y="2697480"/>
            <a:ext cx="2915089" cy="1691640"/>
          </a:xfrm>
          <a:prstGeom prst="roundRect">
            <a:avLst>
              <a:gd name="adj" fmla="val 3243"/>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24" name="05-ghcr-frontend" descr="Frontend image in GHCR">    </p:cNvPr>
          <p:cNvPicPr>
            <a:picLocks noChangeAspect="1"/>
          </p:cNvPicPr>
          <p:nvPr/>
        </p:nvPicPr>
        <p:blipFill>
          <a:blip r:embed="rId5"/>
          <a:stretch>
            <a:fillRect/>
          </a:stretch>
        </p:blipFill>
        <p:spPr>
          <a:xfrm>
            <a:off x="5272439" y="2752344"/>
            <a:ext cx="2805361" cy="1581912"/>
          </a:xfrm>
          <a:prstGeom prst="rect">
            <a:avLst/>
          </a:prstGeom>
        </p:spPr>
      </p:pic>
      <p:sp>
        <p:nvSpPr>
          <p:cNvPr id="25" name="Text 17"/>
          <p:cNvSpPr txBox="1"/>
          <p:nvPr/>
        </p:nvSpPr>
        <p:spPr>
          <a:xfrm>
            <a:off x="4663440" y="4416552"/>
            <a:ext cx="4023360" cy="228600"/>
          </a:xfrm>
          <a:prstGeom prst="rect">
            <a:avLst/>
          </a:prstGeom>
          <a:noFill/>
          <a:ln/>
        </p:spPr>
        <p:txBody>
          <a:bodyPr wrap="square" lIns="0" tIns="0" rIns="0" bIns="0" rtlCol="0" anchor="ctr"/>
          <a:lstStyle/>
          <a:p>
            <a:pPr algn="ctr" indent="0" marL="0">
              <a:buNone/>
            </a:pPr>
            <a:r>
              <a:rPr lang="en-US" sz="1100" dirty="0">
                <a:solidFill>
                  <a:schemeClr val="tx2"/>
                </a:solidFill>
              </a:rPr>
              <a:t>Frontend image in GHCR</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DELIVERY AND SECURITY</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Security scanning with Trivy</a:t>
            </a:r>
            <a:endParaRPr lang="en-US" sz="3200" dirty="0"/>
          </a:p>
        </p:txBody>
      </p:sp>
      <p:sp>
        <p:nvSpPr>
          <p:cNvPr id="5" name="Shape 2"/>
          <p:cNvSpPr/>
          <p:nvPr/>
        </p:nvSpPr>
        <p:spPr>
          <a:xfrm>
            <a:off x="457200" y="1188720"/>
            <a:ext cx="4114800" cy="1005840"/>
          </a:xfrm>
          <a:prstGeom prst="roundRect">
            <a:avLst>
              <a:gd name="adj" fmla="val 7273"/>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6" name="Shape 3"/>
          <p:cNvSpPr/>
          <p:nvPr/>
        </p:nvSpPr>
        <p:spPr>
          <a:xfrm>
            <a:off x="594360" y="1325880"/>
            <a:ext cx="868680" cy="310896"/>
          </a:xfrm>
          <a:prstGeom prst="roundRect">
            <a:avLst>
              <a:gd name="adj" fmla="val 50000"/>
            </a:avLst>
          </a:prstGeom>
          <a:solidFill>
            <a:schemeClr val="accent5"/>
          </a:solidFill>
          <a:ln/>
        </p:spPr>
      </p:sp>
      <p:sp>
        <p:nvSpPr>
          <p:cNvPr id="7" name="Text 4"/>
          <p:cNvSpPr txBox="1"/>
          <p:nvPr/>
        </p:nvSpPr>
        <p:spPr>
          <a:xfrm>
            <a:off x="594360" y="1325880"/>
            <a:ext cx="868680" cy="310896"/>
          </a:xfrm>
          <a:prstGeom prst="rect">
            <a:avLst/>
          </a:prstGeom>
          <a:noFill/>
          <a:ln/>
        </p:spPr>
        <p:txBody>
          <a:bodyPr wrap="square" lIns="0" tIns="0" rIns="0" bIns="0" rtlCol="0" anchor="ctr"/>
          <a:lstStyle/>
          <a:p>
            <a:pPr algn="ctr" indent="0" marL="0">
              <a:buNone/>
            </a:pPr>
            <a:r>
              <a:rPr lang="en-US" sz="1200" b="1" dirty="0">
                <a:solidFill>
                  <a:schemeClr val="bg1"/>
                </a:solidFill>
              </a:rPr>
              <a:t>Found</a:t>
            </a:r>
            <a:endParaRPr lang="en-US" sz="1200" dirty="0"/>
          </a:p>
        </p:txBody>
      </p:sp>
      <p:sp>
        <p:nvSpPr>
          <p:cNvPr id="8" name="Text 5"/>
          <p:cNvSpPr txBox="1"/>
          <p:nvPr/>
        </p:nvSpPr>
        <p:spPr>
          <a:xfrm>
            <a:off x="594360" y="1691640"/>
            <a:ext cx="3840480" cy="457200"/>
          </a:xfrm>
          <a:prstGeom prst="rect">
            <a:avLst/>
          </a:prstGeom>
          <a:noFill/>
          <a:ln/>
        </p:spPr>
        <p:txBody>
          <a:bodyPr wrap="square" lIns="0" tIns="0" rIns="0" bIns="0" rtlCol="0" anchor="t"/>
          <a:lstStyle/>
          <a:p>
            <a:pPr indent="0" marL="0">
              <a:buNone/>
            </a:pPr>
            <a:r>
              <a:rPr lang="en-US" sz="1300" dirty="0">
                <a:solidFill>
                  <a:schemeClr val="tx1"/>
                </a:solidFill>
              </a:rPr>
              <a:t>HIGH CVEs in old Starlette (CVE-2026-48818) and in Alpine OpenSSL and libexpat</a:t>
            </a:r>
            <a:endParaRPr lang="en-US" sz="1300" dirty="0"/>
          </a:p>
        </p:txBody>
      </p:sp>
      <p:sp>
        <p:nvSpPr>
          <p:cNvPr id="9" name="Shape 6"/>
          <p:cNvSpPr/>
          <p:nvPr/>
        </p:nvSpPr>
        <p:spPr>
          <a:xfrm>
            <a:off x="457200" y="2331720"/>
            <a:ext cx="4114800" cy="1005840"/>
          </a:xfrm>
          <a:prstGeom prst="roundRect">
            <a:avLst>
              <a:gd name="adj" fmla="val 7273"/>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0" name="Shape 7"/>
          <p:cNvSpPr/>
          <p:nvPr/>
        </p:nvSpPr>
        <p:spPr>
          <a:xfrm>
            <a:off x="594360" y="2468880"/>
            <a:ext cx="868680" cy="310896"/>
          </a:xfrm>
          <a:prstGeom prst="roundRect">
            <a:avLst>
              <a:gd name="adj" fmla="val 50000"/>
            </a:avLst>
          </a:prstGeom>
          <a:solidFill>
            <a:schemeClr val="accent4"/>
          </a:solidFill>
          <a:ln/>
        </p:spPr>
      </p:sp>
      <p:sp>
        <p:nvSpPr>
          <p:cNvPr id="11" name="Text 8"/>
          <p:cNvSpPr txBox="1"/>
          <p:nvPr/>
        </p:nvSpPr>
        <p:spPr>
          <a:xfrm>
            <a:off x="594360" y="2468880"/>
            <a:ext cx="868680" cy="310896"/>
          </a:xfrm>
          <a:prstGeom prst="rect">
            <a:avLst/>
          </a:prstGeom>
          <a:noFill/>
          <a:ln/>
        </p:spPr>
        <p:txBody>
          <a:bodyPr wrap="square" lIns="0" tIns="0" rIns="0" bIns="0" rtlCol="0" anchor="ctr"/>
          <a:lstStyle/>
          <a:p>
            <a:pPr algn="ctr" indent="0" marL="0">
              <a:buNone/>
            </a:pPr>
            <a:r>
              <a:rPr lang="en-US" sz="1200" b="1" dirty="0">
                <a:solidFill>
                  <a:schemeClr val="bg1"/>
                </a:solidFill>
              </a:rPr>
              <a:t>Fixed</a:t>
            </a:r>
            <a:endParaRPr lang="en-US" sz="1200" dirty="0"/>
          </a:p>
        </p:txBody>
      </p:sp>
      <p:sp>
        <p:nvSpPr>
          <p:cNvPr id="12" name="Text 9"/>
          <p:cNvSpPr txBox="1"/>
          <p:nvPr/>
        </p:nvSpPr>
        <p:spPr>
          <a:xfrm>
            <a:off x="594360" y="2834640"/>
            <a:ext cx="3840480" cy="457200"/>
          </a:xfrm>
          <a:prstGeom prst="rect">
            <a:avLst/>
          </a:prstGeom>
          <a:noFill/>
          <a:ln/>
        </p:spPr>
        <p:txBody>
          <a:bodyPr wrap="square" lIns="0" tIns="0" rIns="0" bIns="0" rtlCol="0" anchor="t"/>
          <a:lstStyle/>
          <a:p>
            <a:pPr indent="0" marL="0">
              <a:buNone/>
            </a:pPr>
            <a:r>
              <a:rPr lang="en-US" sz="1300" dirty="0">
                <a:solidFill>
                  <a:schemeClr val="tx1"/>
                </a:solidFill>
              </a:rPr>
              <a:t>Upgraded FastAPI and Starlette, patched nginx base image, removed pip and setuptools</a:t>
            </a:r>
            <a:endParaRPr lang="en-US" sz="1300" dirty="0"/>
          </a:p>
        </p:txBody>
      </p:sp>
      <p:sp>
        <p:nvSpPr>
          <p:cNvPr id="13" name="Shape 10"/>
          <p:cNvSpPr/>
          <p:nvPr/>
        </p:nvSpPr>
        <p:spPr>
          <a:xfrm>
            <a:off x="457200" y="3474720"/>
            <a:ext cx="4114800" cy="1005840"/>
          </a:xfrm>
          <a:prstGeom prst="roundRect">
            <a:avLst>
              <a:gd name="adj" fmla="val 7273"/>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4" name="Shape 11"/>
          <p:cNvSpPr/>
          <p:nvPr/>
        </p:nvSpPr>
        <p:spPr>
          <a:xfrm>
            <a:off x="594360" y="3611880"/>
            <a:ext cx="868680" cy="310896"/>
          </a:xfrm>
          <a:prstGeom prst="roundRect">
            <a:avLst>
              <a:gd name="adj" fmla="val 50000"/>
            </a:avLst>
          </a:prstGeom>
          <a:solidFill>
            <a:schemeClr val="accent3"/>
          </a:solidFill>
          <a:ln/>
        </p:spPr>
      </p:sp>
      <p:sp>
        <p:nvSpPr>
          <p:cNvPr id="15" name="Text 12"/>
          <p:cNvSpPr txBox="1"/>
          <p:nvPr/>
        </p:nvSpPr>
        <p:spPr>
          <a:xfrm>
            <a:off x="594360" y="3611880"/>
            <a:ext cx="868680" cy="310896"/>
          </a:xfrm>
          <a:prstGeom prst="rect">
            <a:avLst/>
          </a:prstGeom>
          <a:noFill/>
          <a:ln/>
        </p:spPr>
        <p:txBody>
          <a:bodyPr wrap="square" lIns="0" tIns="0" rIns="0" bIns="0" rtlCol="0" anchor="ctr"/>
          <a:lstStyle/>
          <a:p>
            <a:pPr algn="ctr" indent="0" marL="0">
              <a:buNone/>
            </a:pPr>
            <a:r>
              <a:rPr lang="en-US" sz="1200" b="1" dirty="0">
                <a:solidFill>
                  <a:schemeClr val="bg1"/>
                </a:solidFill>
              </a:rPr>
              <a:t>Result</a:t>
            </a:r>
            <a:endParaRPr lang="en-US" sz="1200" dirty="0"/>
          </a:p>
        </p:txBody>
      </p:sp>
      <p:sp>
        <p:nvSpPr>
          <p:cNvPr id="16" name="Text 13"/>
          <p:cNvSpPr txBox="1"/>
          <p:nvPr/>
        </p:nvSpPr>
        <p:spPr>
          <a:xfrm>
            <a:off x="594360" y="3977640"/>
            <a:ext cx="3840480" cy="457200"/>
          </a:xfrm>
          <a:prstGeom prst="rect">
            <a:avLst/>
          </a:prstGeom>
          <a:noFill/>
          <a:ln/>
        </p:spPr>
        <p:txBody>
          <a:bodyPr wrap="square" lIns="0" tIns="0" rIns="0" bIns="0" rtlCol="0" anchor="t"/>
          <a:lstStyle/>
          <a:p>
            <a:pPr indent="0" marL="0">
              <a:buNone/>
            </a:pPr>
            <a:r>
              <a:rPr lang="en-US" sz="1300" dirty="0">
                <a:solidFill>
                  <a:schemeClr val="tx1"/>
                </a:solidFill>
              </a:rPr>
              <a:t>0 HIGH and 0 CRITICAL; the pipeline fails on any new fixable finding</a:t>
            </a:r>
            <a:endParaRPr lang="en-US" sz="1300" dirty="0"/>
          </a:p>
        </p:txBody>
      </p:sp>
      <p:sp>
        <p:nvSpPr>
          <p:cNvPr id="17" name="frame 06-trivy-backend"/>
          <p:cNvSpPr/>
          <p:nvPr/>
        </p:nvSpPr>
        <p:spPr>
          <a:xfrm>
            <a:off x="4879012" y="1143000"/>
            <a:ext cx="3683655" cy="3246120"/>
          </a:xfrm>
          <a:prstGeom prst="roundRect">
            <a:avLst>
              <a:gd name="adj" fmla="val 1690"/>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8" name="06-trivy-backend" descr="Trivy report: 0 vulnerabilities (backend)">    </p:cNvPr>
          <p:cNvPicPr>
            <a:picLocks noChangeAspect="1"/>
          </p:cNvPicPr>
          <p:nvPr/>
        </p:nvPicPr>
        <p:blipFill>
          <a:blip r:embed="rId1"/>
          <a:stretch>
            <a:fillRect/>
          </a:stretch>
        </p:blipFill>
        <p:spPr>
          <a:xfrm>
            <a:off x="4933876" y="1197864"/>
            <a:ext cx="3573927" cy="3136392"/>
          </a:xfrm>
          <a:prstGeom prst="rect">
            <a:avLst/>
          </a:prstGeom>
        </p:spPr>
      </p:pic>
      <p:sp>
        <p:nvSpPr>
          <p:cNvPr id="19" name="Text 15"/>
          <p:cNvSpPr txBox="1"/>
          <p:nvPr/>
        </p:nvSpPr>
        <p:spPr>
          <a:xfrm>
            <a:off x="4754880" y="4416552"/>
            <a:ext cx="3931920" cy="228600"/>
          </a:xfrm>
          <a:prstGeom prst="rect">
            <a:avLst/>
          </a:prstGeom>
          <a:noFill/>
          <a:ln/>
        </p:spPr>
        <p:txBody>
          <a:bodyPr wrap="square" lIns="0" tIns="0" rIns="0" bIns="0" rtlCol="0" anchor="ctr"/>
          <a:lstStyle/>
          <a:p>
            <a:pPr algn="ctr" indent="0" marL="0">
              <a:buNone/>
            </a:pPr>
            <a:r>
              <a:rPr lang="en-US" sz="1100" dirty="0">
                <a:solidFill>
                  <a:schemeClr val="tx2"/>
                </a:solidFill>
              </a:rPr>
              <a:t>Trivy report: 0 vulnerabilities (backend)</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CLOUD INFRASTRUCTURE</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Infrastructure as code</a:t>
            </a:r>
            <a:endParaRPr lang="en-US" sz="3200" dirty="0"/>
          </a:p>
        </p:txBody>
      </p:sp>
      <p:sp>
        <p:nvSpPr>
          <p:cNvPr id="5" name="Shape 2"/>
          <p:cNvSpPr/>
          <p:nvPr/>
        </p:nvSpPr>
        <p:spPr>
          <a:xfrm>
            <a:off x="457200" y="1188720"/>
            <a:ext cx="4206240" cy="3429000"/>
          </a:xfrm>
          <a:prstGeom prst="roundRect">
            <a:avLst>
              <a:gd name="adj" fmla="val 2667"/>
            </a:avLst>
          </a:prstGeom>
          <a:solidFill>
            <a:srgbClr val="0F1524"/>
          </a:solidFill>
          <a:ln w="12700">
            <a:solidFill>
              <a:srgbClr val="334155"/>
            </a:solidFill>
            <a:prstDash val="solid"/>
          </a:ln>
        </p:spPr>
      </p:sp>
      <p:sp>
        <p:nvSpPr>
          <p:cNvPr id="6" name="Text 3"/>
          <p:cNvSpPr txBox="1"/>
          <p:nvPr/>
        </p:nvSpPr>
        <p:spPr>
          <a:xfrm>
            <a:off x="640080" y="1280160"/>
            <a:ext cx="3840480" cy="320040"/>
          </a:xfrm>
          <a:prstGeom prst="rect">
            <a:avLst/>
          </a:prstGeom>
          <a:noFill/>
          <a:ln/>
        </p:spPr>
        <p:txBody>
          <a:bodyPr wrap="square" lIns="0" tIns="0" rIns="0" bIns="0" rtlCol="0" anchor="ctr"/>
          <a:lstStyle/>
          <a:p>
            <a:pPr indent="0" marL="0">
              <a:buNone/>
            </a:pPr>
            <a:r>
              <a:rPr lang="en-US" sz="1400" b="1" dirty="0">
                <a:solidFill>
                  <a:schemeClr val="accent2"/>
                </a:solidFill>
              </a:rPr>
              <a:t>VPC 10.0.0.0/16 in ap-south-1 (Mumbai)</a:t>
            </a:r>
            <a:endParaRPr lang="en-US" sz="1400" dirty="0"/>
          </a:p>
        </p:txBody>
      </p:sp>
      <p:sp>
        <p:nvSpPr>
          <p:cNvPr id="7" name="Shape 4"/>
          <p:cNvSpPr/>
          <p:nvPr/>
        </p:nvSpPr>
        <p:spPr>
          <a:xfrm>
            <a:off x="640080" y="1737360"/>
            <a:ext cx="3840480" cy="868680"/>
          </a:xfrm>
          <a:prstGeom prst="roundRect">
            <a:avLst>
              <a:gd name="adj" fmla="val 8421"/>
            </a:avLst>
          </a:prstGeom>
          <a:solidFill>
            <a:srgbClr val="141B2D"/>
          </a:solidFill>
          <a:ln w="15875">
            <a:solidFill>
              <a:schemeClr val="accent2"/>
            </a:solidFill>
            <a:prstDash val="solid"/>
          </a:ln>
        </p:spPr>
      </p:sp>
      <p:sp>
        <p:nvSpPr>
          <p:cNvPr id="8" name="Text 5"/>
          <p:cNvSpPr txBox="1"/>
          <p:nvPr/>
        </p:nvSpPr>
        <p:spPr>
          <a:xfrm>
            <a:off x="777240" y="1783080"/>
            <a:ext cx="3566160" cy="777240"/>
          </a:xfrm>
          <a:prstGeom prst="rect">
            <a:avLst/>
          </a:prstGeom>
          <a:noFill/>
          <a:ln/>
        </p:spPr>
        <p:txBody>
          <a:bodyPr wrap="square" lIns="0" tIns="0" rIns="0" bIns="0" rtlCol="0" anchor="ctr"/>
          <a:lstStyle/>
          <a:p>
            <a:pPr indent="0" marL="0">
              <a:buNone/>
            </a:pPr>
            <a:r>
              <a:rPr lang="en-US" sz="1300" b="1" dirty="0">
                <a:solidFill>
                  <a:schemeClr val="tx1"/>
                </a:solidFill>
              </a:rPr>
              <a:t>2 public subnets</a:t>
            </a:r>
            <a:endParaRPr lang="en-US" sz="1300" dirty="0"/>
          </a:p>
          <a:p>
            <a:pPr indent="0" marL="0">
              <a:buNone/>
            </a:pPr>
            <a:r>
              <a:rPr lang="en-US" sz="1300" dirty="0">
                <a:solidFill>
                  <a:schemeClr val="tx1"/>
                </a:solidFill>
              </a:rPr>
              <a:t>Internet gateway, NAT gateway, load balancer</a:t>
            </a:r>
            <a:endParaRPr lang="en-US" sz="1300" dirty="0"/>
          </a:p>
        </p:txBody>
      </p:sp>
      <p:sp>
        <p:nvSpPr>
          <p:cNvPr id="9" name="Shape 6"/>
          <p:cNvSpPr/>
          <p:nvPr/>
        </p:nvSpPr>
        <p:spPr>
          <a:xfrm>
            <a:off x="640080" y="2743200"/>
            <a:ext cx="3840480" cy="868680"/>
          </a:xfrm>
          <a:prstGeom prst="roundRect">
            <a:avLst>
              <a:gd name="adj" fmla="val 8421"/>
            </a:avLst>
          </a:prstGeom>
          <a:solidFill>
            <a:srgbClr val="141B2D"/>
          </a:solidFill>
          <a:ln w="15875">
            <a:solidFill>
              <a:schemeClr val="accent1"/>
            </a:solidFill>
            <a:prstDash val="solid"/>
          </a:ln>
        </p:spPr>
      </p:sp>
      <p:sp>
        <p:nvSpPr>
          <p:cNvPr id="10" name="Text 7"/>
          <p:cNvSpPr txBox="1"/>
          <p:nvPr/>
        </p:nvSpPr>
        <p:spPr>
          <a:xfrm>
            <a:off x="777240" y="2788920"/>
            <a:ext cx="3566160" cy="777240"/>
          </a:xfrm>
          <a:prstGeom prst="rect">
            <a:avLst/>
          </a:prstGeom>
          <a:noFill/>
          <a:ln/>
        </p:spPr>
        <p:txBody>
          <a:bodyPr wrap="square" lIns="0" tIns="0" rIns="0" bIns="0" rtlCol="0" anchor="ctr"/>
          <a:lstStyle/>
          <a:p>
            <a:pPr indent="0" marL="0">
              <a:buNone/>
            </a:pPr>
            <a:r>
              <a:rPr lang="en-US" sz="1300" b="1" dirty="0">
                <a:solidFill>
                  <a:schemeClr val="tx1"/>
                </a:solidFill>
              </a:rPr>
              <a:t>2 private subnets</a:t>
            </a:r>
            <a:endParaRPr lang="en-US" sz="1300" dirty="0"/>
          </a:p>
          <a:p>
            <a:pPr indent="0" marL="0">
              <a:buNone/>
            </a:pPr>
            <a:r>
              <a:rPr lang="en-US" sz="1300" dirty="0">
                <a:solidFill>
                  <a:schemeClr val="tx1"/>
                </a:solidFill>
              </a:rPr>
              <a:t>2 worker nodes (m7i-flex.large)</a:t>
            </a:r>
            <a:endParaRPr lang="en-US" sz="1300" dirty="0"/>
          </a:p>
        </p:txBody>
      </p:sp>
      <p:sp>
        <p:nvSpPr>
          <p:cNvPr id="11" name="Shape 8"/>
          <p:cNvSpPr/>
          <p:nvPr/>
        </p:nvSpPr>
        <p:spPr>
          <a:xfrm>
            <a:off x="640080" y="3840480"/>
            <a:ext cx="3840480" cy="548640"/>
          </a:xfrm>
          <a:prstGeom prst="roundRect">
            <a:avLst>
              <a:gd name="adj" fmla="val 50000"/>
            </a:avLst>
          </a:prstGeom>
          <a:solidFill>
            <a:schemeClr val="accent1"/>
          </a:solidFill>
          <a:ln/>
        </p:spPr>
      </p:sp>
      <p:sp>
        <p:nvSpPr>
          <p:cNvPr id="12" name="Text 9"/>
          <p:cNvSpPr txBox="1"/>
          <p:nvPr/>
        </p:nvSpPr>
        <p:spPr>
          <a:xfrm>
            <a:off x="640080" y="3840480"/>
            <a:ext cx="3840480" cy="548640"/>
          </a:xfrm>
          <a:prstGeom prst="rect">
            <a:avLst/>
          </a:prstGeom>
          <a:noFill/>
          <a:ln/>
        </p:spPr>
        <p:txBody>
          <a:bodyPr wrap="square" lIns="0" tIns="0" rIns="0" bIns="0" rtlCol="0" anchor="ctr"/>
          <a:lstStyle/>
          <a:p>
            <a:pPr algn="ctr" indent="0" marL="0">
              <a:buNone/>
            </a:pPr>
            <a:r>
              <a:rPr lang="en-US" sz="1300" b="1" dirty="0">
                <a:solidFill>
                  <a:schemeClr val="bg1"/>
                </a:solidFill>
              </a:rPr>
              <a:t>EKS cluster, Kubernetes 1.31 + EBS CSI driver</a:t>
            </a:r>
            <a:endParaRPr lang="en-US" sz="1300" dirty="0"/>
          </a:p>
        </p:txBody>
      </p:sp>
      <p:sp>
        <p:nvSpPr>
          <p:cNvPr id="13" name="frame 07-tf-plan"/>
          <p:cNvSpPr/>
          <p:nvPr/>
        </p:nvSpPr>
        <p:spPr>
          <a:xfrm>
            <a:off x="4992327" y="1188720"/>
            <a:ext cx="3548466" cy="1051560"/>
          </a:xfrm>
          <a:prstGeom prst="roundRect">
            <a:avLst>
              <a:gd name="adj" fmla="val 5217"/>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4" name="07-tf-plan" descr="terraform plan: 61 resources to add">    </p:cNvPr>
          <p:cNvPicPr>
            <a:picLocks noChangeAspect="1"/>
          </p:cNvPicPr>
          <p:nvPr/>
        </p:nvPicPr>
        <p:blipFill>
          <a:blip r:embed="rId1"/>
          <a:stretch>
            <a:fillRect/>
          </a:stretch>
        </p:blipFill>
        <p:spPr>
          <a:xfrm>
            <a:off x="5047191" y="1243584"/>
            <a:ext cx="3438738" cy="941832"/>
          </a:xfrm>
          <a:prstGeom prst="rect">
            <a:avLst/>
          </a:prstGeom>
        </p:spPr>
      </p:pic>
      <p:sp>
        <p:nvSpPr>
          <p:cNvPr id="15" name="Text 11"/>
          <p:cNvSpPr txBox="1"/>
          <p:nvPr/>
        </p:nvSpPr>
        <p:spPr>
          <a:xfrm>
            <a:off x="4846320" y="2267712"/>
            <a:ext cx="3840480" cy="228600"/>
          </a:xfrm>
          <a:prstGeom prst="rect">
            <a:avLst/>
          </a:prstGeom>
          <a:noFill/>
          <a:ln/>
        </p:spPr>
        <p:txBody>
          <a:bodyPr wrap="square" lIns="0" tIns="0" rIns="0" bIns="0" rtlCol="0" anchor="ctr"/>
          <a:lstStyle/>
          <a:p>
            <a:pPr algn="ctr" indent="0" marL="0">
              <a:buNone/>
            </a:pPr>
            <a:r>
              <a:rPr lang="en-US" sz="1100" dirty="0">
                <a:solidFill>
                  <a:schemeClr val="tx2"/>
                </a:solidFill>
              </a:rPr>
              <a:t>terraform plan: 61 resources to add</a:t>
            </a:r>
            <a:endParaRPr lang="en-US" sz="1100" dirty="0"/>
          </a:p>
        </p:txBody>
      </p:sp>
      <p:sp>
        <p:nvSpPr>
          <p:cNvPr id="16" name="frame 07-tf-apply"/>
          <p:cNvSpPr/>
          <p:nvPr/>
        </p:nvSpPr>
        <p:spPr>
          <a:xfrm>
            <a:off x="4932045" y="2697480"/>
            <a:ext cx="3669030" cy="1691640"/>
          </a:xfrm>
          <a:prstGeom prst="roundRect">
            <a:avLst>
              <a:gd name="adj" fmla="val 3243"/>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7" name="07-tf-apply" descr="terraform apply: complete">    </p:cNvPr>
          <p:cNvPicPr>
            <a:picLocks noChangeAspect="1"/>
          </p:cNvPicPr>
          <p:nvPr/>
        </p:nvPicPr>
        <p:blipFill>
          <a:blip r:embed="rId2"/>
          <a:stretch>
            <a:fillRect/>
          </a:stretch>
        </p:blipFill>
        <p:spPr>
          <a:xfrm>
            <a:off x="4986909" y="2752344"/>
            <a:ext cx="3559302" cy="1581912"/>
          </a:xfrm>
          <a:prstGeom prst="rect">
            <a:avLst/>
          </a:prstGeom>
        </p:spPr>
      </p:pic>
      <p:sp>
        <p:nvSpPr>
          <p:cNvPr id="18" name="Text 13"/>
          <p:cNvSpPr txBox="1"/>
          <p:nvPr/>
        </p:nvSpPr>
        <p:spPr>
          <a:xfrm>
            <a:off x="4846320" y="4416552"/>
            <a:ext cx="3840480" cy="228600"/>
          </a:xfrm>
          <a:prstGeom prst="rect">
            <a:avLst/>
          </a:prstGeom>
          <a:noFill/>
          <a:ln/>
        </p:spPr>
        <p:txBody>
          <a:bodyPr wrap="square" lIns="0" tIns="0" rIns="0" bIns="0" rtlCol="0" anchor="ctr"/>
          <a:lstStyle/>
          <a:p>
            <a:pPr algn="ctr" indent="0" marL="0">
              <a:buNone/>
            </a:pPr>
            <a:r>
              <a:rPr lang="en-US" sz="1100" dirty="0">
                <a:solidFill>
                  <a:schemeClr val="tx2"/>
                </a:solidFill>
              </a:rPr>
              <a:t>terraform apply: complete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CLOUD INFRASTRUCTURE</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AWS proof: the network</a:t>
            </a:r>
            <a:endParaRPr lang="en-US" sz="3200" dirty="0"/>
          </a:p>
        </p:txBody>
      </p:sp>
      <p:sp>
        <p:nvSpPr>
          <p:cNvPr id="5" name="frame 07-aws-vpc"/>
          <p:cNvSpPr/>
          <p:nvPr/>
        </p:nvSpPr>
        <p:spPr>
          <a:xfrm>
            <a:off x="457200" y="1188720"/>
            <a:ext cx="4023360" cy="2447036"/>
          </a:xfrm>
          <a:prstGeom prst="roundRect">
            <a:avLst>
              <a:gd name="adj" fmla="val 2242"/>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6" name="07-aws-vpc" descr="VPC helpdesk-vpc in ap-south-1">    </p:cNvPr>
          <p:cNvPicPr>
            <a:picLocks noChangeAspect="1"/>
          </p:cNvPicPr>
          <p:nvPr/>
        </p:nvPicPr>
        <p:blipFill>
          <a:blip r:embed="rId1"/>
          <a:stretch>
            <a:fillRect/>
          </a:stretch>
        </p:blipFill>
        <p:spPr>
          <a:xfrm>
            <a:off x="512064" y="1243584"/>
            <a:ext cx="3913632" cy="2337308"/>
          </a:xfrm>
          <a:prstGeom prst="rect">
            <a:avLst/>
          </a:prstGeom>
        </p:spPr>
      </p:pic>
      <p:sp>
        <p:nvSpPr>
          <p:cNvPr id="7" name="Text 3"/>
          <p:cNvSpPr txBox="1"/>
          <p:nvPr/>
        </p:nvSpPr>
        <p:spPr>
          <a:xfrm>
            <a:off x="457200" y="3663188"/>
            <a:ext cx="4023360" cy="228600"/>
          </a:xfrm>
          <a:prstGeom prst="rect">
            <a:avLst/>
          </a:prstGeom>
          <a:noFill/>
          <a:ln/>
        </p:spPr>
        <p:txBody>
          <a:bodyPr wrap="square" lIns="0" tIns="0" rIns="0" bIns="0" rtlCol="0" anchor="ctr"/>
          <a:lstStyle/>
          <a:p>
            <a:pPr algn="ctr" indent="0" marL="0">
              <a:buNone/>
            </a:pPr>
            <a:r>
              <a:rPr lang="en-US" sz="1100" dirty="0">
                <a:solidFill>
                  <a:schemeClr val="tx2"/>
                </a:solidFill>
              </a:rPr>
              <a:t>VPC helpdesk-vpc in ap-south-1</a:t>
            </a:r>
            <a:endParaRPr lang="en-US" sz="1100" dirty="0"/>
          </a:p>
        </p:txBody>
      </p:sp>
      <p:sp>
        <p:nvSpPr>
          <p:cNvPr id="8" name="frame 07-aws-subnets"/>
          <p:cNvSpPr/>
          <p:nvPr/>
        </p:nvSpPr>
        <p:spPr>
          <a:xfrm>
            <a:off x="4663440" y="1188720"/>
            <a:ext cx="4023360" cy="2227438"/>
          </a:xfrm>
          <a:prstGeom prst="roundRect">
            <a:avLst>
              <a:gd name="adj" fmla="val 2463"/>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9" name="07-aws-subnets" descr="4 subnets: 2 public, 2 private">    </p:cNvPr>
          <p:cNvPicPr>
            <a:picLocks noChangeAspect="1"/>
          </p:cNvPicPr>
          <p:nvPr/>
        </p:nvPicPr>
        <p:blipFill>
          <a:blip r:embed="rId2"/>
          <a:stretch>
            <a:fillRect/>
          </a:stretch>
        </p:blipFill>
        <p:spPr>
          <a:xfrm>
            <a:off x="4718304" y="1243584"/>
            <a:ext cx="3913632" cy="2117710"/>
          </a:xfrm>
          <a:prstGeom prst="rect">
            <a:avLst/>
          </a:prstGeom>
        </p:spPr>
      </p:pic>
      <p:sp>
        <p:nvSpPr>
          <p:cNvPr id="10" name="Text 5"/>
          <p:cNvSpPr txBox="1"/>
          <p:nvPr/>
        </p:nvSpPr>
        <p:spPr>
          <a:xfrm>
            <a:off x="4663440" y="3443590"/>
            <a:ext cx="4023360" cy="228600"/>
          </a:xfrm>
          <a:prstGeom prst="rect">
            <a:avLst/>
          </a:prstGeom>
          <a:noFill/>
          <a:ln/>
        </p:spPr>
        <p:txBody>
          <a:bodyPr wrap="square" lIns="0" tIns="0" rIns="0" bIns="0" rtlCol="0" anchor="ctr"/>
          <a:lstStyle/>
          <a:p>
            <a:pPr algn="ctr" indent="0" marL="0">
              <a:buNone/>
            </a:pPr>
            <a:r>
              <a:rPr lang="en-US" sz="1100" dirty="0">
                <a:solidFill>
                  <a:schemeClr val="tx2"/>
                </a:solidFill>
              </a:rPr>
              <a:t>4 subnets: 2 public, 2 private</a:t>
            </a:r>
            <a:endParaRPr lang="en-US" sz="1100" dirty="0"/>
          </a:p>
        </p:txBody>
      </p:sp>
      <p:sp>
        <p:nvSpPr>
          <p:cNvPr id="11" name="Text 6"/>
          <p:cNvSpPr txBox="1"/>
          <p:nvPr/>
        </p:nvSpPr>
        <p:spPr>
          <a:xfrm>
            <a:off x="457200" y="4297680"/>
            <a:ext cx="8229600" cy="365760"/>
          </a:xfrm>
          <a:prstGeom prst="rect">
            <a:avLst/>
          </a:prstGeom>
          <a:noFill/>
          <a:ln/>
        </p:spPr>
        <p:txBody>
          <a:bodyPr wrap="square" lIns="0" tIns="0" rIns="0" bIns="0" rtlCol="0" anchor="ctr"/>
          <a:lstStyle/>
          <a:p>
            <a:pPr algn="ctr" indent="0" marL="0">
              <a:buNone/>
            </a:pPr>
            <a:r>
              <a:rPr lang="en-US" sz="1400" dirty="0">
                <a:solidFill>
                  <a:schemeClr val="tx2"/>
                </a:solidFill>
              </a:rPr>
              <a:t>Everything here was created by Terraform, not by clicking in the console.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CLOUD INFRASTRUCTURE</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AWS proof: the cluster</a:t>
            </a:r>
            <a:endParaRPr lang="en-US" sz="3200" dirty="0"/>
          </a:p>
        </p:txBody>
      </p:sp>
      <p:sp>
        <p:nvSpPr>
          <p:cNvPr id="5" name="frame 07-aws-eks"/>
          <p:cNvSpPr/>
          <p:nvPr/>
        </p:nvSpPr>
        <p:spPr>
          <a:xfrm>
            <a:off x="798840" y="1143000"/>
            <a:ext cx="4345921" cy="2423160"/>
          </a:xfrm>
          <a:prstGeom prst="roundRect">
            <a:avLst>
              <a:gd name="adj" fmla="val 2264"/>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6" name="07-aws-eks" descr="EKS cluster in the AWS console">    </p:cNvPr>
          <p:cNvPicPr>
            <a:picLocks noChangeAspect="1"/>
          </p:cNvPicPr>
          <p:nvPr/>
        </p:nvPicPr>
        <p:blipFill>
          <a:blip r:embed="rId1"/>
          <a:stretch>
            <a:fillRect/>
          </a:stretch>
        </p:blipFill>
        <p:spPr>
          <a:xfrm>
            <a:off x="853704" y="1197864"/>
            <a:ext cx="4236193" cy="2313432"/>
          </a:xfrm>
          <a:prstGeom prst="rect">
            <a:avLst/>
          </a:prstGeom>
        </p:spPr>
      </p:pic>
      <p:sp>
        <p:nvSpPr>
          <p:cNvPr id="7" name="Text 3"/>
          <p:cNvSpPr txBox="1"/>
          <p:nvPr/>
        </p:nvSpPr>
        <p:spPr>
          <a:xfrm>
            <a:off x="457200" y="3593592"/>
            <a:ext cx="5029200" cy="228600"/>
          </a:xfrm>
          <a:prstGeom prst="rect">
            <a:avLst/>
          </a:prstGeom>
          <a:noFill/>
          <a:ln/>
        </p:spPr>
        <p:txBody>
          <a:bodyPr wrap="square" lIns="0" tIns="0" rIns="0" bIns="0" rtlCol="0" anchor="ctr"/>
          <a:lstStyle/>
          <a:p>
            <a:pPr algn="ctr" indent="0" marL="0">
              <a:buNone/>
            </a:pPr>
            <a:r>
              <a:rPr lang="en-US" sz="1100" dirty="0">
                <a:solidFill>
                  <a:schemeClr val="tx2"/>
                </a:solidFill>
              </a:rPr>
              <a:t>EKS cluster in the AWS console</a:t>
            </a:r>
            <a:endParaRPr lang="en-US" sz="1100" dirty="0"/>
          </a:p>
        </p:txBody>
      </p:sp>
      <p:sp>
        <p:nvSpPr>
          <p:cNvPr id="8" name="Text 4"/>
          <p:cNvSpPr txBox="1"/>
          <p:nvPr/>
        </p:nvSpPr>
        <p:spPr>
          <a:xfrm>
            <a:off x="5760720" y="1371600"/>
            <a:ext cx="2926080" cy="2194560"/>
          </a:xfrm>
          <a:prstGeom prst="rect">
            <a:avLst/>
          </a:prstGeom>
          <a:noFill/>
          <a:ln/>
        </p:spPr>
        <p:txBody>
          <a:bodyPr wrap="square" lIns="0" tIns="0" rIns="0" bIns="0" rtlCol="0" anchor="t"/>
          <a:lstStyle/>
          <a:p>
            <a:pPr marL="342900" indent="-342900">
              <a:spcAft>
                <a:spcPts val="900"/>
              </a:spcAft>
              <a:buSzPct val="100000"/>
              <a:buChar char="•"/>
            </a:pPr>
            <a:r>
              <a:rPr lang="en-US" sz="1500" b="1" dirty="0">
                <a:solidFill>
                  <a:schemeClr val="tx1"/>
                </a:solidFill>
              </a:rPr>
              <a:t>Status: </a:t>
            </a:r>
            <a:pPr indent="0" marL="0">
              <a:buNone/>
            </a:pPr>
            <a:r>
              <a:rPr lang="en-US" sz="1500" dirty="0">
                <a:solidFill>
                  <a:schemeClr val="tx1"/>
                </a:solidFill>
              </a:rPr>
              <a:t>Active</a:t>
            </a:r>
            <a:endParaRPr lang="en-US" sz="1500" dirty="0"/>
          </a:p>
          <a:p>
            <a:pPr marL="342900" indent="-342900">
              <a:spcAft>
                <a:spcPts val="900"/>
              </a:spcAft>
              <a:buSzPct val="100000"/>
              <a:buChar char="•"/>
            </a:pPr>
            <a:r>
              <a:rPr lang="en-US" sz="1500" b="1" dirty="0">
                <a:solidFill>
                  <a:schemeClr val="tx1"/>
                </a:solidFill>
              </a:rPr>
              <a:t>Kubernetes </a:t>
            </a:r>
            <a:pPr indent="0" marL="0">
              <a:buNone/>
            </a:pPr>
            <a:r>
              <a:rPr lang="en-US" sz="1500" dirty="0">
                <a:solidFill>
                  <a:schemeClr val="tx1"/>
                </a:solidFill>
              </a:rPr>
              <a:t>version 1.31</a:t>
            </a:r>
            <a:endParaRPr lang="en-US" sz="1500" dirty="0"/>
          </a:p>
          <a:p>
            <a:pPr marL="342900" indent="-342900">
              <a:spcAft>
                <a:spcPts val="900"/>
              </a:spcAft>
              <a:buSzPct val="100000"/>
              <a:buChar char="•"/>
            </a:pPr>
            <a:r>
              <a:rPr lang="en-US" sz="1500" b="1" dirty="0">
                <a:solidFill>
                  <a:schemeClr val="tx1"/>
                </a:solidFill>
              </a:rPr>
              <a:t>Managed node group </a:t>
            </a:r>
            <a:pPr indent="0" marL="0">
              <a:buNone/>
            </a:pPr>
            <a:r>
              <a:rPr lang="en-US" sz="1500" dirty="0">
                <a:solidFill>
                  <a:schemeClr val="tx1"/>
                </a:solidFill>
              </a:rPr>
              <a:t>with 2 worker nodes</a:t>
            </a:r>
            <a:endParaRPr lang="en-US" sz="1500" dirty="0"/>
          </a:p>
        </p:txBody>
      </p:sp>
      <p:sp>
        <p:nvSpPr>
          <p:cNvPr id="9" name="frame 07-kubectl-nodes"/>
          <p:cNvSpPr/>
          <p:nvPr/>
        </p:nvSpPr>
        <p:spPr>
          <a:xfrm>
            <a:off x="2462468" y="3931920"/>
            <a:ext cx="4219064" cy="502920"/>
          </a:xfrm>
          <a:prstGeom prst="roundRect">
            <a:avLst>
              <a:gd name="adj" fmla="val 10909"/>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0" name="07-kubectl-nodes" descr="kubectl get nodes: both worker nodes are Ready">    </p:cNvPr>
          <p:cNvPicPr>
            <a:picLocks noChangeAspect="1"/>
          </p:cNvPicPr>
          <p:nvPr/>
        </p:nvPicPr>
        <p:blipFill>
          <a:blip r:embed="rId2"/>
          <a:stretch>
            <a:fillRect/>
          </a:stretch>
        </p:blipFill>
        <p:spPr>
          <a:xfrm>
            <a:off x="2517332" y="3986784"/>
            <a:ext cx="4109336" cy="393192"/>
          </a:xfrm>
          <a:prstGeom prst="rect">
            <a:avLst/>
          </a:prstGeom>
        </p:spPr>
      </p:pic>
      <p:sp>
        <p:nvSpPr>
          <p:cNvPr id="11" name="Text 6"/>
          <p:cNvSpPr txBox="1"/>
          <p:nvPr/>
        </p:nvSpPr>
        <p:spPr>
          <a:xfrm>
            <a:off x="457200" y="4462272"/>
            <a:ext cx="8229600" cy="228600"/>
          </a:xfrm>
          <a:prstGeom prst="rect">
            <a:avLst/>
          </a:prstGeom>
          <a:noFill/>
          <a:ln/>
        </p:spPr>
        <p:txBody>
          <a:bodyPr wrap="square" lIns="0" tIns="0" rIns="0" bIns="0" rtlCol="0" anchor="ctr"/>
          <a:lstStyle/>
          <a:p>
            <a:pPr algn="ctr" indent="0" marL="0">
              <a:buNone/>
            </a:pPr>
            <a:r>
              <a:rPr lang="en-US" sz="1100" dirty="0">
                <a:solidFill>
                  <a:schemeClr val="tx2"/>
                </a:solidFill>
              </a:rPr>
              <a:t>kubectl get nodes: both worker nodes are Ready</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RUNNING AND WATCHING</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Kubernetes and Helm</a:t>
            </a:r>
            <a:endParaRPr lang="en-US" sz="3200" dirty="0"/>
          </a:p>
        </p:txBody>
      </p:sp>
      <p:sp>
        <p:nvSpPr>
          <p:cNvPr id="5" name="Text 2"/>
          <p:cNvSpPr txBox="1"/>
          <p:nvPr/>
        </p:nvSpPr>
        <p:spPr>
          <a:xfrm>
            <a:off x="457200" y="1051560"/>
            <a:ext cx="8229600" cy="365760"/>
          </a:xfrm>
          <a:prstGeom prst="rect">
            <a:avLst/>
          </a:prstGeom>
          <a:noFill/>
          <a:ln/>
        </p:spPr>
        <p:txBody>
          <a:bodyPr wrap="square" lIns="0" tIns="0" rIns="0" bIns="0" rtlCol="0" anchor="ctr"/>
          <a:lstStyle/>
          <a:p>
            <a:pPr indent="0" marL="0">
              <a:buNone/>
            </a:pPr>
            <a:r>
              <a:rPr lang="en-US" sz="1600" dirty="0">
                <a:solidFill>
                  <a:schemeClr val="tx2"/>
                </a:solidFill>
              </a:rPr>
              <a:t>One Helm chart deploys everything with a single command</a:t>
            </a:r>
            <a:endParaRPr lang="en-US" sz="1600" dirty="0"/>
          </a:p>
        </p:txBody>
      </p:sp>
      <p:sp>
        <p:nvSpPr>
          <p:cNvPr id="6" name="card Namespace"/>
          <p:cNvSpPr/>
          <p:nvPr/>
        </p:nvSpPr>
        <p:spPr>
          <a:xfrm>
            <a:off x="457200" y="1554480"/>
            <a:ext cx="2651760" cy="1417320"/>
          </a:xfrm>
          <a:prstGeom prst="roundRect">
            <a:avLst>
              <a:gd name="adj" fmla="val 5161"/>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7" name="Shape 4"/>
          <p:cNvSpPr/>
          <p:nvPr/>
        </p:nvSpPr>
        <p:spPr>
          <a:xfrm>
            <a:off x="621792" y="1719072"/>
            <a:ext cx="457200" cy="457200"/>
          </a:xfrm>
          <a:prstGeom prst="ellipse">
            <a:avLst/>
          </a:prstGeom>
          <a:solidFill>
            <a:schemeClr val="accent1"/>
          </a:solidFill>
          <a:ln/>
        </p:spPr>
      </p:sp>
      <p:pic>
        <p:nvPicPr>
          <p:cNvPr id="8" name="Image 0" descr="FaProjectDiagram">    </p:cNvPr>
          <p:cNvPicPr>
            <a:picLocks noChangeAspect="1"/>
          </p:cNvPicPr>
          <p:nvPr/>
        </p:nvPicPr>
        <p:blipFill>
          <a:blip r:embed="rId1"/>
          <a:stretch>
            <a:fillRect/>
          </a:stretch>
        </p:blipFill>
        <p:spPr>
          <a:xfrm>
            <a:off x="731520" y="1828800"/>
            <a:ext cx="237744" cy="237744"/>
          </a:xfrm>
          <a:prstGeom prst="rect">
            <a:avLst/>
          </a:prstGeom>
        </p:spPr>
      </p:pic>
      <p:sp>
        <p:nvSpPr>
          <p:cNvPr id="9" name="Text 5"/>
          <p:cNvSpPr txBox="1"/>
          <p:nvPr/>
        </p:nvSpPr>
        <p:spPr>
          <a:xfrm>
            <a:off x="1207008" y="171907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Namespace</a:t>
            </a:r>
            <a:endParaRPr lang="en-US" sz="1600" dirty="0"/>
          </a:p>
        </p:txBody>
      </p:sp>
      <p:sp>
        <p:nvSpPr>
          <p:cNvPr id="10" name="Text 6"/>
          <p:cNvSpPr txBox="1"/>
          <p:nvPr/>
        </p:nvSpPr>
        <p:spPr>
          <a:xfrm>
            <a:off x="621792" y="2304288"/>
            <a:ext cx="2322576" cy="576072"/>
          </a:xfrm>
          <a:prstGeom prst="rect">
            <a:avLst/>
          </a:prstGeom>
          <a:noFill/>
          <a:ln/>
        </p:spPr>
        <p:txBody>
          <a:bodyPr wrap="square" lIns="0" tIns="0" rIns="0" bIns="0" rtlCol="0" anchor="t"/>
          <a:lstStyle/>
          <a:p>
            <a:pPr indent="0" marL="0">
              <a:buNone/>
            </a:pPr>
            <a:r>
              <a:rPr lang="en-US" sz="1300" dirty="0">
                <a:solidFill>
                  <a:schemeClr val="tx2"/>
                </a:solidFill>
              </a:rPr>
              <a:t>Everything lives in the helpdesk namespace</a:t>
            </a:r>
            <a:endParaRPr lang="en-US" sz="1300" dirty="0"/>
          </a:p>
        </p:txBody>
      </p:sp>
      <p:sp>
        <p:nvSpPr>
          <p:cNvPr id="11" name="card Deployments"/>
          <p:cNvSpPr/>
          <p:nvPr/>
        </p:nvSpPr>
        <p:spPr>
          <a:xfrm>
            <a:off x="3246120" y="1554480"/>
            <a:ext cx="2651760" cy="1417320"/>
          </a:xfrm>
          <a:prstGeom prst="roundRect">
            <a:avLst>
              <a:gd name="adj" fmla="val 5161"/>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2" name="Shape 8"/>
          <p:cNvSpPr/>
          <p:nvPr/>
        </p:nvSpPr>
        <p:spPr>
          <a:xfrm>
            <a:off x="3410712" y="1719072"/>
            <a:ext cx="457200" cy="457200"/>
          </a:xfrm>
          <a:prstGeom prst="ellipse">
            <a:avLst/>
          </a:prstGeom>
          <a:solidFill>
            <a:schemeClr val="accent2"/>
          </a:solidFill>
          <a:ln/>
        </p:spPr>
      </p:sp>
      <p:pic>
        <p:nvPicPr>
          <p:cNvPr id="13" name="Image 1" descr="FaCubes">    </p:cNvPr>
          <p:cNvPicPr>
            <a:picLocks noChangeAspect="1"/>
          </p:cNvPicPr>
          <p:nvPr/>
        </p:nvPicPr>
        <p:blipFill>
          <a:blip r:embed="rId2"/>
          <a:stretch>
            <a:fillRect/>
          </a:stretch>
        </p:blipFill>
        <p:spPr>
          <a:xfrm>
            <a:off x="3520440" y="1828800"/>
            <a:ext cx="237744" cy="237744"/>
          </a:xfrm>
          <a:prstGeom prst="rect">
            <a:avLst/>
          </a:prstGeom>
        </p:spPr>
      </p:pic>
      <p:sp>
        <p:nvSpPr>
          <p:cNvPr id="14" name="Text 9"/>
          <p:cNvSpPr txBox="1"/>
          <p:nvPr/>
        </p:nvSpPr>
        <p:spPr>
          <a:xfrm>
            <a:off x="3995928" y="171907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Deployments</a:t>
            </a:r>
            <a:endParaRPr lang="en-US" sz="1600" dirty="0"/>
          </a:p>
        </p:txBody>
      </p:sp>
      <p:sp>
        <p:nvSpPr>
          <p:cNvPr id="15" name="Text 10"/>
          <p:cNvSpPr txBox="1"/>
          <p:nvPr/>
        </p:nvSpPr>
        <p:spPr>
          <a:xfrm>
            <a:off x="3410712" y="2304288"/>
            <a:ext cx="2322576" cy="576072"/>
          </a:xfrm>
          <a:prstGeom prst="rect">
            <a:avLst/>
          </a:prstGeom>
          <a:noFill/>
          <a:ln/>
        </p:spPr>
        <p:txBody>
          <a:bodyPr wrap="square" lIns="0" tIns="0" rIns="0" bIns="0" rtlCol="0" anchor="t"/>
          <a:lstStyle/>
          <a:p>
            <a:pPr indent="0" marL="0">
              <a:buNone/>
            </a:pPr>
            <a:r>
              <a:rPr lang="en-US" sz="1300" dirty="0">
                <a:solidFill>
                  <a:schemeClr val="tx2"/>
                </a:solidFill>
              </a:rPr>
              <a:t>Backend x2 and frontend x2, self-healing</a:t>
            </a:r>
            <a:endParaRPr lang="en-US" sz="1300" dirty="0"/>
          </a:p>
        </p:txBody>
      </p:sp>
      <p:sp>
        <p:nvSpPr>
          <p:cNvPr id="16" name="card Services"/>
          <p:cNvSpPr/>
          <p:nvPr/>
        </p:nvSpPr>
        <p:spPr>
          <a:xfrm>
            <a:off x="6035040" y="1554480"/>
            <a:ext cx="2651760" cy="1417320"/>
          </a:xfrm>
          <a:prstGeom prst="roundRect">
            <a:avLst>
              <a:gd name="adj" fmla="val 5161"/>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7" name="Shape 12"/>
          <p:cNvSpPr/>
          <p:nvPr/>
        </p:nvSpPr>
        <p:spPr>
          <a:xfrm>
            <a:off x="6199632" y="1719072"/>
            <a:ext cx="457200" cy="457200"/>
          </a:xfrm>
          <a:prstGeom prst="ellipse">
            <a:avLst/>
          </a:prstGeom>
          <a:solidFill>
            <a:schemeClr val="accent3"/>
          </a:solidFill>
          <a:ln/>
        </p:spPr>
      </p:sp>
      <p:pic>
        <p:nvPicPr>
          <p:cNvPr id="18" name="Image 2" descr="FaNetworkWired">    </p:cNvPr>
          <p:cNvPicPr>
            <a:picLocks noChangeAspect="1"/>
          </p:cNvPicPr>
          <p:nvPr/>
        </p:nvPicPr>
        <p:blipFill>
          <a:blip r:embed="rId3"/>
          <a:stretch>
            <a:fillRect/>
          </a:stretch>
        </p:blipFill>
        <p:spPr>
          <a:xfrm>
            <a:off x="6309360" y="1828800"/>
            <a:ext cx="237744" cy="237744"/>
          </a:xfrm>
          <a:prstGeom prst="rect">
            <a:avLst/>
          </a:prstGeom>
        </p:spPr>
      </p:pic>
      <p:sp>
        <p:nvSpPr>
          <p:cNvPr id="19" name="Text 13"/>
          <p:cNvSpPr txBox="1"/>
          <p:nvPr/>
        </p:nvSpPr>
        <p:spPr>
          <a:xfrm>
            <a:off x="6784848" y="171907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Services</a:t>
            </a:r>
            <a:endParaRPr lang="en-US" sz="1600" dirty="0"/>
          </a:p>
        </p:txBody>
      </p:sp>
      <p:sp>
        <p:nvSpPr>
          <p:cNvPr id="20" name="Text 14"/>
          <p:cNvSpPr txBox="1"/>
          <p:nvPr/>
        </p:nvSpPr>
        <p:spPr>
          <a:xfrm>
            <a:off x="6199632" y="2304288"/>
            <a:ext cx="2322576" cy="576072"/>
          </a:xfrm>
          <a:prstGeom prst="rect">
            <a:avLst/>
          </a:prstGeom>
          <a:noFill/>
          <a:ln/>
        </p:spPr>
        <p:txBody>
          <a:bodyPr wrap="square" lIns="0" tIns="0" rIns="0" bIns="0" rtlCol="0" anchor="t"/>
          <a:lstStyle/>
          <a:p>
            <a:pPr indent="0" marL="0">
              <a:buNone/>
            </a:pPr>
            <a:r>
              <a:rPr lang="en-US" sz="1300" dirty="0">
                <a:solidFill>
                  <a:schemeClr val="tx2"/>
                </a:solidFill>
              </a:rPr>
              <a:t>ClusterIP gives stable internal names</a:t>
            </a:r>
            <a:endParaRPr lang="en-US" sz="1300" dirty="0"/>
          </a:p>
        </p:txBody>
      </p:sp>
      <p:sp>
        <p:nvSpPr>
          <p:cNvPr id="21" name="card Ingress"/>
          <p:cNvSpPr/>
          <p:nvPr/>
        </p:nvSpPr>
        <p:spPr>
          <a:xfrm>
            <a:off x="457200" y="3108960"/>
            <a:ext cx="2651760" cy="1417320"/>
          </a:xfrm>
          <a:prstGeom prst="roundRect">
            <a:avLst>
              <a:gd name="adj" fmla="val 5161"/>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22" name="Shape 16"/>
          <p:cNvSpPr/>
          <p:nvPr/>
        </p:nvSpPr>
        <p:spPr>
          <a:xfrm>
            <a:off x="621792" y="3273552"/>
            <a:ext cx="457200" cy="457200"/>
          </a:xfrm>
          <a:prstGeom prst="ellipse">
            <a:avLst/>
          </a:prstGeom>
          <a:solidFill>
            <a:schemeClr val="accent4"/>
          </a:solidFill>
          <a:ln/>
        </p:spPr>
      </p:sp>
      <p:pic>
        <p:nvPicPr>
          <p:cNvPr id="23" name="Image 3" descr="FaRoute">    </p:cNvPr>
          <p:cNvPicPr>
            <a:picLocks noChangeAspect="1"/>
          </p:cNvPicPr>
          <p:nvPr/>
        </p:nvPicPr>
        <p:blipFill>
          <a:blip r:embed="rId4"/>
          <a:stretch>
            <a:fillRect/>
          </a:stretch>
        </p:blipFill>
        <p:spPr>
          <a:xfrm>
            <a:off x="731520" y="3383280"/>
            <a:ext cx="237744" cy="237744"/>
          </a:xfrm>
          <a:prstGeom prst="rect">
            <a:avLst/>
          </a:prstGeom>
        </p:spPr>
      </p:pic>
      <p:sp>
        <p:nvSpPr>
          <p:cNvPr id="24" name="Text 17"/>
          <p:cNvSpPr txBox="1"/>
          <p:nvPr/>
        </p:nvSpPr>
        <p:spPr>
          <a:xfrm>
            <a:off x="1207008" y="327355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Ingress</a:t>
            </a:r>
            <a:endParaRPr lang="en-US" sz="1600" dirty="0"/>
          </a:p>
        </p:txBody>
      </p:sp>
      <p:sp>
        <p:nvSpPr>
          <p:cNvPr id="25" name="Text 18"/>
          <p:cNvSpPr txBox="1"/>
          <p:nvPr/>
        </p:nvSpPr>
        <p:spPr>
          <a:xfrm>
            <a:off x="621792" y="3858768"/>
            <a:ext cx="2322576" cy="576072"/>
          </a:xfrm>
          <a:prstGeom prst="rect">
            <a:avLst/>
          </a:prstGeom>
          <a:noFill/>
          <a:ln/>
        </p:spPr>
        <p:txBody>
          <a:bodyPr wrap="square" lIns="0" tIns="0" rIns="0" bIns="0" rtlCol="0" anchor="t"/>
          <a:lstStyle/>
          <a:p>
            <a:pPr indent="0" marL="0">
              <a:buNone/>
            </a:pPr>
            <a:r>
              <a:rPr lang="en-US" sz="1300" dirty="0">
                <a:solidFill>
                  <a:schemeClr val="tx2"/>
                </a:solidFill>
              </a:rPr>
              <a:t>/ goes to the frontend, /api to the backend</a:t>
            </a:r>
            <a:endParaRPr lang="en-US" sz="1300" dirty="0"/>
          </a:p>
        </p:txBody>
      </p:sp>
      <p:sp>
        <p:nvSpPr>
          <p:cNvPr id="26" name="card PostgreSQL"/>
          <p:cNvSpPr/>
          <p:nvPr/>
        </p:nvSpPr>
        <p:spPr>
          <a:xfrm>
            <a:off x="3246120" y="3108960"/>
            <a:ext cx="2651760" cy="1417320"/>
          </a:xfrm>
          <a:prstGeom prst="roundRect">
            <a:avLst>
              <a:gd name="adj" fmla="val 5161"/>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27" name="Shape 20"/>
          <p:cNvSpPr/>
          <p:nvPr/>
        </p:nvSpPr>
        <p:spPr>
          <a:xfrm>
            <a:off x="3410712" y="3273552"/>
            <a:ext cx="457200" cy="457200"/>
          </a:xfrm>
          <a:prstGeom prst="ellipse">
            <a:avLst/>
          </a:prstGeom>
          <a:solidFill>
            <a:schemeClr val="accent6"/>
          </a:solidFill>
          <a:ln/>
        </p:spPr>
      </p:sp>
      <p:pic>
        <p:nvPicPr>
          <p:cNvPr id="28" name="Image 4" descr="FaDatabase">    </p:cNvPr>
          <p:cNvPicPr>
            <a:picLocks noChangeAspect="1"/>
          </p:cNvPicPr>
          <p:nvPr/>
        </p:nvPicPr>
        <p:blipFill>
          <a:blip r:embed="rId5"/>
          <a:stretch>
            <a:fillRect/>
          </a:stretch>
        </p:blipFill>
        <p:spPr>
          <a:xfrm>
            <a:off x="3520440" y="3383280"/>
            <a:ext cx="237744" cy="237744"/>
          </a:xfrm>
          <a:prstGeom prst="rect">
            <a:avLst/>
          </a:prstGeom>
        </p:spPr>
      </p:pic>
      <p:sp>
        <p:nvSpPr>
          <p:cNvPr id="29" name="Text 21"/>
          <p:cNvSpPr txBox="1"/>
          <p:nvPr/>
        </p:nvSpPr>
        <p:spPr>
          <a:xfrm>
            <a:off x="3995928" y="327355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PostgreSQL</a:t>
            </a:r>
            <a:endParaRPr lang="en-US" sz="1600" dirty="0"/>
          </a:p>
        </p:txBody>
      </p:sp>
      <p:sp>
        <p:nvSpPr>
          <p:cNvPr id="30" name="Text 22"/>
          <p:cNvSpPr txBox="1"/>
          <p:nvPr/>
        </p:nvSpPr>
        <p:spPr>
          <a:xfrm>
            <a:off x="3410712" y="3858768"/>
            <a:ext cx="2322576" cy="576072"/>
          </a:xfrm>
          <a:prstGeom prst="rect">
            <a:avLst/>
          </a:prstGeom>
          <a:noFill/>
          <a:ln/>
        </p:spPr>
        <p:txBody>
          <a:bodyPr wrap="square" lIns="0" tIns="0" rIns="0" bIns="0" rtlCol="0" anchor="t"/>
          <a:lstStyle/>
          <a:p>
            <a:pPr indent="0" marL="0">
              <a:buNone/>
            </a:pPr>
            <a:r>
              <a:rPr lang="en-US" sz="1300" dirty="0">
                <a:solidFill>
                  <a:schemeClr val="tx2"/>
                </a:solidFill>
              </a:rPr>
              <a:t>StatefulSet with a 2 GiB EBS volume</a:t>
            </a:r>
            <a:endParaRPr lang="en-US" sz="1300" dirty="0"/>
          </a:p>
        </p:txBody>
      </p:sp>
      <p:sp>
        <p:nvSpPr>
          <p:cNvPr id="31" name="card Autoscaling"/>
          <p:cNvSpPr/>
          <p:nvPr/>
        </p:nvSpPr>
        <p:spPr>
          <a:xfrm>
            <a:off x="6035040" y="3108960"/>
            <a:ext cx="2651760" cy="1417320"/>
          </a:xfrm>
          <a:prstGeom prst="roundRect">
            <a:avLst>
              <a:gd name="adj" fmla="val 5161"/>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32" name="Shape 24"/>
          <p:cNvSpPr/>
          <p:nvPr/>
        </p:nvSpPr>
        <p:spPr>
          <a:xfrm>
            <a:off x="6199632" y="3273552"/>
            <a:ext cx="457200" cy="457200"/>
          </a:xfrm>
          <a:prstGeom prst="ellipse">
            <a:avLst/>
          </a:prstGeom>
          <a:solidFill>
            <a:schemeClr val="accent5"/>
          </a:solidFill>
          <a:ln/>
        </p:spPr>
      </p:sp>
      <p:pic>
        <p:nvPicPr>
          <p:cNvPr id="33" name="Image 5" descr="FaExpandArrowsAlt">    </p:cNvPr>
          <p:cNvPicPr>
            <a:picLocks noChangeAspect="1"/>
          </p:cNvPicPr>
          <p:nvPr/>
        </p:nvPicPr>
        <p:blipFill>
          <a:blip r:embed="rId6"/>
          <a:stretch>
            <a:fillRect/>
          </a:stretch>
        </p:blipFill>
        <p:spPr>
          <a:xfrm>
            <a:off x="6309360" y="3383280"/>
            <a:ext cx="237744" cy="237744"/>
          </a:xfrm>
          <a:prstGeom prst="rect">
            <a:avLst/>
          </a:prstGeom>
        </p:spPr>
      </p:pic>
      <p:sp>
        <p:nvSpPr>
          <p:cNvPr id="34" name="Text 25"/>
          <p:cNvSpPr txBox="1"/>
          <p:nvPr/>
        </p:nvSpPr>
        <p:spPr>
          <a:xfrm>
            <a:off x="6784848" y="327355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Autoscaling</a:t>
            </a:r>
            <a:endParaRPr lang="en-US" sz="1600" dirty="0"/>
          </a:p>
        </p:txBody>
      </p:sp>
      <p:sp>
        <p:nvSpPr>
          <p:cNvPr id="35" name="Text 26"/>
          <p:cNvSpPr txBox="1"/>
          <p:nvPr/>
        </p:nvSpPr>
        <p:spPr>
          <a:xfrm>
            <a:off x="6199632" y="3858768"/>
            <a:ext cx="2322576" cy="576072"/>
          </a:xfrm>
          <a:prstGeom prst="rect">
            <a:avLst/>
          </a:prstGeom>
          <a:noFill/>
          <a:ln/>
        </p:spPr>
        <p:txBody>
          <a:bodyPr wrap="square" lIns="0" tIns="0" rIns="0" bIns="0" rtlCol="0" anchor="t"/>
          <a:lstStyle/>
          <a:p>
            <a:pPr indent="0" marL="0">
              <a:buNone/>
            </a:pPr>
            <a:r>
              <a:rPr lang="en-US" sz="1300" dirty="0">
                <a:solidFill>
                  <a:schemeClr val="tx2"/>
                </a:solidFill>
              </a:rPr>
              <a:t>HPA scales the backend from 2 to 4 pods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RUNNING AND WATCHING</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What is running</a:t>
            </a:r>
            <a:endParaRPr lang="en-US" sz="3200" dirty="0"/>
          </a:p>
        </p:txBody>
      </p:sp>
      <p:sp>
        <p:nvSpPr>
          <p:cNvPr id="5" name="frame 08-pods"/>
          <p:cNvSpPr/>
          <p:nvPr/>
        </p:nvSpPr>
        <p:spPr>
          <a:xfrm>
            <a:off x="917216" y="1143000"/>
            <a:ext cx="7309567" cy="1143000"/>
          </a:xfrm>
          <a:prstGeom prst="roundRect">
            <a:avLst>
              <a:gd name="adj" fmla="val 4800"/>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6" name="08-pods" descr="kubectl get pods: all 5 pods Running">    </p:cNvPr>
          <p:cNvPicPr>
            <a:picLocks noChangeAspect="1"/>
          </p:cNvPicPr>
          <p:nvPr/>
        </p:nvPicPr>
        <p:blipFill>
          <a:blip r:embed="rId1"/>
          <a:stretch>
            <a:fillRect/>
          </a:stretch>
        </p:blipFill>
        <p:spPr>
          <a:xfrm>
            <a:off x="972080" y="1197864"/>
            <a:ext cx="7199839" cy="1033272"/>
          </a:xfrm>
          <a:prstGeom prst="rect">
            <a:avLst/>
          </a:prstGeom>
        </p:spPr>
      </p:pic>
      <p:sp>
        <p:nvSpPr>
          <p:cNvPr id="7" name="Text 3"/>
          <p:cNvSpPr txBox="1"/>
          <p:nvPr/>
        </p:nvSpPr>
        <p:spPr>
          <a:xfrm>
            <a:off x="457200" y="2313432"/>
            <a:ext cx="8229600" cy="228600"/>
          </a:xfrm>
          <a:prstGeom prst="rect">
            <a:avLst/>
          </a:prstGeom>
          <a:noFill/>
          <a:ln/>
        </p:spPr>
        <p:txBody>
          <a:bodyPr wrap="square" lIns="0" tIns="0" rIns="0" bIns="0" rtlCol="0" anchor="ctr"/>
          <a:lstStyle/>
          <a:p>
            <a:pPr algn="ctr" indent="0" marL="0">
              <a:buNone/>
            </a:pPr>
            <a:r>
              <a:rPr lang="en-US" sz="1100" dirty="0">
                <a:solidFill>
                  <a:schemeClr val="tx2"/>
                </a:solidFill>
              </a:rPr>
              <a:t>kubectl get pods: all 5 pods Running</a:t>
            </a:r>
            <a:endParaRPr lang="en-US" sz="1100" dirty="0"/>
          </a:p>
        </p:txBody>
      </p:sp>
      <p:sp>
        <p:nvSpPr>
          <p:cNvPr id="8" name="frame 08-svc"/>
          <p:cNvSpPr/>
          <p:nvPr/>
        </p:nvSpPr>
        <p:spPr>
          <a:xfrm>
            <a:off x="1012626" y="2651760"/>
            <a:ext cx="7118748" cy="960120"/>
          </a:xfrm>
          <a:prstGeom prst="roundRect">
            <a:avLst>
              <a:gd name="adj" fmla="val 5714"/>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9" name="08-svc" descr="kubectl get svc: 3 ClusterIP services">    </p:cNvPr>
          <p:cNvPicPr>
            <a:picLocks noChangeAspect="1"/>
          </p:cNvPicPr>
          <p:nvPr/>
        </p:nvPicPr>
        <p:blipFill>
          <a:blip r:embed="rId2"/>
          <a:stretch>
            <a:fillRect/>
          </a:stretch>
        </p:blipFill>
        <p:spPr>
          <a:xfrm>
            <a:off x="1067490" y="2706624"/>
            <a:ext cx="7009020" cy="850392"/>
          </a:xfrm>
          <a:prstGeom prst="rect">
            <a:avLst/>
          </a:prstGeom>
        </p:spPr>
      </p:pic>
      <p:sp>
        <p:nvSpPr>
          <p:cNvPr id="10" name="Text 5"/>
          <p:cNvSpPr txBox="1"/>
          <p:nvPr/>
        </p:nvSpPr>
        <p:spPr>
          <a:xfrm>
            <a:off x="457200" y="3639312"/>
            <a:ext cx="8229600" cy="228600"/>
          </a:xfrm>
          <a:prstGeom prst="rect">
            <a:avLst/>
          </a:prstGeom>
          <a:noFill/>
          <a:ln/>
        </p:spPr>
        <p:txBody>
          <a:bodyPr wrap="square" lIns="0" tIns="0" rIns="0" bIns="0" rtlCol="0" anchor="ctr"/>
          <a:lstStyle/>
          <a:p>
            <a:pPr algn="ctr" indent="0" marL="0">
              <a:buNone/>
            </a:pPr>
            <a:r>
              <a:rPr lang="en-US" sz="1100" dirty="0">
                <a:solidFill>
                  <a:schemeClr val="tx2"/>
                </a:solidFill>
              </a:rPr>
              <a:t>kubectl get svc: 3 ClusterIP services</a:t>
            </a:r>
            <a:endParaRPr lang="en-US" sz="1100" dirty="0"/>
          </a:p>
        </p:txBody>
      </p:sp>
      <p:sp>
        <p:nvSpPr>
          <p:cNvPr id="11" name="frame 08-helm-list"/>
          <p:cNvSpPr/>
          <p:nvPr/>
        </p:nvSpPr>
        <p:spPr>
          <a:xfrm>
            <a:off x="1686154" y="3931920"/>
            <a:ext cx="5771693" cy="502920"/>
          </a:xfrm>
          <a:prstGeom prst="roundRect">
            <a:avLst>
              <a:gd name="adj" fmla="val 10909"/>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2" name="08-helm-list" descr="helm list: release deployed">    </p:cNvPr>
          <p:cNvPicPr>
            <a:picLocks noChangeAspect="1"/>
          </p:cNvPicPr>
          <p:nvPr/>
        </p:nvPicPr>
        <p:blipFill>
          <a:blip r:embed="rId3"/>
          <a:stretch>
            <a:fillRect/>
          </a:stretch>
        </p:blipFill>
        <p:spPr>
          <a:xfrm>
            <a:off x="1741018" y="3986784"/>
            <a:ext cx="5661965" cy="393192"/>
          </a:xfrm>
          <a:prstGeom prst="rect">
            <a:avLst/>
          </a:prstGeom>
        </p:spPr>
      </p:pic>
      <p:sp>
        <p:nvSpPr>
          <p:cNvPr id="13" name="Text 7"/>
          <p:cNvSpPr txBox="1"/>
          <p:nvPr/>
        </p:nvSpPr>
        <p:spPr>
          <a:xfrm>
            <a:off x="457200" y="4462272"/>
            <a:ext cx="8229600" cy="228600"/>
          </a:xfrm>
          <a:prstGeom prst="rect">
            <a:avLst/>
          </a:prstGeom>
          <a:noFill/>
          <a:ln/>
        </p:spPr>
        <p:txBody>
          <a:bodyPr wrap="square" lIns="0" tIns="0" rIns="0" bIns="0" rtlCol="0" anchor="ctr"/>
          <a:lstStyle/>
          <a:p>
            <a:pPr algn="ctr" indent="0" marL="0">
              <a:buNone/>
            </a:pPr>
            <a:r>
              <a:rPr lang="en-US" sz="1100" dirty="0">
                <a:solidFill>
                  <a:schemeClr val="tx2"/>
                </a:solidFill>
              </a:rPr>
              <a:t>helm list: release deployed</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RUNNING AND WATCHING</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Live on EKS</a:t>
            </a:r>
            <a:endParaRPr lang="en-US" sz="3200" dirty="0"/>
          </a:p>
        </p:txBody>
      </p:sp>
      <p:sp>
        <p:nvSpPr>
          <p:cNvPr id="5" name="frame 08-ingress-browser"/>
          <p:cNvSpPr/>
          <p:nvPr/>
        </p:nvSpPr>
        <p:spPr>
          <a:xfrm>
            <a:off x="457200" y="1143000"/>
            <a:ext cx="5120640" cy="3088437"/>
          </a:xfrm>
          <a:prstGeom prst="roundRect">
            <a:avLst>
              <a:gd name="adj" fmla="val 1776"/>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6" name="08-ingress-browser" descr="HelpDesk served from the AWS load balancer">    </p:cNvPr>
          <p:cNvPicPr>
            <a:picLocks noChangeAspect="1"/>
          </p:cNvPicPr>
          <p:nvPr/>
        </p:nvPicPr>
        <p:blipFill>
          <a:blip r:embed="rId1"/>
          <a:stretch>
            <a:fillRect/>
          </a:stretch>
        </p:blipFill>
        <p:spPr>
          <a:xfrm>
            <a:off x="512064" y="1197864"/>
            <a:ext cx="5010912" cy="2978709"/>
          </a:xfrm>
          <a:prstGeom prst="rect">
            <a:avLst/>
          </a:prstGeom>
        </p:spPr>
      </p:pic>
      <p:sp>
        <p:nvSpPr>
          <p:cNvPr id="7" name="Text 3"/>
          <p:cNvSpPr txBox="1"/>
          <p:nvPr/>
        </p:nvSpPr>
        <p:spPr>
          <a:xfrm>
            <a:off x="457200" y="4258869"/>
            <a:ext cx="5120640" cy="228600"/>
          </a:xfrm>
          <a:prstGeom prst="rect">
            <a:avLst/>
          </a:prstGeom>
          <a:noFill/>
          <a:ln/>
        </p:spPr>
        <p:txBody>
          <a:bodyPr wrap="square" lIns="0" tIns="0" rIns="0" bIns="0" rtlCol="0" anchor="ctr"/>
          <a:lstStyle/>
          <a:p>
            <a:pPr algn="ctr" indent="0" marL="0">
              <a:buNone/>
            </a:pPr>
            <a:r>
              <a:rPr lang="en-US" sz="1100" dirty="0">
                <a:solidFill>
                  <a:schemeClr val="tx2"/>
                </a:solidFill>
              </a:rPr>
              <a:t>HelpDesk served from the AWS load balancer</a:t>
            </a:r>
            <a:endParaRPr lang="en-US" sz="1100" dirty="0"/>
          </a:p>
        </p:txBody>
      </p:sp>
      <p:sp>
        <p:nvSpPr>
          <p:cNvPr id="8" name="Shape 4"/>
          <p:cNvSpPr/>
          <p:nvPr/>
        </p:nvSpPr>
        <p:spPr>
          <a:xfrm>
            <a:off x="5806440" y="1188720"/>
            <a:ext cx="2880360" cy="457200"/>
          </a:xfrm>
          <a:prstGeom prst="roundRect">
            <a:avLst>
              <a:gd name="adj" fmla="val 50000"/>
            </a:avLst>
          </a:prstGeom>
          <a:solidFill>
            <a:schemeClr val="tx2"/>
          </a:solidFill>
          <a:ln/>
        </p:spPr>
      </p:sp>
      <p:sp>
        <p:nvSpPr>
          <p:cNvPr id="9" name="Text 5"/>
          <p:cNvSpPr txBox="1"/>
          <p:nvPr/>
        </p:nvSpPr>
        <p:spPr>
          <a:xfrm>
            <a:off x="5806440" y="1188720"/>
            <a:ext cx="2880360" cy="457200"/>
          </a:xfrm>
          <a:prstGeom prst="rect">
            <a:avLst/>
          </a:prstGeom>
          <a:noFill/>
          <a:ln/>
        </p:spPr>
        <p:txBody>
          <a:bodyPr wrap="square" lIns="0" tIns="0" rIns="0" bIns="0" rtlCol="0" anchor="ctr"/>
          <a:lstStyle/>
          <a:p>
            <a:pPr algn="ctr" indent="0" marL="0">
              <a:buNone/>
            </a:pPr>
            <a:r>
              <a:rPr lang="en-US" sz="1400" b="1" dirty="0">
                <a:solidFill>
                  <a:schemeClr val="bg1"/>
                </a:solidFill>
              </a:rPr>
              <a:t>Browser</a:t>
            </a:r>
            <a:endParaRPr lang="en-US" sz="1400" dirty="0"/>
          </a:p>
        </p:txBody>
      </p:sp>
      <p:sp>
        <p:nvSpPr>
          <p:cNvPr id="10" name="Shape 6"/>
          <p:cNvSpPr/>
          <p:nvPr/>
        </p:nvSpPr>
        <p:spPr>
          <a:xfrm>
            <a:off x="7246620" y="1664208"/>
            <a:ext cx="0" cy="219456"/>
          </a:xfrm>
          <a:prstGeom prst="line">
            <a:avLst/>
          </a:prstGeom>
          <a:noFill/>
          <a:ln w="25400">
            <a:solidFill>
              <a:srgbClr val="94A3B8"/>
            </a:solidFill>
            <a:prstDash val="solid"/>
            <a:tailEnd type="triangle"/>
          </a:ln>
        </p:spPr>
      </p:sp>
      <p:sp>
        <p:nvSpPr>
          <p:cNvPr id="11" name="Shape 7"/>
          <p:cNvSpPr/>
          <p:nvPr/>
        </p:nvSpPr>
        <p:spPr>
          <a:xfrm>
            <a:off x="5806440" y="1901952"/>
            <a:ext cx="2880360" cy="457200"/>
          </a:xfrm>
          <a:prstGeom prst="roundRect">
            <a:avLst>
              <a:gd name="adj" fmla="val 50000"/>
            </a:avLst>
          </a:prstGeom>
          <a:solidFill>
            <a:schemeClr val="accent2"/>
          </a:solidFill>
          <a:ln/>
        </p:spPr>
      </p:sp>
      <p:sp>
        <p:nvSpPr>
          <p:cNvPr id="12" name="Text 8"/>
          <p:cNvSpPr txBox="1"/>
          <p:nvPr/>
        </p:nvSpPr>
        <p:spPr>
          <a:xfrm>
            <a:off x="5806440" y="1901952"/>
            <a:ext cx="2880360" cy="457200"/>
          </a:xfrm>
          <a:prstGeom prst="rect">
            <a:avLst/>
          </a:prstGeom>
          <a:noFill/>
          <a:ln/>
        </p:spPr>
        <p:txBody>
          <a:bodyPr wrap="square" lIns="0" tIns="0" rIns="0" bIns="0" rtlCol="0" anchor="ctr"/>
          <a:lstStyle/>
          <a:p>
            <a:pPr algn="ctr" indent="0" marL="0">
              <a:buNone/>
            </a:pPr>
            <a:r>
              <a:rPr lang="en-US" sz="1400" b="1" dirty="0">
                <a:solidFill>
                  <a:schemeClr val="bg1"/>
                </a:solidFill>
              </a:rPr>
              <a:t>Load balancer</a:t>
            </a:r>
            <a:endParaRPr lang="en-US" sz="1400" dirty="0"/>
          </a:p>
        </p:txBody>
      </p:sp>
      <p:sp>
        <p:nvSpPr>
          <p:cNvPr id="13" name="Shape 9"/>
          <p:cNvSpPr/>
          <p:nvPr/>
        </p:nvSpPr>
        <p:spPr>
          <a:xfrm>
            <a:off x="7246620" y="2377440"/>
            <a:ext cx="0" cy="219456"/>
          </a:xfrm>
          <a:prstGeom prst="line">
            <a:avLst/>
          </a:prstGeom>
          <a:noFill/>
          <a:ln w="25400">
            <a:solidFill>
              <a:srgbClr val="94A3B8"/>
            </a:solidFill>
            <a:prstDash val="solid"/>
            <a:tailEnd type="triangle"/>
          </a:ln>
        </p:spPr>
      </p:sp>
      <p:sp>
        <p:nvSpPr>
          <p:cNvPr id="14" name="Shape 10"/>
          <p:cNvSpPr/>
          <p:nvPr/>
        </p:nvSpPr>
        <p:spPr>
          <a:xfrm>
            <a:off x="5806440" y="2615184"/>
            <a:ext cx="2880360" cy="457200"/>
          </a:xfrm>
          <a:prstGeom prst="roundRect">
            <a:avLst>
              <a:gd name="adj" fmla="val 50000"/>
            </a:avLst>
          </a:prstGeom>
          <a:solidFill>
            <a:schemeClr val="accent4"/>
          </a:solidFill>
          <a:ln/>
        </p:spPr>
      </p:sp>
      <p:sp>
        <p:nvSpPr>
          <p:cNvPr id="15" name="Text 11"/>
          <p:cNvSpPr txBox="1"/>
          <p:nvPr/>
        </p:nvSpPr>
        <p:spPr>
          <a:xfrm>
            <a:off x="5806440" y="2615184"/>
            <a:ext cx="2880360" cy="457200"/>
          </a:xfrm>
          <a:prstGeom prst="rect">
            <a:avLst/>
          </a:prstGeom>
          <a:noFill/>
          <a:ln/>
        </p:spPr>
        <p:txBody>
          <a:bodyPr wrap="square" lIns="0" tIns="0" rIns="0" bIns="0" rtlCol="0" anchor="ctr"/>
          <a:lstStyle/>
          <a:p>
            <a:pPr algn="ctr" indent="0" marL="0">
              <a:buNone/>
            </a:pPr>
            <a:r>
              <a:rPr lang="en-US" sz="1400" b="1" dirty="0">
                <a:solidFill>
                  <a:schemeClr val="bg1"/>
                </a:solidFill>
              </a:rPr>
              <a:t>Ingress</a:t>
            </a:r>
            <a:endParaRPr lang="en-US" sz="1400" dirty="0"/>
          </a:p>
        </p:txBody>
      </p:sp>
      <p:sp>
        <p:nvSpPr>
          <p:cNvPr id="16" name="Shape 12"/>
          <p:cNvSpPr/>
          <p:nvPr/>
        </p:nvSpPr>
        <p:spPr>
          <a:xfrm>
            <a:off x="7246620" y="3090672"/>
            <a:ext cx="0" cy="219456"/>
          </a:xfrm>
          <a:prstGeom prst="line">
            <a:avLst/>
          </a:prstGeom>
          <a:noFill/>
          <a:ln w="25400">
            <a:solidFill>
              <a:srgbClr val="94A3B8"/>
            </a:solidFill>
            <a:prstDash val="solid"/>
            <a:tailEnd type="triangle"/>
          </a:ln>
        </p:spPr>
      </p:sp>
      <p:sp>
        <p:nvSpPr>
          <p:cNvPr id="17" name="Shape 13"/>
          <p:cNvSpPr/>
          <p:nvPr/>
        </p:nvSpPr>
        <p:spPr>
          <a:xfrm>
            <a:off x="5806440" y="3328416"/>
            <a:ext cx="2880360" cy="457200"/>
          </a:xfrm>
          <a:prstGeom prst="roundRect">
            <a:avLst>
              <a:gd name="adj" fmla="val 50000"/>
            </a:avLst>
          </a:prstGeom>
          <a:solidFill>
            <a:schemeClr val="accent1"/>
          </a:solidFill>
          <a:ln/>
        </p:spPr>
      </p:sp>
      <p:sp>
        <p:nvSpPr>
          <p:cNvPr id="18" name="Text 14"/>
          <p:cNvSpPr txBox="1"/>
          <p:nvPr/>
        </p:nvSpPr>
        <p:spPr>
          <a:xfrm>
            <a:off x="5806440" y="3328416"/>
            <a:ext cx="2880360" cy="457200"/>
          </a:xfrm>
          <a:prstGeom prst="rect">
            <a:avLst/>
          </a:prstGeom>
          <a:noFill/>
          <a:ln/>
        </p:spPr>
        <p:txBody>
          <a:bodyPr wrap="square" lIns="0" tIns="0" rIns="0" bIns="0" rtlCol="0" anchor="ctr"/>
          <a:lstStyle/>
          <a:p>
            <a:pPr algn="ctr" indent="0" marL="0">
              <a:buNone/>
            </a:pPr>
            <a:r>
              <a:rPr lang="en-US" sz="1400" b="1" dirty="0">
                <a:solidFill>
                  <a:schemeClr val="bg1"/>
                </a:solidFill>
              </a:rPr>
              <a:t>Frontend / Backend</a:t>
            </a:r>
            <a:endParaRPr lang="en-US" sz="1400" dirty="0"/>
          </a:p>
        </p:txBody>
      </p:sp>
      <p:sp>
        <p:nvSpPr>
          <p:cNvPr id="19" name="Shape 15"/>
          <p:cNvSpPr/>
          <p:nvPr/>
        </p:nvSpPr>
        <p:spPr>
          <a:xfrm>
            <a:off x="7246620" y="3803904"/>
            <a:ext cx="0" cy="219456"/>
          </a:xfrm>
          <a:prstGeom prst="line">
            <a:avLst/>
          </a:prstGeom>
          <a:noFill/>
          <a:ln w="25400">
            <a:solidFill>
              <a:srgbClr val="94A3B8"/>
            </a:solidFill>
            <a:prstDash val="solid"/>
            <a:tailEnd type="triangle"/>
          </a:ln>
        </p:spPr>
      </p:sp>
      <p:sp>
        <p:nvSpPr>
          <p:cNvPr id="20" name="Shape 16"/>
          <p:cNvSpPr/>
          <p:nvPr/>
        </p:nvSpPr>
        <p:spPr>
          <a:xfrm>
            <a:off x="5806440" y="4041648"/>
            <a:ext cx="2880360" cy="457200"/>
          </a:xfrm>
          <a:prstGeom prst="roundRect">
            <a:avLst>
              <a:gd name="adj" fmla="val 50000"/>
            </a:avLst>
          </a:prstGeom>
          <a:solidFill>
            <a:schemeClr val="accent3"/>
          </a:solidFill>
          <a:ln/>
        </p:spPr>
      </p:sp>
      <p:sp>
        <p:nvSpPr>
          <p:cNvPr id="21" name="Text 17"/>
          <p:cNvSpPr txBox="1"/>
          <p:nvPr/>
        </p:nvSpPr>
        <p:spPr>
          <a:xfrm>
            <a:off x="5806440" y="4041648"/>
            <a:ext cx="2880360" cy="457200"/>
          </a:xfrm>
          <a:prstGeom prst="rect">
            <a:avLst/>
          </a:prstGeom>
          <a:noFill/>
          <a:ln/>
        </p:spPr>
        <p:txBody>
          <a:bodyPr wrap="square" lIns="0" tIns="0" rIns="0" bIns="0" rtlCol="0" anchor="ctr"/>
          <a:lstStyle/>
          <a:p>
            <a:pPr algn="ctr" indent="0" marL="0">
              <a:buNone/>
            </a:pPr>
            <a:r>
              <a:rPr lang="en-US" sz="1400" b="1" dirty="0">
                <a:solidFill>
                  <a:schemeClr val="bg1"/>
                </a:solidFill>
              </a:rPr>
              <a:t>PostgreSQL</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RUNNING AND WATCHING</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Observability: metrics</a:t>
            </a:r>
            <a:endParaRPr lang="en-US" sz="3200" dirty="0"/>
          </a:p>
        </p:txBody>
      </p:sp>
      <p:sp>
        <p:nvSpPr>
          <p:cNvPr id="5" name="Shape 2"/>
          <p:cNvSpPr/>
          <p:nvPr/>
        </p:nvSpPr>
        <p:spPr>
          <a:xfrm>
            <a:off x="457200" y="1188720"/>
            <a:ext cx="2468880" cy="457200"/>
          </a:xfrm>
          <a:prstGeom prst="roundRect">
            <a:avLst>
              <a:gd name="adj" fmla="val 50000"/>
            </a:avLst>
          </a:prstGeom>
          <a:solidFill>
            <a:schemeClr val="accent1"/>
          </a:solidFill>
          <a:ln/>
        </p:spPr>
      </p:sp>
      <p:sp>
        <p:nvSpPr>
          <p:cNvPr id="6" name="Text 3"/>
          <p:cNvSpPr txBox="1"/>
          <p:nvPr/>
        </p:nvSpPr>
        <p:spPr>
          <a:xfrm>
            <a:off x="457200" y="1188720"/>
            <a:ext cx="2468880" cy="457200"/>
          </a:xfrm>
          <a:prstGeom prst="rect">
            <a:avLst/>
          </a:prstGeom>
          <a:noFill/>
          <a:ln/>
        </p:spPr>
        <p:txBody>
          <a:bodyPr wrap="square" lIns="0" tIns="0" rIns="0" bIns="0" rtlCol="0" anchor="ctr"/>
          <a:lstStyle/>
          <a:p>
            <a:pPr algn="ctr" indent="0" marL="0">
              <a:buNone/>
            </a:pPr>
            <a:r>
              <a:rPr lang="en-US" sz="1400" b="1" dirty="0">
                <a:solidFill>
                  <a:schemeClr val="bg1"/>
                </a:solidFill>
              </a:rPr>
              <a:t>App /metrics</a:t>
            </a:r>
            <a:endParaRPr lang="en-US" sz="1400" dirty="0"/>
          </a:p>
        </p:txBody>
      </p:sp>
      <p:sp>
        <p:nvSpPr>
          <p:cNvPr id="7" name="Shape 4"/>
          <p:cNvSpPr/>
          <p:nvPr/>
        </p:nvSpPr>
        <p:spPr>
          <a:xfrm>
            <a:off x="2944368" y="1417320"/>
            <a:ext cx="329184" cy="0"/>
          </a:xfrm>
          <a:prstGeom prst="line">
            <a:avLst/>
          </a:prstGeom>
          <a:noFill/>
          <a:ln w="25400">
            <a:solidFill>
              <a:srgbClr val="94A3B8"/>
            </a:solidFill>
            <a:prstDash val="solid"/>
            <a:tailEnd type="triangle"/>
          </a:ln>
        </p:spPr>
      </p:sp>
      <p:sp>
        <p:nvSpPr>
          <p:cNvPr id="8" name="Shape 5"/>
          <p:cNvSpPr/>
          <p:nvPr/>
        </p:nvSpPr>
        <p:spPr>
          <a:xfrm>
            <a:off x="3291840" y="1188720"/>
            <a:ext cx="2468880" cy="457200"/>
          </a:xfrm>
          <a:prstGeom prst="roundRect">
            <a:avLst>
              <a:gd name="adj" fmla="val 50000"/>
            </a:avLst>
          </a:prstGeom>
          <a:solidFill>
            <a:schemeClr val="accent4"/>
          </a:solidFill>
          <a:ln/>
        </p:spPr>
      </p:sp>
      <p:sp>
        <p:nvSpPr>
          <p:cNvPr id="9" name="Text 6"/>
          <p:cNvSpPr txBox="1"/>
          <p:nvPr/>
        </p:nvSpPr>
        <p:spPr>
          <a:xfrm>
            <a:off x="3291840" y="1188720"/>
            <a:ext cx="2468880" cy="457200"/>
          </a:xfrm>
          <a:prstGeom prst="rect">
            <a:avLst/>
          </a:prstGeom>
          <a:noFill/>
          <a:ln/>
        </p:spPr>
        <p:txBody>
          <a:bodyPr wrap="square" lIns="0" tIns="0" rIns="0" bIns="0" rtlCol="0" anchor="ctr"/>
          <a:lstStyle/>
          <a:p>
            <a:pPr algn="ctr" indent="0" marL="0">
              <a:buNone/>
            </a:pPr>
            <a:r>
              <a:rPr lang="en-US" sz="1400" b="1" dirty="0">
                <a:solidFill>
                  <a:schemeClr val="bg1"/>
                </a:solidFill>
              </a:rPr>
              <a:t>Prometheus scrapes</a:t>
            </a:r>
            <a:endParaRPr lang="en-US" sz="1400" dirty="0"/>
          </a:p>
        </p:txBody>
      </p:sp>
      <p:sp>
        <p:nvSpPr>
          <p:cNvPr id="10" name="Shape 7"/>
          <p:cNvSpPr/>
          <p:nvPr/>
        </p:nvSpPr>
        <p:spPr>
          <a:xfrm>
            <a:off x="5779008" y="1417320"/>
            <a:ext cx="329184" cy="0"/>
          </a:xfrm>
          <a:prstGeom prst="line">
            <a:avLst/>
          </a:prstGeom>
          <a:noFill/>
          <a:ln w="25400">
            <a:solidFill>
              <a:srgbClr val="94A3B8"/>
            </a:solidFill>
            <a:prstDash val="solid"/>
            <a:tailEnd type="triangle"/>
          </a:ln>
        </p:spPr>
      </p:sp>
      <p:sp>
        <p:nvSpPr>
          <p:cNvPr id="11" name="Shape 8"/>
          <p:cNvSpPr/>
          <p:nvPr/>
        </p:nvSpPr>
        <p:spPr>
          <a:xfrm>
            <a:off x="6126480" y="1188720"/>
            <a:ext cx="2468880" cy="457200"/>
          </a:xfrm>
          <a:prstGeom prst="roundRect">
            <a:avLst>
              <a:gd name="adj" fmla="val 50000"/>
            </a:avLst>
          </a:prstGeom>
          <a:solidFill>
            <a:schemeClr val="accent3"/>
          </a:solidFill>
          <a:ln/>
        </p:spPr>
      </p:sp>
      <p:sp>
        <p:nvSpPr>
          <p:cNvPr id="12" name="Text 9"/>
          <p:cNvSpPr txBox="1"/>
          <p:nvPr/>
        </p:nvSpPr>
        <p:spPr>
          <a:xfrm>
            <a:off x="6126480" y="1188720"/>
            <a:ext cx="2468880" cy="457200"/>
          </a:xfrm>
          <a:prstGeom prst="rect">
            <a:avLst/>
          </a:prstGeom>
          <a:noFill/>
          <a:ln/>
        </p:spPr>
        <p:txBody>
          <a:bodyPr wrap="square" lIns="0" tIns="0" rIns="0" bIns="0" rtlCol="0" anchor="ctr"/>
          <a:lstStyle/>
          <a:p>
            <a:pPr algn="ctr" indent="0" marL="0">
              <a:buNone/>
            </a:pPr>
            <a:r>
              <a:rPr lang="en-US" sz="1400" b="1" dirty="0">
                <a:solidFill>
                  <a:schemeClr val="bg1"/>
                </a:solidFill>
              </a:rPr>
              <a:t>Grafana charts</a:t>
            </a:r>
            <a:endParaRPr lang="en-US" sz="1400" dirty="0"/>
          </a:p>
        </p:txBody>
      </p:sp>
      <p:sp>
        <p:nvSpPr>
          <p:cNvPr id="13" name="frame 09-prometheus-targets"/>
          <p:cNvSpPr/>
          <p:nvPr/>
        </p:nvSpPr>
        <p:spPr>
          <a:xfrm>
            <a:off x="457200" y="1874520"/>
            <a:ext cx="4160520" cy="1817812"/>
          </a:xfrm>
          <a:prstGeom prst="roundRect">
            <a:avLst>
              <a:gd name="adj" fmla="val 3018"/>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4" name="09-prometheus-targets" descr="Prometheus targets: backend pods UP">    </p:cNvPr>
          <p:cNvPicPr>
            <a:picLocks noChangeAspect="1"/>
          </p:cNvPicPr>
          <p:nvPr/>
        </p:nvPicPr>
        <p:blipFill>
          <a:blip r:embed="rId1"/>
          <a:stretch>
            <a:fillRect/>
          </a:stretch>
        </p:blipFill>
        <p:spPr>
          <a:xfrm>
            <a:off x="512064" y="1929384"/>
            <a:ext cx="4050792" cy="1708084"/>
          </a:xfrm>
          <a:prstGeom prst="rect">
            <a:avLst/>
          </a:prstGeom>
        </p:spPr>
      </p:pic>
      <p:sp>
        <p:nvSpPr>
          <p:cNvPr id="15" name="Text 11"/>
          <p:cNvSpPr txBox="1"/>
          <p:nvPr/>
        </p:nvSpPr>
        <p:spPr>
          <a:xfrm>
            <a:off x="457200" y="3719764"/>
            <a:ext cx="4160520" cy="228600"/>
          </a:xfrm>
          <a:prstGeom prst="rect">
            <a:avLst/>
          </a:prstGeom>
          <a:noFill/>
          <a:ln/>
        </p:spPr>
        <p:txBody>
          <a:bodyPr wrap="square" lIns="0" tIns="0" rIns="0" bIns="0" rtlCol="0" anchor="ctr"/>
          <a:lstStyle/>
          <a:p>
            <a:pPr algn="ctr" indent="0" marL="0">
              <a:buNone/>
            </a:pPr>
            <a:r>
              <a:rPr lang="en-US" sz="1100" dirty="0">
                <a:solidFill>
                  <a:schemeClr val="tx2"/>
                </a:solidFill>
              </a:rPr>
              <a:t>Prometheus targets: backend pods UP</a:t>
            </a:r>
            <a:endParaRPr lang="en-US" sz="1100" dirty="0"/>
          </a:p>
        </p:txBody>
      </p:sp>
      <p:sp>
        <p:nvSpPr>
          <p:cNvPr id="16" name="frame 09-metrics-cluster"/>
          <p:cNvSpPr/>
          <p:nvPr/>
        </p:nvSpPr>
        <p:spPr>
          <a:xfrm>
            <a:off x="4800600" y="1874520"/>
            <a:ext cx="3886200" cy="1116787"/>
          </a:xfrm>
          <a:prstGeom prst="roundRect">
            <a:avLst>
              <a:gd name="adj" fmla="val 4913"/>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17" name="09-metrics-cluster" descr="/metrics from inside the cluster">    </p:cNvPr>
          <p:cNvPicPr>
            <a:picLocks noChangeAspect="1"/>
          </p:cNvPicPr>
          <p:nvPr/>
        </p:nvPicPr>
        <p:blipFill>
          <a:blip r:embed="rId2"/>
          <a:stretch>
            <a:fillRect/>
          </a:stretch>
        </p:blipFill>
        <p:spPr>
          <a:xfrm>
            <a:off x="4855464" y="1929384"/>
            <a:ext cx="3776472" cy="1007059"/>
          </a:xfrm>
          <a:prstGeom prst="rect">
            <a:avLst/>
          </a:prstGeom>
        </p:spPr>
      </p:pic>
      <p:sp>
        <p:nvSpPr>
          <p:cNvPr id="18" name="Text 13"/>
          <p:cNvSpPr txBox="1"/>
          <p:nvPr/>
        </p:nvSpPr>
        <p:spPr>
          <a:xfrm>
            <a:off x="4800600" y="3018739"/>
            <a:ext cx="3886200" cy="228600"/>
          </a:xfrm>
          <a:prstGeom prst="rect">
            <a:avLst/>
          </a:prstGeom>
          <a:noFill/>
          <a:ln/>
        </p:spPr>
        <p:txBody>
          <a:bodyPr wrap="square" lIns="0" tIns="0" rIns="0" bIns="0" rtlCol="0" anchor="ctr"/>
          <a:lstStyle/>
          <a:p>
            <a:pPr algn="ctr" indent="0" marL="0">
              <a:buNone/>
            </a:pPr>
            <a:r>
              <a:rPr lang="en-US" sz="1100" dirty="0">
                <a:solidFill>
                  <a:schemeClr val="tx2"/>
                </a:solidFill>
              </a:rPr>
              <a:t>/metrics from inside the cluster</a:t>
            </a:r>
            <a:endParaRPr lang="en-US" sz="1100" dirty="0"/>
          </a:p>
        </p:txBody>
      </p:sp>
      <p:sp>
        <p:nvSpPr>
          <p:cNvPr id="19" name="Text 14"/>
          <p:cNvSpPr txBox="1"/>
          <p:nvPr/>
        </p:nvSpPr>
        <p:spPr>
          <a:xfrm>
            <a:off x="4800600" y="3657600"/>
            <a:ext cx="3886200" cy="640080"/>
          </a:xfrm>
          <a:prstGeom prst="rect">
            <a:avLst/>
          </a:prstGeom>
          <a:noFill/>
          <a:ln/>
        </p:spPr>
        <p:txBody>
          <a:bodyPr wrap="square" lIns="0" tIns="0" rIns="0" bIns="0" rtlCol="0" anchor="t"/>
          <a:lstStyle/>
          <a:p>
            <a:pPr indent="0" marL="0">
              <a:buNone/>
            </a:pPr>
            <a:r>
              <a:rPr lang="en-US" sz="1400" dirty="0">
                <a:solidFill>
                  <a:schemeClr val="tx2"/>
                </a:solidFill>
              </a:rPr>
              <a:t>Request counts, latency and in-flight requests, per endpoint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RUNNING AND WATCHING</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Grafana dashboard</a:t>
            </a:r>
            <a:endParaRPr lang="en-US" sz="3200" dirty="0"/>
          </a:p>
        </p:txBody>
      </p:sp>
      <p:sp>
        <p:nvSpPr>
          <p:cNvPr id="5" name="frame 09-grafana"/>
          <p:cNvSpPr/>
          <p:nvPr/>
        </p:nvSpPr>
        <p:spPr>
          <a:xfrm>
            <a:off x="565439" y="1143000"/>
            <a:ext cx="5361361" cy="3246120"/>
          </a:xfrm>
          <a:prstGeom prst="roundRect">
            <a:avLst>
              <a:gd name="adj" fmla="val 1690"/>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6" name="09-grafana" descr="Live panels during a load test">    </p:cNvPr>
          <p:cNvPicPr>
            <a:picLocks noChangeAspect="1"/>
          </p:cNvPicPr>
          <p:nvPr/>
        </p:nvPicPr>
        <p:blipFill>
          <a:blip r:embed="rId1"/>
          <a:stretch>
            <a:fillRect/>
          </a:stretch>
        </p:blipFill>
        <p:spPr>
          <a:xfrm>
            <a:off x="620303" y="1197864"/>
            <a:ext cx="5251633" cy="3136392"/>
          </a:xfrm>
          <a:prstGeom prst="rect">
            <a:avLst/>
          </a:prstGeom>
        </p:spPr>
      </p:pic>
      <p:sp>
        <p:nvSpPr>
          <p:cNvPr id="7" name="Text 3"/>
          <p:cNvSpPr txBox="1"/>
          <p:nvPr/>
        </p:nvSpPr>
        <p:spPr>
          <a:xfrm>
            <a:off x="457200" y="4416552"/>
            <a:ext cx="5577840" cy="228600"/>
          </a:xfrm>
          <a:prstGeom prst="rect">
            <a:avLst/>
          </a:prstGeom>
          <a:noFill/>
          <a:ln/>
        </p:spPr>
        <p:txBody>
          <a:bodyPr wrap="square" lIns="0" tIns="0" rIns="0" bIns="0" rtlCol="0" anchor="ctr"/>
          <a:lstStyle/>
          <a:p>
            <a:pPr algn="ctr" indent="0" marL="0">
              <a:buNone/>
            </a:pPr>
            <a:r>
              <a:rPr lang="en-US" sz="1100" dirty="0">
                <a:solidFill>
                  <a:schemeClr val="tx2"/>
                </a:solidFill>
              </a:rPr>
              <a:t>Live panels during a load test</a:t>
            </a:r>
            <a:endParaRPr lang="en-US" sz="1100" dirty="0"/>
          </a:p>
        </p:txBody>
      </p:sp>
      <p:sp>
        <p:nvSpPr>
          <p:cNvPr id="8" name="Text 4"/>
          <p:cNvSpPr txBox="1"/>
          <p:nvPr/>
        </p:nvSpPr>
        <p:spPr>
          <a:xfrm>
            <a:off x="6263640" y="1280160"/>
            <a:ext cx="2423160" cy="3108960"/>
          </a:xfrm>
          <a:prstGeom prst="rect">
            <a:avLst/>
          </a:prstGeom>
          <a:noFill/>
          <a:ln/>
        </p:spPr>
        <p:txBody>
          <a:bodyPr wrap="square" lIns="0" tIns="0" rIns="0" bIns="0" rtlCol="0" anchor="t"/>
          <a:lstStyle/>
          <a:p>
            <a:pPr marL="342900" indent="-342900">
              <a:spcAft>
                <a:spcPts val="900"/>
              </a:spcAft>
              <a:buSzPct val="100000"/>
              <a:buChar char="•"/>
            </a:pPr>
            <a:r>
              <a:rPr lang="en-US" sz="1400" b="1" dirty="0">
                <a:solidFill>
                  <a:schemeClr val="tx1"/>
                </a:solidFill>
              </a:rPr>
              <a:t>Requests per second </a:t>
            </a:r>
            <a:pPr indent="0" marL="0">
              <a:buNone/>
            </a:pPr>
            <a:r>
              <a:rPr lang="en-US" sz="1400" dirty="0">
                <a:solidFill>
                  <a:schemeClr val="tx1"/>
                </a:solidFill>
              </a:rPr>
              <a:t>by endpoint</a:t>
            </a:r>
            <a:endParaRPr lang="en-US" sz="1400" dirty="0"/>
          </a:p>
          <a:p>
            <a:pPr marL="342900" indent="-342900">
              <a:spcAft>
                <a:spcPts val="900"/>
              </a:spcAft>
              <a:buSzPct val="100000"/>
              <a:buChar char="•"/>
            </a:pPr>
            <a:r>
              <a:rPr lang="en-US" sz="1400" b="1" dirty="0">
                <a:solidFill>
                  <a:schemeClr val="tx1"/>
                </a:solidFill>
              </a:rPr>
              <a:t>p95 latency </a:t>
            </a:r>
            <a:pPr indent="0" marL="0">
              <a:buNone/>
            </a:pPr>
            <a:r>
              <a:rPr lang="en-US" sz="1400" dirty="0">
                <a:solidFill>
                  <a:schemeClr val="tx1"/>
                </a:solidFill>
              </a:rPr>
              <a:t>(about 95 ms)</a:t>
            </a:r>
            <a:endParaRPr lang="en-US" sz="1400" dirty="0"/>
          </a:p>
          <a:p>
            <a:pPr marL="342900" indent="-342900">
              <a:spcAft>
                <a:spcPts val="900"/>
              </a:spcAft>
              <a:buSzPct val="100000"/>
              <a:buChar char="•"/>
            </a:pPr>
            <a:r>
              <a:rPr lang="en-US" sz="1400" b="1" dirty="0">
                <a:solidFill>
                  <a:schemeClr val="tx1"/>
                </a:solidFill>
              </a:rPr>
              <a:t>5xx error rate: </a:t>
            </a:r>
            <a:pPr indent="0" marL="0">
              <a:buNone/>
            </a:pPr>
            <a:r>
              <a:rPr lang="en-US" sz="1400" dirty="0">
                <a:solidFill>
                  <a:schemeClr val="tx1"/>
                </a:solidFill>
              </a:rPr>
              <a:t>no data means no server errors</a:t>
            </a:r>
            <a:endParaRPr lang="en-US" sz="1400" dirty="0"/>
          </a:p>
          <a:p>
            <a:pPr marL="342900" indent="-342900">
              <a:spcAft>
                <a:spcPts val="900"/>
              </a:spcAft>
              <a:buSzPct val="100000"/>
              <a:buChar char="•"/>
            </a:pPr>
            <a:r>
              <a:rPr lang="en-US" sz="1400" b="1" dirty="0">
                <a:solidFill>
                  <a:schemeClr val="tx1"/>
                </a:solidFill>
              </a:rPr>
              <a:t>Backend pods up: </a:t>
            </a:r>
            <a:pPr indent="0" marL="0">
              <a:buNone/>
            </a:pPr>
            <a:r>
              <a:rPr lang="en-US" sz="1400" dirty="0">
                <a:solidFill>
                  <a:schemeClr val="tx1"/>
                </a:solidFill>
              </a:rPr>
              <a:t>2</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WRAP-UP</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The live demo flow</a:t>
            </a:r>
            <a:endParaRPr lang="en-US" sz="3200" dirty="0"/>
          </a:p>
        </p:txBody>
      </p:sp>
      <p:sp>
        <p:nvSpPr>
          <p:cNvPr id="5" name="Shape 2"/>
          <p:cNvSpPr/>
          <p:nvPr/>
        </p:nvSpPr>
        <p:spPr>
          <a:xfrm>
            <a:off x="457200" y="1143000"/>
            <a:ext cx="365760" cy="365760"/>
          </a:xfrm>
          <a:prstGeom prst="ellipse">
            <a:avLst/>
          </a:prstGeom>
          <a:solidFill>
            <a:schemeClr val="accent1"/>
          </a:solidFill>
          <a:ln/>
        </p:spPr>
      </p:sp>
      <p:sp>
        <p:nvSpPr>
          <p:cNvPr id="6" name="Text 3"/>
          <p:cNvSpPr txBox="1"/>
          <p:nvPr/>
        </p:nvSpPr>
        <p:spPr>
          <a:xfrm>
            <a:off x="457200" y="11430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960120" y="1143000"/>
            <a:ext cx="3566160" cy="365760"/>
          </a:xfrm>
          <a:prstGeom prst="rect">
            <a:avLst/>
          </a:prstGeom>
          <a:noFill/>
          <a:ln/>
        </p:spPr>
        <p:txBody>
          <a:bodyPr wrap="square" lIns="0" tIns="0" rIns="0" bIns="0" rtlCol="0" anchor="ctr"/>
          <a:lstStyle/>
          <a:p>
            <a:pPr indent="0" marL="0">
              <a:buNone/>
            </a:pPr>
            <a:r>
              <a:rPr lang="en-US" sz="1500" dirty="0">
                <a:solidFill>
                  <a:schemeClr val="tx1"/>
                </a:solidFill>
              </a:rPr>
              <a:t>App running on EKS</a:t>
            </a:r>
            <a:endParaRPr lang="en-US" sz="1500" dirty="0"/>
          </a:p>
        </p:txBody>
      </p:sp>
      <p:sp>
        <p:nvSpPr>
          <p:cNvPr id="8" name="Shape 5"/>
          <p:cNvSpPr/>
          <p:nvPr/>
        </p:nvSpPr>
        <p:spPr>
          <a:xfrm>
            <a:off x="457200" y="1645920"/>
            <a:ext cx="365760" cy="365760"/>
          </a:xfrm>
          <a:prstGeom prst="ellipse">
            <a:avLst/>
          </a:prstGeom>
          <a:solidFill>
            <a:schemeClr val="accent1"/>
          </a:solidFill>
          <a:ln/>
        </p:spPr>
      </p:sp>
      <p:sp>
        <p:nvSpPr>
          <p:cNvPr id="9" name="Text 6"/>
          <p:cNvSpPr txBox="1"/>
          <p:nvPr/>
        </p:nvSpPr>
        <p:spPr>
          <a:xfrm>
            <a:off x="457200" y="16459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7"/>
          <p:cNvSpPr txBox="1"/>
          <p:nvPr/>
        </p:nvSpPr>
        <p:spPr>
          <a:xfrm>
            <a:off x="960120" y="1645920"/>
            <a:ext cx="3566160" cy="365760"/>
          </a:xfrm>
          <a:prstGeom prst="rect">
            <a:avLst/>
          </a:prstGeom>
          <a:noFill/>
          <a:ln/>
        </p:spPr>
        <p:txBody>
          <a:bodyPr wrap="square" lIns="0" tIns="0" rIns="0" bIns="0" rtlCol="0" anchor="ctr"/>
          <a:lstStyle/>
          <a:p>
            <a:pPr indent="0" marL="0">
              <a:buNone/>
            </a:pPr>
            <a:r>
              <a:rPr lang="en-US" sz="1500" dirty="0">
                <a:solidFill>
                  <a:schemeClr val="tx1"/>
                </a:solidFill>
              </a:rPr>
              <a:t>Commit a small change</a:t>
            </a:r>
            <a:endParaRPr lang="en-US" sz="1500" dirty="0"/>
          </a:p>
        </p:txBody>
      </p:sp>
      <p:sp>
        <p:nvSpPr>
          <p:cNvPr id="11" name="Shape 8"/>
          <p:cNvSpPr/>
          <p:nvPr/>
        </p:nvSpPr>
        <p:spPr>
          <a:xfrm>
            <a:off x="457200" y="2148840"/>
            <a:ext cx="365760" cy="365760"/>
          </a:xfrm>
          <a:prstGeom prst="ellipse">
            <a:avLst/>
          </a:prstGeom>
          <a:solidFill>
            <a:schemeClr val="accent1"/>
          </a:solidFill>
          <a:ln/>
        </p:spPr>
      </p:sp>
      <p:sp>
        <p:nvSpPr>
          <p:cNvPr id="12" name="Text 9"/>
          <p:cNvSpPr txBox="1"/>
          <p:nvPr/>
        </p:nvSpPr>
        <p:spPr>
          <a:xfrm>
            <a:off x="457200" y="21488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0"/>
          <p:cNvSpPr txBox="1"/>
          <p:nvPr/>
        </p:nvSpPr>
        <p:spPr>
          <a:xfrm>
            <a:off x="960120" y="2148840"/>
            <a:ext cx="3566160" cy="365760"/>
          </a:xfrm>
          <a:prstGeom prst="rect">
            <a:avLst/>
          </a:prstGeom>
          <a:noFill/>
          <a:ln/>
        </p:spPr>
        <p:txBody>
          <a:bodyPr wrap="square" lIns="0" tIns="0" rIns="0" bIns="0" rtlCol="0" anchor="ctr"/>
          <a:lstStyle/>
          <a:p>
            <a:pPr indent="0" marL="0">
              <a:buNone/>
            </a:pPr>
            <a:r>
              <a:rPr lang="en-US" sz="1500" dirty="0">
                <a:solidFill>
                  <a:schemeClr val="tx1"/>
                </a:solidFill>
              </a:rPr>
              <a:t>Push: pipeline runs</a:t>
            </a:r>
            <a:endParaRPr lang="en-US" sz="1500" dirty="0"/>
          </a:p>
        </p:txBody>
      </p:sp>
      <p:sp>
        <p:nvSpPr>
          <p:cNvPr id="14" name="Shape 11"/>
          <p:cNvSpPr/>
          <p:nvPr/>
        </p:nvSpPr>
        <p:spPr>
          <a:xfrm>
            <a:off x="457200" y="2651760"/>
            <a:ext cx="365760" cy="365760"/>
          </a:xfrm>
          <a:prstGeom prst="ellipse">
            <a:avLst/>
          </a:prstGeom>
          <a:solidFill>
            <a:schemeClr val="accent1"/>
          </a:solidFill>
          <a:ln/>
        </p:spPr>
      </p:sp>
      <p:sp>
        <p:nvSpPr>
          <p:cNvPr id="15" name="Text 12"/>
          <p:cNvSpPr txBox="1"/>
          <p:nvPr/>
        </p:nvSpPr>
        <p:spPr>
          <a:xfrm>
            <a:off x="457200" y="26517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 13"/>
          <p:cNvSpPr txBox="1"/>
          <p:nvPr/>
        </p:nvSpPr>
        <p:spPr>
          <a:xfrm>
            <a:off x="960120" y="2651760"/>
            <a:ext cx="3566160" cy="365760"/>
          </a:xfrm>
          <a:prstGeom prst="rect">
            <a:avLst/>
          </a:prstGeom>
          <a:noFill/>
          <a:ln/>
        </p:spPr>
        <p:txBody>
          <a:bodyPr wrap="square" lIns="0" tIns="0" rIns="0" bIns="0" rtlCol="0" anchor="ctr"/>
          <a:lstStyle/>
          <a:p>
            <a:pPr indent="0" marL="0">
              <a:buNone/>
            </a:pPr>
            <a:r>
              <a:rPr lang="en-US" sz="1500" dirty="0">
                <a:solidFill>
                  <a:schemeClr val="tx1"/>
                </a:solidFill>
              </a:rPr>
              <a:t>New SHA-tagged image in GHCR</a:t>
            </a:r>
            <a:endParaRPr lang="en-US" sz="1500" dirty="0"/>
          </a:p>
        </p:txBody>
      </p:sp>
      <p:sp>
        <p:nvSpPr>
          <p:cNvPr id="17" name="Shape 14"/>
          <p:cNvSpPr/>
          <p:nvPr/>
        </p:nvSpPr>
        <p:spPr>
          <a:xfrm>
            <a:off x="457200" y="3154680"/>
            <a:ext cx="365760" cy="365760"/>
          </a:xfrm>
          <a:prstGeom prst="ellipse">
            <a:avLst/>
          </a:prstGeom>
          <a:solidFill>
            <a:schemeClr val="accent1"/>
          </a:solidFill>
          <a:ln/>
        </p:spPr>
      </p:sp>
      <p:sp>
        <p:nvSpPr>
          <p:cNvPr id="18" name="Text 15"/>
          <p:cNvSpPr txBox="1"/>
          <p:nvPr/>
        </p:nvSpPr>
        <p:spPr>
          <a:xfrm>
            <a:off x="457200" y="31546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Text 16"/>
          <p:cNvSpPr txBox="1"/>
          <p:nvPr/>
        </p:nvSpPr>
        <p:spPr>
          <a:xfrm>
            <a:off x="960120" y="3154680"/>
            <a:ext cx="3566160" cy="365760"/>
          </a:xfrm>
          <a:prstGeom prst="rect">
            <a:avLst/>
          </a:prstGeom>
          <a:noFill/>
          <a:ln/>
        </p:spPr>
        <p:txBody>
          <a:bodyPr wrap="square" lIns="0" tIns="0" rIns="0" bIns="0" rtlCol="0" anchor="ctr"/>
          <a:lstStyle/>
          <a:p>
            <a:pPr indent="0" marL="0">
              <a:buNone/>
            </a:pPr>
            <a:r>
              <a:rPr lang="en-US" sz="1500" dirty="0">
                <a:solidFill>
                  <a:schemeClr val="tx1"/>
                </a:solidFill>
              </a:rPr>
              <a:t>helm upgrade rolls it out</a:t>
            </a:r>
            <a:endParaRPr lang="en-US" sz="1500" dirty="0"/>
          </a:p>
        </p:txBody>
      </p:sp>
      <p:sp>
        <p:nvSpPr>
          <p:cNvPr id="20" name="Shape 17"/>
          <p:cNvSpPr/>
          <p:nvPr/>
        </p:nvSpPr>
        <p:spPr>
          <a:xfrm>
            <a:off x="457200" y="3657600"/>
            <a:ext cx="365760" cy="365760"/>
          </a:xfrm>
          <a:prstGeom prst="ellipse">
            <a:avLst/>
          </a:prstGeom>
          <a:solidFill>
            <a:schemeClr val="accent1"/>
          </a:solidFill>
          <a:ln/>
        </p:spPr>
      </p:sp>
      <p:sp>
        <p:nvSpPr>
          <p:cNvPr id="21" name="Text 18"/>
          <p:cNvSpPr txBox="1"/>
          <p:nvPr/>
        </p:nvSpPr>
        <p:spPr>
          <a:xfrm>
            <a:off x="457200" y="36576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2" name="Text 19"/>
          <p:cNvSpPr txBox="1"/>
          <p:nvPr/>
        </p:nvSpPr>
        <p:spPr>
          <a:xfrm>
            <a:off x="960120" y="3657600"/>
            <a:ext cx="3566160" cy="365760"/>
          </a:xfrm>
          <a:prstGeom prst="rect">
            <a:avLst/>
          </a:prstGeom>
          <a:noFill/>
          <a:ln/>
        </p:spPr>
        <p:txBody>
          <a:bodyPr wrap="square" lIns="0" tIns="0" rIns="0" bIns="0" rtlCol="0" anchor="ctr"/>
          <a:lstStyle/>
          <a:p>
            <a:pPr indent="0" marL="0">
              <a:buNone/>
            </a:pPr>
            <a:r>
              <a:rPr lang="en-US" sz="1500" dirty="0">
                <a:solidFill>
                  <a:schemeClr val="tx1"/>
                </a:solidFill>
              </a:rPr>
              <a:t>Pods are replaced one by one</a:t>
            </a:r>
            <a:endParaRPr lang="en-US" sz="1500" dirty="0"/>
          </a:p>
        </p:txBody>
      </p:sp>
      <p:sp>
        <p:nvSpPr>
          <p:cNvPr id="23" name="Shape 20"/>
          <p:cNvSpPr/>
          <p:nvPr/>
        </p:nvSpPr>
        <p:spPr>
          <a:xfrm>
            <a:off x="457200" y="4160520"/>
            <a:ext cx="365760" cy="365760"/>
          </a:xfrm>
          <a:prstGeom prst="ellipse">
            <a:avLst/>
          </a:prstGeom>
          <a:solidFill>
            <a:schemeClr val="accent1"/>
          </a:solidFill>
          <a:ln/>
        </p:spPr>
      </p:sp>
      <p:sp>
        <p:nvSpPr>
          <p:cNvPr id="24" name="Text 21"/>
          <p:cNvSpPr txBox="1"/>
          <p:nvPr/>
        </p:nvSpPr>
        <p:spPr>
          <a:xfrm>
            <a:off x="457200" y="41605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5" name="Text 22"/>
          <p:cNvSpPr txBox="1"/>
          <p:nvPr/>
        </p:nvSpPr>
        <p:spPr>
          <a:xfrm>
            <a:off x="960120" y="4160520"/>
            <a:ext cx="3566160" cy="365760"/>
          </a:xfrm>
          <a:prstGeom prst="rect">
            <a:avLst/>
          </a:prstGeom>
          <a:noFill/>
          <a:ln/>
        </p:spPr>
        <p:txBody>
          <a:bodyPr wrap="square" lIns="0" tIns="0" rIns="0" bIns="0" rtlCol="0" anchor="ctr"/>
          <a:lstStyle/>
          <a:p>
            <a:pPr indent="0" marL="0">
              <a:buNone/>
            </a:pPr>
            <a:r>
              <a:rPr lang="en-US" sz="1500" dirty="0">
                <a:solidFill>
                  <a:schemeClr val="tx1"/>
                </a:solidFill>
              </a:rPr>
              <a:t>Refresh: the change is live</a:t>
            </a:r>
            <a:endParaRPr lang="en-US" sz="1500" dirty="0"/>
          </a:p>
        </p:txBody>
      </p:sp>
      <p:sp>
        <p:nvSpPr>
          <p:cNvPr id="26" name="frame 05-actions-green"/>
          <p:cNvSpPr/>
          <p:nvPr/>
        </p:nvSpPr>
        <p:spPr>
          <a:xfrm>
            <a:off x="4754880" y="1188720"/>
            <a:ext cx="3931920" cy="2260773"/>
          </a:xfrm>
          <a:prstGeom prst="roundRect">
            <a:avLst>
              <a:gd name="adj" fmla="val 2427"/>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27" name="05-actions-green" descr="The pipeline run from the demo">    </p:cNvPr>
          <p:cNvPicPr>
            <a:picLocks noChangeAspect="1"/>
          </p:cNvPicPr>
          <p:nvPr/>
        </p:nvPicPr>
        <p:blipFill>
          <a:blip r:embed="rId1"/>
          <a:stretch>
            <a:fillRect/>
          </a:stretch>
        </p:blipFill>
        <p:spPr>
          <a:xfrm>
            <a:off x="4809744" y="1243584"/>
            <a:ext cx="3822192" cy="2151045"/>
          </a:xfrm>
          <a:prstGeom prst="rect">
            <a:avLst/>
          </a:prstGeom>
        </p:spPr>
      </p:pic>
      <p:sp>
        <p:nvSpPr>
          <p:cNvPr id="28" name="Text 24"/>
          <p:cNvSpPr txBox="1"/>
          <p:nvPr/>
        </p:nvSpPr>
        <p:spPr>
          <a:xfrm>
            <a:off x="4754880" y="3476925"/>
            <a:ext cx="3931920" cy="228600"/>
          </a:xfrm>
          <a:prstGeom prst="rect">
            <a:avLst/>
          </a:prstGeom>
          <a:noFill/>
          <a:ln/>
        </p:spPr>
        <p:txBody>
          <a:bodyPr wrap="square" lIns="0" tIns="0" rIns="0" bIns="0" rtlCol="0" anchor="ctr"/>
          <a:lstStyle/>
          <a:p>
            <a:pPr algn="ctr" indent="0" marL="0">
              <a:buNone/>
            </a:pPr>
            <a:r>
              <a:rPr lang="en-US" sz="1100" dirty="0">
                <a:solidFill>
                  <a:schemeClr val="tx2"/>
                </a:solidFill>
              </a:rPr>
              <a:t>The pipeline run from the demo</a:t>
            </a:r>
            <a:endParaRPr lang="en-US" sz="1100" dirty="0"/>
          </a:p>
        </p:txBody>
      </p:sp>
      <p:sp>
        <p:nvSpPr>
          <p:cNvPr id="29" name="Text 25"/>
          <p:cNvSpPr txBox="1"/>
          <p:nvPr/>
        </p:nvSpPr>
        <p:spPr>
          <a:xfrm>
            <a:off x="4754880" y="4114800"/>
            <a:ext cx="3931920" cy="365760"/>
          </a:xfrm>
          <a:prstGeom prst="rect">
            <a:avLst/>
          </a:prstGeom>
          <a:noFill/>
          <a:ln/>
        </p:spPr>
        <p:txBody>
          <a:bodyPr wrap="square" lIns="0" tIns="0" rIns="0" bIns="0" rtlCol="0" anchor="ctr"/>
          <a:lstStyle/>
          <a:p>
            <a:pPr algn="ctr" indent="0" marL="0">
              <a:buNone/>
            </a:pPr>
            <a:r>
              <a:rPr lang="en-US" sz="1500" b="1"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Watch the recorded demo</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WRAP-UP</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Problems we solved</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114800"/>
                <a:gridCol w="4114800"/>
              </a:tblGrid>
              <a:tr h="548640">
                <a:tc>
                  <a:txBody>
                    <a:bodyPr/>
                    <a:lstStyle/>
                    <a:p>
                      <a:pPr indent="0" marL="0">
                        <a:buNone/>
                      </a:pPr>
                      <a:r>
                        <a:rPr lang="en-US" sz="1400" b="1" dirty="0">
                          <a:solidFill>
                            <a:srgbClr val="FFFFFF"/>
                          </a:solidFill>
                        </a:rPr>
                        <a:t>Problem</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4F46E5"/>
                    </a:solidFill>
                  </a:tcPr>
                </a:tc>
                <a:tc>
                  <a:txBody>
                    <a:bodyPr/>
                    <a:lstStyle/>
                    <a:p>
                      <a:pPr indent="0" marL="0">
                        <a:buNone/>
                      </a:pPr>
                      <a:r>
                        <a:rPr lang="en-US" sz="1400" b="1" dirty="0">
                          <a:solidFill>
                            <a:srgbClr val="FFFFFF"/>
                          </a:solidFill>
                        </a:rPr>
                        <a:t>Fix</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4F46E5"/>
                    </a:solidFill>
                  </a:tcPr>
                </a:tc>
              </a:tr>
              <a:tr h="548640">
                <a:tc>
                  <a:txBody>
                    <a:bodyPr/>
                    <a:lstStyle/>
                    <a:p>
                      <a:pPr indent="0" marL="0">
                        <a:buNone/>
                      </a:pPr>
                      <a:r>
                        <a:rPr lang="en-US" sz="1400" dirty="0">
                          <a:solidFill>
                            <a:schemeClr val="tx1"/>
                          </a:solidFill>
                        </a:rPr>
                        <a:t>Trivy action tag not found in CI</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400" dirty="0">
                          <a:solidFill>
                            <a:schemeClr val="tx1"/>
                          </a:solidFill>
                        </a:rPr>
                        <a:t>Pinned the new tag format, v0.36.0</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r h="548640">
                <a:tc>
                  <a:txBody>
                    <a:bodyPr/>
                    <a:lstStyle/>
                    <a:p>
                      <a:pPr indent="0" marL="0">
                        <a:buNone/>
                      </a:pPr>
                      <a:r>
                        <a:rPr lang="en-US" sz="1400" dirty="0">
                          <a:solidFill>
                            <a:schemeClr val="tx1"/>
                          </a:solidFill>
                        </a:rPr>
                        <a:t>HIGH CVEs in the first scan</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400" dirty="0">
                          <a:solidFill>
                            <a:schemeClr val="tx1"/>
                          </a:solidFill>
                        </a:rPr>
                        <a:t>Upgraded libraries, patched base images</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r h="548640">
                <a:tc>
                  <a:txBody>
                    <a:bodyPr/>
                    <a:lstStyle/>
                    <a:p>
                      <a:pPr indent="0" marL="0">
                        <a:buNone/>
                      </a:pPr>
                      <a:r>
                        <a:rPr lang="en-US" sz="1400" dirty="0">
                          <a:solidFill>
                            <a:schemeClr val="tx1"/>
                          </a:solidFill>
                        </a:rPr>
                        <a:t>EKS nodes never started (free-tier account)</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400" dirty="0">
                          <a:solidFill>
                            <a:schemeClr val="tx1"/>
                          </a:solidFill>
                        </a:rPr>
                        <a:t>Switched to the m7i-flex.large instance type</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r h="548640">
                <a:tc>
                  <a:txBody>
                    <a:bodyPr/>
                    <a:lstStyle/>
                    <a:p>
                      <a:pPr indent="0" marL="0">
                        <a:buNone/>
                      </a:pPr>
                      <a:r>
                        <a:rPr lang="en-US" sz="1400" dirty="0">
                          <a:solidFill>
                            <a:schemeClr val="tx1"/>
                          </a:solidFill>
                        </a:rPr>
                        <a:t>Postgres pending: no default storage class</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400" dirty="0">
                          <a:solidFill>
                            <a:schemeClr val="tx1"/>
                          </a:solidFill>
                        </a:rPr>
                        <a:t>Added a gp3 class using the EBS CSI driver</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r h="548640">
                <a:tc>
                  <a:txBody>
                    <a:bodyPr/>
                    <a:lstStyle/>
                    <a:p>
                      <a:pPr indent="0" marL="0">
                        <a:buNone/>
                      </a:pPr>
                      <a:r>
                        <a:rPr lang="en-US" sz="1400" dirty="0">
                          <a:solidFill>
                            <a:schemeClr val="tx1"/>
                          </a:solidFill>
                        </a:rPr>
                        <a:t>AWS CLI crashed with a libexpat error</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c>
                  <a:txBody>
                    <a:bodyPr/>
                    <a:lstStyle/>
                    <a:p>
                      <a:pPr indent="0" marL="0">
                        <a:buNone/>
                      </a:pPr>
                      <a:r>
                        <a:rPr lang="en-US" sz="1400" dirty="0">
                          <a:solidFill>
                            <a:schemeClr val="tx1"/>
                          </a:solidFill>
                        </a:rPr>
                        <a:t>Pointed DYLD_LIBRARY_PATH at Homebrew expat</a:t>
                      </a:r>
                      <a:endParaRPr lang="en-US" sz="1400" dirty="0"/>
                    </a:p>
                  </a:txBody>
                  <a:tcPr marL="109728" marR="109728" marT="0" marB="0" anchor="ctr">
                    <a:lnL w="12700" cap="flat" cmpd="sng" algn="ctr">
                      <a:solidFill>
                        <a:srgbClr val="263248"/>
                      </a:solidFill>
                      <a:prstDash val="solid"/>
                      <a:round/>
                      <a:headEnd type="none" w="med" len="med"/>
                      <a:tailEnd type="none" w="med" len="med"/>
                    </a:lnL>
                    <a:lnR w="12700" cap="flat" cmpd="sng" algn="ctr">
                      <a:solidFill>
                        <a:srgbClr val="263248"/>
                      </a:solidFill>
                      <a:prstDash val="solid"/>
                      <a:round/>
                      <a:headEnd type="none" w="med" len="med"/>
                      <a:tailEnd type="none" w="med" len="med"/>
                    </a:lnR>
                    <a:lnT w="12700" cap="flat" cmpd="sng" algn="ctr">
                      <a:solidFill>
                        <a:srgbClr val="263248"/>
                      </a:solidFill>
                      <a:prstDash val="solid"/>
                      <a:round/>
                      <a:headEnd type="none" w="med" len="med"/>
                      <a:tailEnd type="none" w="med" len="med"/>
                    </a:lnT>
                    <a:lnB w="12700" cap="flat" cmpd="sng" algn="ctr">
                      <a:solidFill>
                        <a:srgbClr val="263248"/>
                      </a:solidFill>
                      <a:prstDash val="solid"/>
                      <a:round/>
                      <a:headEnd type="none" w="med" len="med"/>
                      <a:tailEnd type="none" w="med" len="med"/>
                    </a:lnB>
                    <a:solidFill>
                      <a:srgbClr val="141B2D"/>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WRAP-UP</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Cleanup and cost control</a:t>
            </a:r>
            <a:endParaRPr lang="en-US" sz="3200" dirty="0"/>
          </a:p>
        </p:txBody>
      </p:sp>
      <p:sp>
        <p:nvSpPr>
          <p:cNvPr id="5" name="card Right order"/>
          <p:cNvSpPr/>
          <p:nvPr/>
        </p:nvSpPr>
        <p:spPr>
          <a:xfrm>
            <a:off x="457200" y="1188720"/>
            <a:ext cx="265176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6" name="Shape 3"/>
          <p:cNvSpPr/>
          <p:nvPr/>
        </p:nvSpPr>
        <p:spPr>
          <a:xfrm>
            <a:off x="621792" y="1353312"/>
            <a:ext cx="457200" cy="457200"/>
          </a:xfrm>
          <a:prstGeom prst="ellipse">
            <a:avLst/>
          </a:prstGeom>
          <a:solidFill>
            <a:schemeClr val="accent1"/>
          </a:solidFill>
          <a:ln/>
        </p:spPr>
      </p:sp>
      <p:pic>
        <p:nvPicPr>
          <p:cNvPr id="7" name="Image 0" descr="FaListOl">    </p:cNvPr>
          <p:cNvPicPr>
            <a:picLocks noChangeAspect="1"/>
          </p:cNvPicPr>
          <p:nvPr/>
        </p:nvPicPr>
        <p:blipFill>
          <a:blip r:embed="rId1"/>
          <a:stretch>
            <a:fillRect/>
          </a:stretch>
        </p:blipFill>
        <p:spPr>
          <a:xfrm>
            <a:off x="731520" y="1463040"/>
            <a:ext cx="237744" cy="237744"/>
          </a:xfrm>
          <a:prstGeom prst="rect">
            <a:avLst/>
          </a:prstGeom>
        </p:spPr>
      </p:pic>
      <p:sp>
        <p:nvSpPr>
          <p:cNvPr id="8" name="Text 4"/>
          <p:cNvSpPr txBox="1"/>
          <p:nvPr/>
        </p:nvSpPr>
        <p:spPr>
          <a:xfrm>
            <a:off x="1207008"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Right order</a:t>
            </a:r>
            <a:endParaRPr lang="en-US" sz="1500" dirty="0"/>
          </a:p>
        </p:txBody>
      </p:sp>
      <p:sp>
        <p:nvSpPr>
          <p:cNvPr id="9" name="Text 5"/>
          <p:cNvSpPr txBox="1"/>
          <p:nvPr/>
        </p:nvSpPr>
        <p:spPr>
          <a:xfrm>
            <a:off x="621792" y="1938528"/>
            <a:ext cx="2322576" cy="713232"/>
          </a:xfrm>
          <a:prstGeom prst="rect">
            <a:avLst/>
          </a:prstGeom>
          <a:noFill/>
          <a:ln/>
        </p:spPr>
        <p:txBody>
          <a:bodyPr wrap="square" lIns="0" tIns="0" rIns="0" bIns="0" rtlCol="0" anchor="t"/>
          <a:lstStyle/>
          <a:p>
            <a:pPr indent="0" marL="0">
              <a:buNone/>
            </a:pPr>
            <a:r>
              <a:rPr lang="en-US" sz="1300" dirty="0">
                <a:solidFill>
                  <a:schemeClr val="tx2"/>
                </a:solidFill>
              </a:rPr>
              <a:t>Helm uninstall, delete volumes, then terraform destroy</a:t>
            </a:r>
            <a:endParaRPr lang="en-US" sz="1300" dirty="0"/>
          </a:p>
        </p:txBody>
      </p:sp>
      <p:sp>
        <p:nvSpPr>
          <p:cNvPr id="10" name="card Verified"/>
          <p:cNvSpPr/>
          <p:nvPr/>
        </p:nvSpPr>
        <p:spPr>
          <a:xfrm>
            <a:off x="3246120" y="1188720"/>
            <a:ext cx="265176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1" name="Shape 7"/>
          <p:cNvSpPr/>
          <p:nvPr/>
        </p:nvSpPr>
        <p:spPr>
          <a:xfrm>
            <a:off x="3410712" y="1353312"/>
            <a:ext cx="457200" cy="457200"/>
          </a:xfrm>
          <a:prstGeom prst="ellipse">
            <a:avLst/>
          </a:prstGeom>
          <a:solidFill>
            <a:schemeClr val="accent2"/>
          </a:solidFill>
          <a:ln/>
        </p:spPr>
      </p:sp>
      <p:pic>
        <p:nvPicPr>
          <p:cNvPr id="12" name="Image 1" descr="FaSearch">    </p:cNvPr>
          <p:cNvPicPr>
            <a:picLocks noChangeAspect="1"/>
          </p:cNvPicPr>
          <p:nvPr/>
        </p:nvPicPr>
        <p:blipFill>
          <a:blip r:embed="rId2"/>
          <a:stretch>
            <a:fillRect/>
          </a:stretch>
        </p:blipFill>
        <p:spPr>
          <a:xfrm>
            <a:off x="3520440" y="1463040"/>
            <a:ext cx="237744" cy="237744"/>
          </a:xfrm>
          <a:prstGeom prst="rect">
            <a:avLst/>
          </a:prstGeom>
        </p:spPr>
      </p:pic>
      <p:sp>
        <p:nvSpPr>
          <p:cNvPr id="13" name="Text 8"/>
          <p:cNvSpPr txBox="1"/>
          <p:nvPr/>
        </p:nvSpPr>
        <p:spPr>
          <a:xfrm>
            <a:off x="3995928"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Verified</a:t>
            </a:r>
            <a:endParaRPr lang="en-US" sz="1500" dirty="0"/>
          </a:p>
        </p:txBody>
      </p:sp>
      <p:sp>
        <p:nvSpPr>
          <p:cNvPr id="14" name="Text 9"/>
          <p:cNvSpPr txBox="1"/>
          <p:nvPr/>
        </p:nvSpPr>
        <p:spPr>
          <a:xfrm>
            <a:off x="3410712" y="1938528"/>
            <a:ext cx="2322576" cy="713232"/>
          </a:xfrm>
          <a:prstGeom prst="rect">
            <a:avLst/>
          </a:prstGeom>
          <a:noFill/>
          <a:ln/>
        </p:spPr>
        <p:txBody>
          <a:bodyPr wrap="square" lIns="0" tIns="0" rIns="0" bIns="0" rtlCol="0" anchor="t"/>
          <a:lstStyle/>
          <a:p>
            <a:pPr indent="0" marL="0">
              <a:buNone/>
            </a:pPr>
            <a:r>
              <a:rPr lang="en-US" sz="1300" dirty="0">
                <a:solidFill>
                  <a:schemeClr val="tx2"/>
                </a:solidFill>
              </a:rPr>
              <a:t>No clusters, NAT gateways, IPs, load balancers or volumes left</a:t>
            </a:r>
            <a:endParaRPr lang="en-US" sz="1300" dirty="0"/>
          </a:p>
        </p:txBody>
      </p:sp>
      <p:sp>
        <p:nvSpPr>
          <p:cNvPr id="15" name="card No surprise bill"/>
          <p:cNvSpPr/>
          <p:nvPr/>
        </p:nvSpPr>
        <p:spPr>
          <a:xfrm>
            <a:off x="6035040" y="1188720"/>
            <a:ext cx="2651760" cy="1554480"/>
          </a:xfrm>
          <a:prstGeom prst="roundRect">
            <a:avLst>
              <a:gd name="adj" fmla="val 4706"/>
            </a:avLst>
          </a:prstGeom>
          <a:solidFill>
            <a:srgbClr val="141B2D"/>
          </a:solidFill>
          <a:ln w="12700">
            <a:solidFill>
              <a:srgbClr val="263248"/>
            </a:solidFill>
            <a:prstDash val="solid"/>
          </a:ln>
          <a:effectLst>
            <a:outerShdw sx="100000" sy="100000" kx="0" ky="0" algn="bl" rotWithShape="0" blurRad="127000" dist="38100" dir="5400000">
              <a:srgbClr val="000000">
                <a:alpha val="45000"/>
              </a:srgbClr>
            </a:outerShdw>
          </a:effectLst>
        </p:spPr>
      </p:sp>
      <p:sp>
        <p:nvSpPr>
          <p:cNvPr id="16" name="Shape 11"/>
          <p:cNvSpPr/>
          <p:nvPr/>
        </p:nvSpPr>
        <p:spPr>
          <a:xfrm>
            <a:off x="6199632" y="1353312"/>
            <a:ext cx="457200" cy="457200"/>
          </a:xfrm>
          <a:prstGeom prst="ellipse">
            <a:avLst/>
          </a:prstGeom>
          <a:solidFill>
            <a:schemeClr val="accent3"/>
          </a:solidFill>
          <a:ln/>
        </p:spPr>
      </p:sp>
      <p:pic>
        <p:nvPicPr>
          <p:cNvPr id="17" name="Image 2" descr="FaPiggyBank">    </p:cNvPr>
          <p:cNvPicPr>
            <a:picLocks noChangeAspect="1"/>
          </p:cNvPicPr>
          <p:nvPr/>
        </p:nvPicPr>
        <p:blipFill>
          <a:blip r:embed="rId3"/>
          <a:stretch>
            <a:fillRect/>
          </a:stretch>
        </p:blipFill>
        <p:spPr>
          <a:xfrm>
            <a:off x="6309360" y="1463040"/>
            <a:ext cx="237744" cy="237744"/>
          </a:xfrm>
          <a:prstGeom prst="rect">
            <a:avLst/>
          </a:prstGeom>
        </p:spPr>
      </p:pic>
      <p:sp>
        <p:nvSpPr>
          <p:cNvPr id="18" name="Text 12"/>
          <p:cNvSpPr txBox="1"/>
          <p:nvPr/>
        </p:nvSpPr>
        <p:spPr>
          <a:xfrm>
            <a:off x="6784848"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No surprise bill</a:t>
            </a:r>
            <a:endParaRPr lang="en-US" sz="1500" dirty="0"/>
          </a:p>
        </p:txBody>
      </p:sp>
      <p:sp>
        <p:nvSpPr>
          <p:cNvPr id="19" name="Text 13"/>
          <p:cNvSpPr txBox="1"/>
          <p:nvPr/>
        </p:nvSpPr>
        <p:spPr>
          <a:xfrm>
            <a:off x="6199632" y="1938528"/>
            <a:ext cx="2322576" cy="713232"/>
          </a:xfrm>
          <a:prstGeom prst="rect">
            <a:avLst/>
          </a:prstGeom>
          <a:noFill/>
          <a:ln/>
        </p:spPr>
        <p:txBody>
          <a:bodyPr wrap="square" lIns="0" tIns="0" rIns="0" bIns="0" rtlCol="0" anchor="t"/>
          <a:lstStyle/>
          <a:p>
            <a:pPr indent="0" marL="0">
              <a:buNone/>
            </a:pPr>
            <a:r>
              <a:rPr lang="en-US" sz="1300" dirty="0">
                <a:solidFill>
                  <a:schemeClr val="tx2"/>
                </a:solidFill>
              </a:rPr>
              <a:t>Billing stops as soon as the resources are gone</a:t>
            </a:r>
            <a:endParaRPr lang="en-US" sz="1300" dirty="0"/>
          </a:p>
        </p:txBody>
      </p:sp>
      <p:sp>
        <p:nvSpPr>
          <p:cNvPr id="20" name="frame 07-tf-destroy"/>
          <p:cNvSpPr/>
          <p:nvPr/>
        </p:nvSpPr>
        <p:spPr>
          <a:xfrm>
            <a:off x="2080629" y="2971800"/>
            <a:ext cx="4982742" cy="1417320"/>
          </a:xfrm>
          <a:prstGeom prst="roundRect">
            <a:avLst>
              <a:gd name="adj" fmla="val 3871"/>
            </a:avLst>
          </a:prstGeom>
          <a:solidFill>
            <a:srgbClr val="0F1524"/>
          </a:solidFill>
          <a:ln w="12700">
            <a:solidFill>
              <a:srgbClr val="2F3B57"/>
            </a:solidFill>
            <a:prstDash val="solid"/>
          </a:ln>
          <a:effectLst>
            <a:outerShdw sx="100000" sy="100000" kx="0" ky="0" algn="bl" rotWithShape="0" blurRad="127000" dist="38100" dir="5400000">
              <a:srgbClr val="000000">
                <a:alpha val="45000"/>
              </a:srgbClr>
            </a:outerShdw>
          </a:effectLst>
        </p:spPr>
      </p:sp>
      <p:pic>
        <p:nvPicPr>
          <p:cNvPr id="21" name="07-tf-destroy" descr="terraform destroy: complete">    </p:cNvPr>
          <p:cNvPicPr>
            <a:picLocks noChangeAspect="1"/>
          </p:cNvPicPr>
          <p:nvPr/>
        </p:nvPicPr>
        <p:blipFill>
          <a:blip r:embed="rId4"/>
          <a:stretch>
            <a:fillRect/>
          </a:stretch>
        </p:blipFill>
        <p:spPr>
          <a:xfrm>
            <a:off x="2135493" y="3026664"/>
            <a:ext cx="4873014" cy="1307592"/>
          </a:xfrm>
          <a:prstGeom prst="rect">
            <a:avLst/>
          </a:prstGeom>
        </p:spPr>
      </p:pic>
      <p:sp>
        <p:nvSpPr>
          <p:cNvPr id="22" name="Text 15"/>
          <p:cNvSpPr txBox="1"/>
          <p:nvPr/>
        </p:nvSpPr>
        <p:spPr>
          <a:xfrm>
            <a:off x="1371600" y="4416552"/>
            <a:ext cx="6400800" cy="228600"/>
          </a:xfrm>
          <a:prstGeom prst="rect">
            <a:avLst/>
          </a:prstGeom>
          <a:noFill/>
          <a:ln/>
        </p:spPr>
        <p:txBody>
          <a:bodyPr wrap="square" lIns="0" tIns="0" rIns="0" bIns="0" rtlCol="0" anchor="ctr"/>
          <a:lstStyle/>
          <a:p>
            <a:pPr algn="ctr" indent="0" marL="0">
              <a:buNone/>
            </a:pPr>
            <a:r>
              <a:rPr lang="en-US" sz="1100" dirty="0">
                <a:solidFill>
                  <a:schemeClr val="tx2"/>
                </a:solidFill>
              </a:rPr>
              <a:t>terraform destroy: complete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ctr"/>
          <a:lstStyle/>
          <a:p>
            <a:pPr indent="0" marL="0">
              <a:buNone/>
            </a:pPr>
            <a:r>
              <a:rPr lang="en-US" sz="1100" b="1" spc="300" kern="0" dirty="0">
                <a:solidFill>
                  <a:schemeClr val="accent2"/>
                </a:solidFill>
              </a:rPr>
              <a:t>WRAP-UP</a:t>
            </a:r>
            <a:endParaRPr lang="en-US" sz="1100" dirty="0"/>
          </a:p>
        </p:txBody>
      </p:sp>
      <p:sp>
        <p:nvSpPr>
          <p:cNvPr id="3" name="Text 0"/>
          <p:cNvSpPr/>
          <p:nvPr>
            <p:ph idx="100"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All 10 modules delivered</a:t>
            </a:r>
            <a:endParaRPr lang="en-US" sz="3200" dirty="0"/>
          </a:p>
        </p:txBody>
      </p:sp>
      <p:sp>
        <p:nvSpPr>
          <p:cNvPr id="5" name="Shape 2"/>
          <p:cNvSpPr/>
          <p:nvPr/>
        </p:nvSpPr>
        <p:spPr>
          <a:xfrm>
            <a:off x="457200" y="1143000"/>
            <a:ext cx="4023360" cy="603504"/>
          </a:xfrm>
          <a:prstGeom prst="roundRect">
            <a:avLst>
              <a:gd name="adj" fmla="val 12121"/>
            </a:avLst>
          </a:prstGeom>
          <a:solidFill>
            <a:srgbClr val="141B2D"/>
          </a:solidFill>
          <a:ln w="12700">
            <a:solidFill>
              <a:srgbClr val="263248"/>
            </a:solidFill>
            <a:prstDash val="solid"/>
          </a:ln>
        </p:spPr>
      </p:sp>
      <p:sp>
        <p:nvSpPr>
          <p:cNvPr id="6" name="Shape 3"/>
          <p:cNvSpPr/>
          <p:nvPr/>
        </p:nvSpPr>
        <p:spPr>
          <a:xfrm>
            <a:off x="566928" y="1261872"/>
            <a:ext cx="365760" cy="365760"/>
          </a:xfrm>
          <a:prstGeom prst="ellipse">
            <a:avLst/>
          </a:prstGeom>
          <a:solidFill>
            <a:schemeClr val="accent3"/>
          </a:solidFill>
          <a:ln/>
        </p:spPr>
      </p:sp>
      <p:pic>
        <p:nvPicPr>
          <p:cNvPr id="7" name="Image 0" descr="done">    </p:cNvPr>
          <p:cNvPicPr>
            <a:picLocks noChangeAspect="1"/>
          </p:cNvPicPr>
          <p:nvPr/>
        </p:nvPicPr>
        <p:blipFill>
          <a:blip r:embed="rId1"/>
          <a:stretch>
            <a:fillRect/>
          </a:stretch>
        </p:blipFill>
        <p:spPr>
          <a:xfrm>
            <a:off x="658368" y="1353312"/>
            <a:ext cx="182880" cy="182880"/>
          </a:xfrm>
          <a:prstGeom prst="rect">
            <a:avLst/>
          </a:prstGeom>
        </p:spPr>
      </p:pic>
      <p:sp>
        <p:nvSpPr>
          <p:cNvPr id="8" name="Text 4"/>
          <p:cNvSpPr txBox="1"/>
          <p:nvPr/>
        </p:nvSpPr>
        <p:spPr>
          <a:xfrm>
            <a:off x="1051560" y="1170432"/>
            <a:ext cx="3383280" cy="548640"/>
          </a:xfrm>
          <a:prstGeom prst="rect">
            <a:avLst/>
          </a:prstGeom>
          <a:noFill/>
          <a:ln/>
        </p:spPr>
        <p:txBody>
          <a:bodyPr wrap="square" lIns="0" tIns="0" rIns="0" bIns="0" rtlCol="0" anchor="ctr"/>
          <a:lstStyle/>
          <a:p>
            <a:pPr indent="0" marL="0">
              <a:buNone/>
            </a:pPr>
            <a:r>
              <a:rPr lang="en-US" sz="1400" b="1" dirty="0">
                <a:solidFill>
                  <a:schemeClr val="tx1"/>
                </a:solidFill>
              </a:rPr>
              <a:t>M1  Application</a:t>
            </a:r>
            <a:endParaRPr lang="en-US" sz="1400" dirty="0"/>
          </a:p>
          <a:p>
            <a:pPr indent="0" marL="0">
              <a:buNone/>
            </a:pPr>
            <a:r>
              <a:rPr lang="en-US" sz="1200" dirty="0">
                <a:solidFill>
                  <a:schemeClr val="tx2"/>
                </a:solidFill>
              </a:rPr>
              <a:t>React, FastAPI, PostgreSQL, Alembic</a:t>
            </a:r>
            <a:endParaRPr lang="en-US" sz="1400" dirty="0"/>
          </a:p>
        </p:txBody>
      </p:sp>
      <p:sp>
        <p:nvSpPr>
          <p:cNvPr id="9" name="Shape 5"/>
          <p:cNvSpPr/>
          <p:nvPr/>
        </p:nvSpPr>
        <p:spPr>
          <a:xfrm>
            <a:off x="457200" y="1837944"/>
            <a:ext cx="4023360" cy="603504"/>
          </a:xfrm>
          <a:prstGeom prst="roundRect">
            <a:avLst>
              <a:gd name="adj" fmla="val 12121"/>
            </a:avLst>
          </a:prstGeom>
          <a:solidFill>
            <a:srgbClr val="141B2D"/>
          </a:solidFill>
          <a:ln w="12700">
            <a:solidFill>
              <a:srgbClr val="263248"/>
            </a:solidFill>
            <a:prstDash val="solid"/>
          </a:ln>
        </p:spPr>
      </p:sp>
      <p:sp>
        <p:nvSpPr>
          <p:cNvPr id="10" name="Shape 6"/>
          <p:cNvSpPr/>
          <p:nvPr/>
        </p:nvSpPr>
        <p:spPr>
          <a:xfrm>
            <a:off x="566928" y="1956816"/>
            <a:ext cx="365760" cy="365760"/>
          </a:xfrm>
          <a:prstGeom prst="ellipse">
            <a:avLst/>
          </a:prstGeom>
          <a:solidFill>
            <a:schemeClr val="accent3"/>
          </a:solidFill>
          <a:ln/>
        </p:spPr>
      </p:sp>
      <p:pic>
        <p:nvPicPr>
          <p:cNvPr id="11" name="Image 1" descr="done">    </p:cNvPr>
          <p:cNvPicPr>
            <a:picLocks noChangeAspect="1"/>
          </p:cNvPicPr>
          <p:nvPr/>
        </p:nvPicPr>
        <p:blipFill>
          <a:blip r:embed="rId2"/>
          <a:stretch>
            <a:fillRect/>
          </a:stretch>
        </p:blipFill>
        <p:spPr>
          <a:xfrm>
            <a:off x="658368" y="2048256"/>
            <a:ext cx="182880" cy="182880"/>
          </a:xfrm>
          <a:prstGeom prst="rect">
            <a:avLst/>
          </a:prstGeom>
        </p:spPr>
      </p:pic>
      <p:sp>
        <p:nvSpPr>
          <p:cNvPr id="12" name="Text 7"/>
          <p:cNvSpPr txBox="1"/>
          <p:nvPr/>
        </p:nvSpPr>
        <p:spPr>
          <a:xfrm>
            <a:off x="1051560" y="1865376"/>
            <a:ext cx="3383280" cy="548640"/>
          </a:xfrm>
          <a:prstGeom prst="rect">
            <a:avLst/>
          </a:prstGeom>
          <a:noFill/>
          <a:ln/>
        </p:spPr>
        <p:txBody>
          <a:bodyPr wrap="square" lIns="0" tIns="0" rIns="0" bIns="0" rtlCol="0" anchor="ctr"/>
          <a:lstStyle/>
          <a:p>
            <a:pPr indent="0" marL="0">
              <a:buNone/>
            </a:pPr>
            <a:r>
              <a:rPr lang="en-US" sz="1400" b="1" dirty="0">
                <a:solidFill>
                  <a:schemeClr val="tx1"/>
                </a:solidFill>
              </a:rPr>
              <a:t>M2  Testing</a:t>
            </a:r>
            <a:endParaRPr lang="en-US" sz="1400" dirty="0"/>
          </a:p>
          <a:p>
            <a:pPr indent="0" marL="0">
              <a:buNone/>
            </a:pPr>
            <a:r>
              <a:rPr lang="en-US" sz="1200" dirty="0">
                <a:solidFill>
                  <a:schemeClr val="tx2"/>
                </a:solidFill>
              </a:rPr>
              <a:t>11 pytest tests on SQLite</a:t>
            </a:r>
            <a:endParaRPr lang="en-US" sz="1400" dirty="0"/>
          </a:p>
        </p:txBody>
      </p:sp>
      <p:sp>
        <p:nvSpPr>
          <p:cNvPr id="13" name="Shape 8"/>
          <p:cNvSpPr/>
          <p:nvPr/>
        </p:nvSpPr>
        <p:spPr>
          <a:xfrm>
            <a:off x="457200" y="2532888"/>
            <a:ext cx="4023360" cy="603504"/>
          </a:xfrm>
          <a:prstGeom prst="roundRect">
            <a:avLst>
              <a:gd name="adj" fmla="val 12121"/>
            </a:avLst>
          </a:prstGeom>
          <a:solidFill>
            <a:srgbClr val="141B2D"/>
          </a:solidFill>
          <a:ln w="12700">
            <a:solidFill>
              <a:srgbClr val="263248"/>
            </a:solidFill>
            <a:prstDash val="solid"/>
          </a:ln>
        </p:spPr>
      </p:sp>
      <p:sp>
        <p:nvSpPr>
          <p:cNvPr id="14" name="Shape 9"/>
          <p:cNvSpPr/>
          <p:nvPr/>
        </p:nvSpPr>
        <p:spPr>
          <a:xfrm>
            <a:off x="566928" y="2651760"/>
            <a:ext cx="365760" cy="365760"/>
          </a:xfrm>
          <a:prstGeom prst="ellipse">
            <a:avLst/>
          </a:prstGeom>
          <a:solidFill>
            <a:schemeClr val="accent3"/>
          </a:solidFill>
          <a:ln/>
        </p:spPr>
      </p:sp>
      <p:pic>
        <p:nvPicPr>
          <p:cNvPr id="15" name="Image 2" descr="done">    </p:cNvPr>
          <p:cNvPicPr>
            <a:picLocks noChangeAspect="1"/>
          </p:cNvPicPr>
          <p:nvPr/>
        </p:nvPicPr>
        <p:blipFill>
          <a:blip r:embed="rId3"/>
          <a:stretch>
            <a:fillRect/>
          </a:stretch>
        </p:blipFill>
        <p:spPr>
          <a:xfrm>
            <a:off x="658368" y="2743200"/>
            <a:ext cx="182880" cy="182880"/>
          </a:xfrm>
          <a:prstGeom prst="rect">
            <a:avLst/>
          </a:prstGeom>
        </p:spPr>
      </p:pic>
      <p:sp>
        <p:nvSpPr>
          <p:cNvPr id="16" name="Text 10"/>
          <p:cNvSpPr txBox="1"/>
          <p:nvPr/>
        </p:nvSpPr>
        <p:spPr>
          <a:xfrm>
            <a:off x="1051560" y="2560320"/>
            <a:ext cx="3383280" cy="548640"/>
          </a:xfrm>
          <a:prstGeom prst="rect">
            <a:avLst/>
          </a:prstGeom>
          <a:noFill/>
          <a:ln/>
        </p:spPr>
        <p:txBody>
          <a:bodyPr wrap="square" lIns="0" tIns="0" rIns="0" bIns="0" rtlCol="0" anchor="ctr"/>
          <a:lstStyle/>
          <a:p>
            <a:pPr indent="0" marL="0">
              <a:buNone/>
            </a:pPr>
            <a:r>
              <a:rPr lang="en-US" sz="1400" b="1" dirty="0">
                <a:solidFill>
                  <a:schemeClr val="tx1"/>
                </a:solidFill>
              </a:rPr>
              <a:t>M3  Git and GitHub</a:t>
            </a:r>
            <a:endParaRPr lang="en-US" sz="1400" dirty="0"/>
          </a:p>
          <a:p>
            <a:pPr indent="0" marL="0">
              <a:buNone/>
            </a:pPr>
            <a:r>
              <a:rPr lang="en-US" sz="1200" dirty="0">
                <a:solidFill>
                  <a:schemeClr val="tx2"/>
                </a:solidFill>
              </a:rPr>
              <a:t>Public repo, clear commits</a:t>
            </a:r>
            <a:endParaRPr lang="en-US" sz="1400" dirty="0"/>
          </a:p>
        </p:txBody>
      </p:sp>
      <p:sp>
        <p:nvSpPr>
          <p:cNvPr id="17" name="Shape 11"/>
          <p:cNvSpPr/>
          <p:nvPr/>
        </p:nvSpPr>
        <p:spPr>
          <a:xfrm>
            <a:off x="457200" y="3227832"/>
            <a:ext cx="4023360" cy="603504"/>
          </a:xfrm>
          <a:prstGeom prst="roundRect">
            <a:avLst>
              <a:gd name="adj" fmla="val 12121"/>
            </a:avLst>
          </a:prstGeom>
          <a:solidFill>
            <a:srgbClr val="141B2D"/>
          </a:solidFill>
          <a:ln w="12700">
            <a:solidFill>
              <a:srgbClr val="263248"/>
            </a:solidFill>
            <a:prstDash val="solid"/>
          </a:ln>
        </p:spPr>
      </p:sp>
      <p:sp>
        <p:nvSpPr>
          <p:cNvPr id="18" name="Shape 12"/>
          <p:cNvSpPr/>
          <p:nvPr/>
        </p:nvSpPr>
        <p:spPr>
          <a:xfrm>
            <a:off x="566928" y="3346704"/>
            <a:ext cx="365760" cy="365760"/>
          </a:xfrm>
          <a:prstGeom prst="ellipse">
            <a:avLst/>
          </a:prstGeom>
          <a:solidFill>
            <a:schemeClr val="accent3"/>
          </a:solidFill>
          <a:ln/>
        </p:spPr>
      </p:sp>
      <p:pic>
        <p:nvPicPr>
          <p:cNvPr id="19" name="Image 3" descr="done">    </p:cNvPr>
          <p:cNvPicPr>
            <a:picLocks noChangeAspect="1"/>
          </p:cNvPicPr>
          <p:nvPr/>
        </p:nvPicPr>
        <p:blipFill>
          <a:blip r:embed="rId4"/>
          <a:stretch>
            <a:fillRect/>
          </a:stretch>
        </p:blipFill>
        <p:spPr>
          <a:xfrm>
            <a:off x="658368" y="3438144"/>
            <a:ext cx="182880" cy="182880"/>
          </a:xfrm>
          <a:prstGeom prst="rect">
            <a:avLst/>
          </a:prstGeom>
        </p:spPr>
      </p:pic>
      <p:sp>
        <p:nvSpPr>
          <p:cNvPr id="20" name="Text 13"/>
          <p:cNvSpPr txBox="1"/>
          <p:nvPr/>
        </p:nvSpPr>
        <p:spPr>
          <a:xfrm>
            <a:off x="1051560" y="3255264"/>
            <a:ext cx="3383280" cy="548640"/>
          </a:xfrm>
          <a:prstGeom prst="rect">
            <a:avLst/>
          </a:prstGeom>
          <a:noFill/>
          <a:ln/>
        </p:spPr>
        <p:txBody>
          <a:bodyPr wrap="square" lIns="0" tIns="0" rIns="0" bIns="0" rtlCol="0" anchor="ctr"/>
          <a:lstStyle/>
          <a:p>
            <a:pPr indent="0" marL="0">
              <a:buNone/>
            </a:pPr>
            <a:r>
              <a:rPr lang="en-US" sz="1400" b="1" dirty="0">
                <a:solidFill>
                  <a:schemeClr val="tx1"/>
                </a:solidFill>
              </a:rPr>
              <a:t>M4  Docker</a:t>
            </a:r>
            <a:endParaRPr lang="en-US" sz="1400" dirty="0"/>
          </a:p>
          <a:p>
            <a:pPr indent="0" marL="0">
              <a:buNone/>
            </a:pPr>
            <a:r>
              <a:rPr lang="en-US" sz="1200" dirty="0">
                <a:solidFill>
                  <a:schemeClr val="tx2"/>
                </a:solidFill>
              </a:rPr>
              <a:t>Non-root images, multi-stage, Compose</a:t>
            </a:r>
            <a:endParaRPr lang="en-US" sz="1400" dirty="0"/>
          </a:p>
        </p:txBody>
      </p:sp>
      <p:sp>
        <p:nvSpPr>
          <p:cNvPr id="21" name="Shape 14"/>
          <p:cNvSpPr/>
          <p:nvPr/>
        </p:nvSpPr>
        <p:spPr>
          <a:xfrm>
            <a:off x="457200" y="3922776"/>
            <a:ext cx="4023360" cy="603504"/>
          </a:xfrm>
          <a:prstGeom prst="roundRect">
            <a:avLst>
              <a:gd name="adj" fmla="val 12121"/>
            </a:avLst>
          </a:prstGeom>
          <a:solidFill>
            <a:srgbClr val="141B2D"/>
          </a:solidFill>
          <a:ln w="12700">
            <a:solidFill>
              <a:srgbClr val="263248"/>
            </a:solidFill>
            <a:prstDash val="solid"/>
          </a:ln>
        </p:spPr>
      </p:sp>
      <p:sp>
        <p:nvSpPr>
          <p:cNvPr id="22" name="Shape 15"/>
          <p:cNvSpPr/>
          <p:nvPr/>
        </p:nvSpPr>
        <p:spPr>
          <a:xfrm>
            <a:off x="566928" y="4041648"/>
            <a:ext cx="365760" cy="365760"/>
          </a:xfrm>
          <a:prstGeom prst="ellipse">
            <a:avLst/>
          </a:prstGeom>
          <a:solidFill>
            <a:schemeClr val="accent3"/>
          </a:solidFill>
          <a:ln/>
        </p:spPr>
      </p:sp>
      <p:pic>
        <p:nvPicPr>
          <p:cNvPr id="23" name="Image 4" descr="done">    </p:cNvPr>
          <p:cNvPicPr>
            <a:picLocks noChangeAspect="1"/>
          </p:cNvPicPr>
          <p:nvPr/>
        </p:nvPicPr>
        <p:blipFill>
          <a:blip r:embed="rId5"/>
          <a:stretch>
            <a:fillRect/>
          </a:stretch>
        </p:blipFill>
        <p:spPr>
          <a:xfrm>
            <a:off x="658368" y="4133088"/>
            <a:ext cx="182880" cy="182880"/>
          </a:xfrm>
          <a:prstGeom prst="rect">
            <a:avLst/>
          </a:prstGeom>
        </p:spPr>
      </p:pic>
      <p:sp>
        <p:nvSpPr>
          <p:cNvPr id="24" name="Text 16"/>
          <p:cNvSpPr txBox="1"/>
          <p:nvPr/>
        </p:nvSpPr>
        <p:spPr>
          <a:xfrm>
            <a:off x="1051560" y="3950208"/>
            <a:ext cx="3383280" cy="548640"/>
          </a:xfrm>
          <a:prstGeom prst="rect">
            <a:avLst/>
          </a:prstGeom>
          <a:noFill/>
          <a:ln/>
        </p:spPr>
        <p:txBody>
          <a:bodyPr wrap="square" lIns="0" tIns="0" rIns="0" bIns="0" rtlCol="0" anchor="ctr"/>
          <a:lstStyle/>
          <a:p>
            <a:pPr indent="0" marL="0">
              <a:buNone/>
            </a:pPr>
            <a:r>
              <a:rPr lang="en-US" sz="1400" b="1" dirty="0">
                <a:solidFill>
                  <a:schemeClr val="tx1"/>
                </a:solidFill>
              </a:rPr>
              <a:t>M5  CI/CD</a:t>
            </a:r>
            <a:endParaRPr lang="en-US" sz="1400" dirty="0"/>
          </a:p>
          <a:p>
            <a:pPr indent="0" marL="0">
              <a:buNone/>
            </a:pPr>
            <a:r>
              <a:rPr lang="en-US" sz="1200" dirty="0">
                <a:solidFill>
                  <a:schemeClr val="tx2"/>
                </a:solidFill>
              </a:rPr>
              <a:t>Test, build, push, SHA tags</a:t>
            </a:r>
            <a:endParaRPr lang="en-US" sz="1400" dirty="0"/>
          </a:p>
        </p:txBody>
      </p:sp>
      <p:sp>
        <p:nvSpPr>
          <p:cNvPr id="25" name="Shape 17"/>
          <p:cNvSpPr/>
          <p:nvPr/>
        </p:nvSpPr>
        <p:spPr>
          <a:xfrm>
            <a:off x="4663440" y="1143000"/>
            <a:ext cx="4023360" cy="603504"/>
          </a:xfrm>
          <a:prstGeom prst="roundRect">
            <a:avLst>
              <a:gd name="adj" fmla="val 12121"/>
            </a:avLst>
          </a:prstGeom>
          <a:solidFill>
            <a:srgbClr val="141B2D"/>
          </a:solidFill>
          <a:ln w="12700">
            <a:solidFill>
              <a:srgbClr val="263248"/>
            </a:solidFill>
            <a:prstDash val="solid"/>
          </a:ln>
        </p:spPr>
      </p:sp>
      <p:sp>
        <p:nvSpPr>
          <p:cNvPr id="26" name="Shape 18"/>
          <p:cNvSpPr/>
          <p:nvPr/>
        </p:nvSpPr>
        <p:spPr>
          <a:xfrm>
            <a:off x="4773168" y="1261872"/>
            <a:ext cx="365760" cy="365760"/>
          </a:xfrm>
          <a:prstGeom prst="ellipse">
            <a:avLst/>
          </a:prstGeom>
          <a:solidFill>
            <a:schemeClr val="accent3"/>
          </a:solidFill>
          <a:ln/>
        </p:spPr>
      </p:sp>
      <p:pic>
        <p:nvPicPr>
          <p:cNvPr id="27" name="Image 5" descr="done">    </p:cNvPr>
          <p:cNvPicPr>
            <a:picLocks noChangeAspect="1"/>
          </p:cNvPicPr>
          <p:nvPr/>
        </p:nvPicPr>
        <p:blipFill>
          <a:blip r:embed="rId6"/>
          <a:stretch>
            <a:fillRect/>
          </a:stretch>
        </p:blipFill>
        <p:spPr>
          <a:xfrm>
            <a:off x="4864608" y="1353312"/>
            <a:ext cx="182880" cy="182880"/>
          </a:xfrm>
          <a:prstGeom prst="rect">
            <a:avLst/>
          </a:prstGeom>
        </p:spPr>
      </p:pic>
      <p:sp>
        <p:nvSpPr>
          <p:cNvPr id="28" name="Text 19"/>
          <p:cNvSpPr txBox="1"/>
          <p:nvPr/>
        </p:nvSpPr>
        <p:spPr>
          <a:xfrm>
            <a:off x="5257800" y="1170432"/>
            <a:ext cx="3383280" cy="548640"/>
          </a:xfrm>
          <a:prstGeom prst="rect">
            <a:avLst/>
          </a:prstGeom>
          <a:noFill/>
          <a:ln/>
        </p:spPr>
        <p:txBody>
          <a:bodyPr wrap="square" lIns="0" tIns="0" rIns="0" bIns="0" rtlCol="0" anchor="ctr"/>
          <a:lstStyle/>
          <a:p>
            <a:pPr indent="0" marL="0">
              <a:buNone/>
            </a:pPr>
            <a:r>
              <a:rPr lang="en-US" sz="1400" b="1" dirty="0">
                <a:solidFill>
                  <a:schemeClr val="tx1"/>
                </a:solidFill>
              </a:rPr>
              <a:t>M6  DevSecOps</a:t>
            </a:r>
            <a:endParaRPr lang="en-US" sz="1400" dirty="0"/>
          </a:p>
          <a:p>
            <a:pPr indent="0" marL="0">
              <a:buNone/>
            </a:pPr>
            <a:r>
              <a:rPr lang="en-US" sz="1200" dirty="0">
                <a:solidFill>
                  <a:schemeClr val="tx2"/>
                </a:solidFill>
              </a:rPr>
              <a:t>Trivy gate, clean scans</a:t>
            </a:r>
            <a:endParaRPr lang="en-US" sz="1400" dirty="0"/>
          </a:p>
        </p:txBody>
      </p:sp>
      <p:sp>
        <p:nvSpPr>
          <p:cNvPr id="29" name="Shape 20"/>
          <p:cNvSpPr/>
          <p:nvPr/>
        </p:nvSpPr>
        <p:spPr>
          <a:xfrm>
            <a:off x="4663440" y="1837944"/>
            <a:ext cx="4023360" cy="603504"/>
          </a:xfrm>
          <a:prstGeom prst="roundRect">
            <a:avLst>
              <a:gd name="adj" fmla="val 12121"/>
            </a:avLst>
          </a:prstGeom>
          <a:solidFill>
            <a:srgbClr val="141B2D"/>
          </a:solidFill>
          <a:ln w="12700">
            <a:solidFill>
              <a:srgbClr val="263248"/>
            </a:solidFill>
            <a:prstDash val="solid"/>
          </a:ln>
        </p:spPr>
      </p:sp>
      <p:sp>
        <p:nvSpPr>
          <p:cNvPr id="30" name="Shape 21"/>
          <p:cNvSpPr/>
          <p:nvPr/>
        </p:nvSpPr>
        <p:spPr>
          <a:xfrm>
            <a:off x="4773168" y="1956816"/>
            <a:ext cx="365760" cy="365760"/>
          </a:xfrm>
          <a:prstGeom prst="ellipse">
            <a:avLst/>
          </a:prstGeom>
          <a:solidFill>
            <a:schemeClr val="accent3"/>
          </a:solidFill>
          <a:ln/>
        </p:spPr>
      </p:sp>
      <p:pic>
        <p:nvPicPr>
          <p:cNvPr id="31" name="Image 6" descr="done">    </p:cNvPr>
          <p:cNvPicPr>
            <a:picLocks noChangeAspect="1"/>
          </p:cNvPicPr>
          <p:nvPr/>
        </p:nvPicPr>
        <p:blipFill>
          <a:blip r:embed="rId7"/>
          <a:stretch>
            <a:fillRect/>
          </a:stretch>
        </p:blipFill>
        <p:spPr>
          <a:xfrm>
            <a:off x="4864608" y="2048256"/>
            <a:ext cx="182880" cy="182880"/>
          </a:xfrm>
          <a:prstGeom prst="rect">
            <a:avLst/>
          </a:prstGeom>
        </p:spPr>
      </p:pic>
      <p:sp>
        <p:nvSpPr>
          <p:cNvPr id="32" name="Text 22"/>
          <p:cNvSpPr txBox="1"/>
          <p:nvPr/>
        </p:nvSpPr>
        <p:spPr>
          <a:xfrm>
            <a:off x="5257800" y="1865376"/>
            <a:ext cx="3383280" cy="548640"/>
          </a:xfrm>
          <a:prstGeom prst="rect">
            <a:avLst/>
          </a:prstGeom>
          <a:noFill/>
          <a:ln/>
        </p:spPr>
        <p:txBody>
          <a:bodyPr wrap="square" lIns="0" tIns="0" rIns="0" bIns="0" rtlCol="0" anchor="ctr"/>
          <a:lstStyle/>
          <a:p>
            <a:pPr indent="0" marL="0">
              <a:buNone/>
            </a:pPr>
            <a:r>
              <a:rPr lang="en-US" sz="1400" b="1" dirty="0">
                <a:solidFill>
                  <a:schemeClr val="tx1"/>
                </a:solidFill>
              </a:rPr>
              <a:t>M7  Terraform</a:t>
            </a:r>
            <a:endParaRPr lang="en-US" sz="1400" dirty="0"/>
          </a:p>
          <a:p>
            <a:pPr indent="0" marL="0">
              <a:buNone/>
            </a:pPr>
            <a:r>
              <a:rPr lang="en-US" sz="1200" dirty="0">
                <a:solidFill>
                  <a:schemeClr val="tx2"/>
                </a:solidFill>
              </a:rPr>
              <a:t>VPC and EKS, plan, apply, destroy</a:t>
            </a:r>
            <a:endParaRPr lang="en-US" sz="1400" dirty="0"/>
          </a:p>
        </p:txBody>
      </p:sp>
      <p:sp>
        <p:nvSpPr>
          <p:cNvPr id="33" name="Shape 23"/>
          <p:cNvSpPr/>
          <p:nvPr/>
        </p:nvSpPr>
        <p:spPr>
          <a:xfrm>
            <a:off x="4663440" y="2532888"/>
            <a:ext cx="4023360" cy="603504"/>
          </a:xfrm>
          <a:prstGeom prst="roundRect">
            <a:avLst>
              <a:gd name="adj" fmla="val 12121"/>
            </a:avLst>
          </a:prstGeom>
          <a:solidFill>
            <a:srgbClr val="141B2D"/>
          </a:solidFill>
          <a:ln w="12700">
            <a:solidFill>
              <a:srgbClr val="263248"/>
            </a:solidFill>
            <a:prstDash val="solid"/>
          </a:ln>
        </p:spPr>
      </p:sp>
      <p:sp>
        <p:nvSpPr>
          <p:cNvPr id="34" name="Shape 24"/>
          <p:cNvSpPr/>
          <p:nvPr/>
        </p:nvSpPr>
        <p:spPr>
          <a:xfrm>
            <a:off x="4773168" y="2651760"/>
            <a:ext cx="365760" cy="365760"/>
          </a:xfrm>
          <a:prstGeom prst="ellipse">
            <a:avLst/>
          </a:prstGeom>
          <a:solidFill>
            <a:schemeClr val="accent3"/>
          </a:solidFill>
          <a:ln/>
        </p:spPr>
      </p:sp>
      <p:pic>
        <p:nvPicPr>
          <p:cNvPr id="35" name="Image 7" descr="done">    </p:cNvPr>
          <p:cNvPicPr>
            <a:picLocks noChangeAspect="1"/>
          </p:cNvPicPr>
          <p:nvPr/>
        </p:nvPicPr>
        <p:blipFill>
          <a:blip r:embed="rId8"/>
          <a:stretch>
            <a:fillRect/>
          </a:stretch>
        </p:blipFill>
        <p:spPr>
          <a:xfrm>
            <a:off x="4864608" y="2743200"/>
            <a:ext cx="182880" cy="182880"/>
          </a:xfrm>
          <a:prstGeom prst="rect">
            <a:avLst/>
          </a:prstGeom>
        </p:spPr>
      </p:pic>
      <p:sp>
        <p:nvSpPr>
          <p:cNvPr id="36" name="Text 25"/>
          <p:cNvSpPr txBox="1"/>
          <p:nvPr/>
        </p:nvSpPr>
        <p:spPr>
          <a:xfrm>
            <a:off x="5257800" y="2560320"/>
            <a:ext cx="3383280" cy="548640"/>
          </a:xfrm>
          <a:prstGeom prst="rect">
            <a:avLst/>
          </a:prstGeom>
          <a:noFill/>
          <a:ln/>
        </p:spPr>
        <p:txBody>
          <a:bodyPr wrap="square" lIns="0" tIns="0" rIns="0" bIns="0" rtlCol="0" anchor="ctr"/>
          <a:lstStyle/>
          <a:p>
            <a:pPr indent="0" marL="0">
              <a:buNone/>
            </a:pPr>
            <a:r>
              <a:rPr lang="en-US" sz="1400" b="1" dirty="0">
                <a:solidFill>
                  <a:schemeClr val="tx1"/>
                </a:solidFill>
              </a:rPr>
              <a:t>M8  Kubernetes and Helm</a:t>
            </a:r>
            <a:endParaRPr lang="en-US" sz="1400" dirty="0"/>
          </a:p>
          <a:p>
            <a:pPr indent="0" marL="0">
              <a:buNone/>
            </a:pPr>
            <a:r>
              <a:rPr lang="en-US" sz="1200" dirty="0">
                <a:solidFill>
                  <a:schemeClr val="tx2"/>
                </a:solidFill>
              </a:rPr>
              <a:t>Chart, ingress, HPA, pods Running</a:t>
            </a:r>
            <a:endParaRPr lang="en-US" sz="1400" dirty="0"/>
          </a:p>
        </p:txBody>
      </p:sp>
      <p:sp>
        <p:nvSpPr>
          <p:cNvPr id="37" name="Shape 26"/>
          <p:cNvSpPr/>
          <p:nvPr/>
        </p:nvSpPr>
        <p:spPr>
          <a:xfrm>
            <a:off x="4663440" y="3227832"/>
            <a:ext cx="4023360" cy="603504"/>
          </a:xfrm>
          <a:prstGeom prst="roundRect">
            <a:avLst>
              <a:gd name="adj" fmla="val 12121"/>
            </a:avLst>
          </a:prstGeom>
          <a:solidFill>
            <a:srgbClr val="141B2D"/>
          </a:solidFill>
          <a:ln w="12700">
            <a:solidFill>
              <a:srgbClr val="263248"/>
            </a:solidFill>
            <a:prstDash val="solid"/>
          </a:ln>
        </p:spPr>
      </p:sp>
      <p:sp>
        <p:nvSpPr>
          <p:cNvPr id="38" name="Shape 27"/>
          <p:cNvSpPr/>
          <p:nvPr/>
        </p:nvSpPr>
        <p:spPr>
          <a:xfrm>
            <a:off x="4773168" y="3346704"/>
            <a:ext cx="365760" cy="365760"/>
          </a:xfrm>
          <a:prstGeom prst="ellipse">
            <a:avLst/>
          </a:prstGeom>
          <a:solidFill>
            <a:schemeClr val="accent3"/>
          </a:solidFill>
          <a:ln/>
        </p:spPr>
      </p:sp>
      <p:pic>
        <p:nvPicPr>
          <p:cNvPr id="39" name="Image 8" descr="done">    </p:cNvPr>
          <p:cNvPicPr>
            <a:picLocks noChangeAspect="1"/>
          </p:cNvPicPr>
          <p:nvPr/>
        </p:nvPicPr>
        <p:blipFill>
          <a:blip r:embed="rId9"/>
          <a:stretch>
            <a:fillRect/>
          </a:stretch>
        </p:blipFill>
        <p:spPr>
          <a:xfrm>
            <a:off x="4864608" y="3438144"/>
            <a:ext cx="182880" cy="182880"/>
          </a:xfrm>
          <a:prstGeom prst="rect">
            <a:avLst/>
          </a:prstGeom>
        </p:spPr>
      </p:pic>
      <p:sp>
        <p:nvSpPr>
          <p:cNvPr id="40" name="Text 28"/>
          <p:cNvSpPr txBox="1"/>
          <p:nvPr/>
        </p:nvSpPr>
        <p:spPr>
          <a:xfrm>
            <a:off x="5257800" y="3255264"/>
            <a:ext cx="3383280" cy="548640"/>
          </a:xfrm>
          <a:prstGeom prst="rect">
            <a:avLst/>
          </a:prstGeom>
          <a:noFill/>
          <a:ln/>
        </p:spPr>
        <p:txBody>
          <a:bodyPr wrap="square" lIns="0" tIns="0" rIns="0" bIns="0" rtlCol="0" anchor="ctr"/>
          <a:lstStyle/>
          <a:p>
            <a:pPr indent="0" marL="0">
              <a:buNone/>
            </a:pPr>
            <a:r>
              <a:rPr lang="en-US" sz="1400" b="1" dirty="0">
                <a:solidFill>
                  <a:schemeClr val="tx1"/>
                </a:solidFill>
              </a:rPr>
              <a:t>M9  Observability</a:t>
            </a:r>
            <a:endParaRPr lang="en-US" sz="1400" dirty="0"/>
          </a:p>
          <a:p>
            <a:pPr indent="0" marL="0">
              <a:buNone/>
            </a:pPr>
            <a:r>
              <a:rPr lang="en-US" sz="1200" dirty="0">
                <a:solidFill>
                  <a:schemeClr val="tx2"/>
                </a:solidFill>
              </a:rPr>
              <a:t>Prometheus targets UP, Grafana</a:t>
            </a:r>
            <a:endParaRPr lang="en-US" sz="1400" dirty="0"/>
          </a:p>
        </p:txBody>
      </p:sp>
      <p:sp>
        <p:nvSpPr>
          <p:cNvPr id="41" name="Shape 29"/>
          <p:cNvSpPr/>
          <p:nvPr/>
        </p:nvSpPr>
        <p:spPr>
          <a:xfrm>
            <a:off x="4663440" y="3922776"/>
            <a:ext cx="4023360" cy="603504"/>
          </a:xfrm>
          <a:prstGeom prst="roundRect">
            <a:avLst>
              <a:gd name="adj" fmla="val 12121"/>
            </a:avLst>
          </a:prstGeom>
          <a:solidFill>
            <a:srgbClr val="141B2D"/>
          </a:solidFill>
          <a:ln w="12700">
            <a:solidFill>
              <a:srgbClr val="263248"/>
            </a:solidFill>
            <a:prstDash val="solid"/>
          </a:ln>
        </p:spPr>
      </p:sp>
      <p:sp>
        <p:nvSpPr>
          <p:cNvPr id="42" name="Shape 30"/>
          <p:cNvSpPr/>
          <p:nvPr/>
        </p:nvSpPr>
        <p:spPr>
          <a:xfrm>
            <a:off x="4773168" y="4041648"/>
            <a:ext cx="365760" cy="365760"/>
          </a:xfrm>
          <a:prstGeom prst="ellipse">
            <a:avLst/>
          </a:prstGeom>
          <a:solidFill>
            <a:schemeClr val="accent3"/>
          </a:solidFill>
          <a:ln/>
        </p:spPr>
      </p:sp>
      <p:pic>
        <p:nvPicPr>
          <p:cNvPr id="43" name="Image 9" descr="done">    </p:cNvPr>
          <p:cNvPicPr>
            <a:picLocks noChangeAspect="1"/>
          </p:cNvPicPr>
          <p:nvPr/>
        </p:nvPicPr>
        <p:blipFill>
          <a:blip r:embed="rId10"/>
          <a:stretch>
            <a:fillRect/>
          </a:stretch>
        </p:blipFill>
        <p:spPr>
          <a:xfrm>
            <a:off x="4864608" y="4133088"/>
            <a:ext cx="182880" cy="182880"/>
          </a:xfrm>
          <a:prstGeom prst="rect">
            <a:avLst/>
          </a:prstGeom>
        </p:spPr>
      </p:pic>
      <p:sp>
        <p:nvSpPr>
          <p:cNvPr id="44" name="Text 31"/>
          <p:cNvSpPr txBox="1"/>
          <p:nvPr/>
        </p:nvSpPr>
        <p:spPr>
          <a:xfrm>
            <a:off x="5257800" y="3950208"/>
            <a:ext cx="3383280" cy="548640"/>
          </a:xfrm>
          <a:prstGeom prst="rect">
            <a:avLst/>
          </a:prstGeom>
          <a:noFill/>
          <a:ln/>
        </p:spPr>
        <p:txBody>
          <a:bodyPr wrap="square" lIns="0" tIns="0" rIns="0" bIns="0" rtlCol="0" anchor="ctr"/>
          <a:lstStyle/>
          <a:p>
            <a:pPr indent="0" marL="0">
              <a:buNone/>
            </a:pPr>
            <a:r>
              <a:rPr lang="en-US" sz="1400" b="1" dirty="0">
                <a:solidFill>
                  <a:schemeClr val="tx1"/>
                </a:solidFill>
              </a:rPr>
              <a:t>M10  Docs and demo</a:t>
            </a:r>
            <a:endParaRPr lang="en-US" sz="1400" dirty="0"/>
          </a:p>
          <a:p>
            <a:pPr indent="0" marL="0">
              <a:buNone/>
            </a:pPr>
            <a:r>
              <a:rPr lang="en-US" sz="1200" dirty="0">
                <a:solidFill>
                  <a:schemeClr val="tx2"/>
                </a:solidFill>
              </a:rPr>
              <a:t>README, slides, recorded demo</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097280"/>
          </a:xfrm>
          <a:prstGeom prst="rect">
            <a:avLst/>
          </a:prstGeom>
          <a:noFill/>
          <a:ln/>
        </p:spPr>
        <p:txBody>
          <a:bodyPr wrap="square" lIns="0" tIns="0" rIns="0" bIns="0" rtlCol="0" anchor="b"/>
          <a:lstStyle/>
          <a:p>
            <a:pPr algn="l" indent="0" marL="0">
              <a:buNone/>
            </a:pPr>
            <a:r>
              <a:rPr lang="en-US" sz="4800" b="1" dirty="0">
                <a:solidFill>
                  <a:schemeClr val="tx1"/>
                </a:solidFill>
              </a:rPr>
              <a:t>Thank you</a:t>
            </a:r>
            <a:endParaRPr lang="en-US" sz="4800" dirty="0"/>
          </a:p>
        </p:txBody>
      </p:sp>
      <p:sp>
        <p:nvSpPr>
          <p:cNvPr id="3" name="Text 0"/>
          <p:cNvSpPr/>
          <p:nvPr>
            <p:ph idx="101" type="body" hasCustomPrompt="1"/>
          </p:nvPr>
        </p:nvSpPr>
        <p:spPr>
          <a:xfrm>
            <a:off x="548640" y="2514600"/>
            <a:ext cx="4389120" cy="1005840"/>
          </a:xfrm>
          <a:prstGeom prst="rect">
            <a:avLst/>
          </a:prstGeom>
          <a:noFill/>
          <a:ln/>
        </p:spPr>
        <p:txBody>
          <a:bodyPr wrap="square" lIns="0" tIns="0" rIns="0" bIns="0" rtlCol="0" anchor="t"/>
          <a:lstStyle/>
          <a:p>
            <a:pPr algn="l" indent="0" marL="0">
              <a:buNone/>
            </a:pPr>
            <a:r>
              <a:rPr lang="en-US" sz="2000" dirty="0">
                <a:solidFill>
                  <a:schemeClr val="accent2"/>
                </a:solidFill>
              </a:rPr>
              <a:t>Questions?</a:t>
            </a:r>
            <a:endParaRPr lang="en-US" sz="2000" dirty="0"/>
          </a:p>
        </p:txBody>
      </p:sp>
      <p:sp>
        <p:nvSpPr>
          <p:cNvPr id="4" name="Text 2"/>
          <p:cNvSpPr txBox="1"/>
          <p:nvPr/>
        </p:nvSpPr>
        <p:spPr>
          <a:xfrm>
            <a:off x="548640" y="3291840"/>
            <a:ext cx="5669280" cy="1371600"/>
          </a:xfrm>
          <a:prstGeom prst="rect">
            <a:avLst/>
          </a:prstGeom>
          <a:noFill/>
          <a:ln/>
        </p:spPr>
        <p:txBody>
          <a:bodyPr wrap="square" lIns="0" tIns="0" rIns="0" bIns="0" rtlCol="0" anchor="t"/>
          <a:lstStyle/>
          <a:p>
            <a:pPr indent="0" marL="0">
              <a:buNone/>
            </a:pPr>
            <a:r>
              <a:rPr lang="en-US" sz="1400" b="1" dirty="0">
                <a:solidFill>
                  <a:srgbClr val="FFFFFF"/>
                </a:solidFill>
              </a:rPr>
              <a:t>Repository</a:t>
            </a:r>
            <a:endParaRPr lang="en-US" sz="1400" dirty="0"/>
          </a:p>
          <a:p>
            <a:pPr indent="0" marL="0">
              <a:buNone/>
            </a:pPr>
            <a:r>
              <a:rPr lang="en-US" sz="1400" u="sng" dirty="0">
                <a:solidFill>
                  <a:srgbClr val="22D3EE"/>
                </a:solidFill>
                <a:hlinkClick r:id="rId1" invalidUrl="" action="" tgtFrame="" tooltip="" history="1" highlightClick="0" endSnd="0">
                  <a:extLst>
                    <a:ext uri="{A12FA001-AC4F-418D-AE19-62706E023703}">
                      <ahyp:hlinkClr xmlns:ahyp="http://schemas.microsoft.com/office/drawing/2018/hyperlinkcolor" val="tx"/>
                    </a:ext>
                  </a:extLst>
                </a:hlinkClick>
              </a:rPr>
              <a:t>github.com/parthtaneja0001/helpdesk-devops-capstone</a:t>
            </a:r>
            <a:endParaRPr lang="en-US" sz="1400" dirty="0"/>
          </a:p>
          <a:p>
            <a:pPr indent="0" marL="0">
              <a:buNone/>
            </a:pPr>
            <a:r>
              <a:rPr lang="en-US" sz="1400" dirty="0">
                <a:solidFill>
                  <a:srgbClr val="000000"/>
                </a:solidFill>
              </a:rPr>
              <a:t> </a:t>
            </a:r>
            <a:endParaRPr lang="en-US" sz="1400" dirty="0"/>
          </a:p>
          <a:p>
            <a:pPr indent="0" marL="0">
              <a:buNone/>
            </a:pPr>
            <a:r>
              <a:rPr lang="en-US" sz="1400" b="1" dirty="0">
                <a:solidFill>
                  <a:srgbClr val="FFFFFF"/>
                </a:solidFill>
              </a:rPr>
              <a:t>Recorded demo</a:t>
            </a:r>
            <a:endParaRPr lang="en-US" sz="1400" dirty="0"/>
          </a:p>
          <a:p>
            <a:pPr indent="0" marL="0">
              <a:buNone/>
            </a:pPr>
            <a:r>
              <a:rPr lang="en-US" sz="1400" u="sng" dirty="0">
                <a:solidFill>
                  <a:srgbClr val="22D3EE"/>
                </a:solidFill>
                <a:hlinkClick r:id="rId2" invalidUrl="" action="" tgtFrame="" tooltip="" history="1" highlightClick="0" endSnd="0">
                  <a:extLst>
                    <a:ext uri="{A12FA001-AC4F-418D-AE19-62706E023703}">
                      <ahyp:hlinkClr xmlns:ahyp="http://schemas.microsoft.com/office/drawing/2018/hyperlinkcolor" val="tx"/>
                    </a:ext>
                  </a:extLst>
                </a:hlinkClick>
              </a:rPr>
              <a:t>Watch the walkthrough on Google Drive</a:t>
            </a:r>
            <a:endParaRPr lang="en-US" sz="1400" dirty="0"/>
          </a:p>
        </p:txBody>
      </p:sp>
      <p:sp>
        <p:nvSpPr>
          <p:cNvPr id="5" name="Shape 3"/>
          <p:cNvSpPr/>
          <p:nvPr/>
        </p:nvSpPr>
        <p:spPr>
          <a:xfrm>
            <a:off x="548640" y="960120"/>
            <a:ext cx="201168" cy="201168"/>
          </a:xfrm>
          <a:prstGeom prst="ellipse">
            <a:avLst/>
          </a:prstGeom>
          <a:solidFill>
            <a:schemeClr val="accent1"/>
          </a:solidFill>
          <a:ln/>
        </p:spPr>
      </p:sp>
      <p:sp>
        <p:nvSpPr>
          <p:cNvPr id="6" name="Shape 4"/>
          <p:cNvSpPr/>
          <p:nvPr/>
        </p:nvSpPr>
        <p:spPr>
          <a:xfrm>
            <a:off x="749808" y="1060704"/>
            <a:ext cx="301752" cy="0"/>
          </a:xfrm>
          <a:prstGeom prst="line">
            <a:avLst/>
          </a:prstGeom>
          <a:noFill/>
          <a:ln w="19050">
            <a:solidFill>
              <a:srgbClr val="475569"/>
            </a:solidFill>
            <a:prstDash val="solid"/>
          </a:ln>
        </p:spPr>
      </p:sp>
      <p:sp>
        <p:nvSpPr>
          <p:cNvPr id="7" name="Shape 5"/>
          <p:cNvSpPr/>
          <p:nvPr/>
        </p:nvSpPr>
        <p:spPr>
          <a:xfrm>
            <a:off x="1051560" y="960120"/>
            <a:ext cx="201168" cy="201168"/>
          </a:xfrm>
          <a:prstGeom prst="ellipse">
            <a:avLst/>
          </a:prstGeom>
          <a:solidFill>
            <a:schemeClr val="accent2"/>
          </a:solidFill>
          <a:ln/>
        </p:spPr>
      </p:sp>
      <p:sp>
        <p:nvSpPr>
          <p:cNvPr id="8" name="Shape 6"/>
          <p:cNvSpPr/>
          <p:nvPr/>
        </p:nvSpPr>
        <p:spPr>
          <a:xfrm>
            <a:off x="1252728" y="1060704"/>
            <a:ext cx="301752" cy="0"/>
          </a:xfrm>
          <a:prstGeom prst="line">
            <a:avLst/>
          </a:prstGeom>
          <a:noFill/>
          <a:ln w="19050">
            <a:solidFill>
              <a:srgbClr val="475569"/>
            </a:solidFill>
            <a:prstDash val="solid"/>
          </a:ln>
        </p:spPr>
      </p:sp>
      <p:sp>
        <p:nvSpPr>
          <p:cNvPr id="9" name="Shape 7"/>
          <p:cNvSpPr/>
          <p:nvPr/>
        </p:nvSpPr>
        <p:spPr>
          <a:xfrm>
            <a:off x="1554480" y="960120"/>
            <a:ext cx="201168" cy="201168"/>
          </a:xfrm>
          <a:prstGeom prst="ellipse">
            <a:avLst/>
          </a:prstGeom>
          <a:solidFill>
            <a:schemeClr val="accent3"/>
          </a:solidFill>
          <a:ln/>
        </p:spPr>
      </p:sp>
      <p:sp>
        <p:nvSpPr>
          <p:cNvPr id="10" name="Shape 8"/>
          <p:cNvSpPr/>
          <p:nvPr/>
        </p:nvSpPr>
        <p:spPr>
          <a:xfrm>
            <a:off x="1755648" y="1060704"/>
            <a:ext cx="301752" cy="0"/>
          </a:xfrm>
          <a:prstGeom prst="line">
            <a:avLst/>
          </a:prstGeom>
          <a:noFill/>
          <a:ln w="19050">
            <a:solidFill>
              <a:srgbClr val="475569"/>
            </a:solidFill>
            <a:prstDash val="solid"/>
          </a:ln>
        </p:spPr>
      </p:sp>
      <p:sp>
        <p:nvSpPr>
          <p:cNvPr id="11" name="Shape 9"/>
          <p:cNvSpPr/>
          <p:nvPr/>
        </p:nvSpPr>
        <p:spPr>
          <a:xfrm>
            <a:off x="2057400" y="960120"/>
            <a:ext cx="201168" cy="201168"/>
          </a:xfrm>
          <a:prstGeom prst="ellipse">
            <a:avLst/>
          </a:prstGeom>
          <a:solidFill>
            <a:schemeClr val="accent4"/>
          </a:solidFill>
          <a:ln/>
        </p:spPr>
      </p:sp>
      <p:sp>
        <p:nvSpPr>
          <p:cNvPr id="12" name="Shape 10"/>
          <p:cNvSpPr/>
          <p:nvPr/>
        </p:nvSpPr>
        <p:spPr>
          <a:xfrm>
            <a:off x="2258568" y="1060704"/>
            <a:ext cx="301752" cy="0"/>
          </a:xfrm>
          <a:prstGeom prst="line">
            <a:avLst/>
          </a:prstGeom>
          <a:noFill/>
          <a:ln w="19050">
            <a:solidFill>
              <a:srgbClr val="475569"/>
            </a:solidFill>
            <a:prstDash val="solid"/>
          </a:ln>
        </p:spPr>
      </p:sp>
      <p:sp>
        <p:nvSpPr>
          <p:cNvPr id="13" name="Shape 11"/>
          <p:cNvSpPr/>
          <p:nvPr/>
        </p:nvSpPr>
        <p:spPr>
          <a:xfrm>
            <a:off x="2560320" y="960120"/>
            <a:ext cx="201168" cy="201168"/>
          </a:xfrm>
          <a:prstGeom prst="ellipse">
            <a:avLst/>
          </a:prstGeom>
          <a:solidFill>
            <a:schemeClr val="accent6"/>
          </a:solidFill>
          <a:ln/>
        </p:spPr>
      </p:sp>
    </p:spTree>
  </p:cSld>
  <p:clrMapOvr>
    <a:masterClrMapping/>
  </p:clrMapOvr>
</p:sld>
</file>

<file path=ppt/theme/theme1.xml><?xml version="1.0" encoding="utf-8"?>
<a:theme xmlns:a="http://schemas.openxmlformats.org/drawingml/2006/main" name="HelpDesk Dark">
  <a:themeElements>
    <a:clrScheme name="HelpDesk Dark">
      <a:dk1>
        <a:srgbClr val="F1F5F9"/>
      </a:dk1>
      <a:lt1>
        <a:srgbClr val="0B0F19"/>
      </a:lt1>
      <a:dk2>
        <a:srgbClr val="94A3B8"/>
      </a:dk2>
      <a:lt2>
        <a:srgbClr val="141B2D"/>
      </a:lt2>
      <a:accent1>
        <a:srgbClr val="818CF8"/>
      </a:accent1>
      <a:accent2>
        <a:srgbClr val="22D3EE"/>
      </a:accent2>
      <a:accent3>
        <a:srgbClr val="34D399"/>
      </a:accent3>
      <a:accent4>
        <a:srgbClr val="FBBF24"/>
      </a:accent4>
      <a:accent5>
        <a:srgbClr val="FB7185"/>
      </a:accent5>
      <a:accent6>
        <a:srgbClr val="A78BFA"/>
      </a:accent6>
      <a:hlink>
        <a:srgbClr val="22D3EE"/>
      </a:hlink>
      <a:folHlink>
        <a:srgbClr val="A78BFA"/>
      </a:folHlink>
    </a:clrScheme>
    <a:fontScheme name="HelpDesk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HelpDesk - DevOps Capstone</dc:title>
  <dc:subject>End-to-end DevOps capstone project</dc:subject>
  <dc:creator>Parth Taneja</dc:creator>
  <cp:lastModifiedBy>Parth Taneja</cp:lastModifiedBy>
  <cp:revision>1</cp:revision>
  <dcterms:created xsi:type="dcterms:W3CDTF">2026-10-16T15:38:06Z</dcterms:created>
  <dcterms:modified xsi:type="dcterms:W3CDTF">2026-10-16T15:38:06Z</dcterms:modified>
</cp:coreProperties>
</file>